
<file path=[Content_Types].xml><?xml version="1.0" encoding="utf-8"?>
<Types xmlns="http://schemas.openxmlformats.org/package/2006/content-types">
  <Default Extension="jpeg" ContentType="image/jpeg"/>
  <Default Extension="org&amp;utm_campaign=parser&amp;utm_content=thumbnail"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87" r:id="rId3"/>
    <p:sldId id="288" r:id="rId4"/>
    <p:sldId id="257" r:id="rId5"/>
    <p:sldId id="258" r:id="rId6"/>
    <p:sldId id="259" r:id="rId7"/>
    <p:sldId id="289" r:id="rId8"/>
    <p:sldId id="260" r:id="rId9"/>
    <p:sldId id="285" r:id="rId10"/>
    <p:sldId id="291" r:id="rId11"/>
    <p:sldId id="290" r:id="rId12"/>
    <p:sldId id="286" r:id="rId13"/>
    <p:sldId id="292" r:id="rId14"/>
    <p:sldId id="293" r:id="rId15"/>
    <p:sldId id="261" r:id="rId16"/>
    <p:sldId id="262" r:id="rId17"/>
    <p:sldId id="263" r:id="rId18"/>
    <p:sldId id="264" r:id="rId19"/>
    <p:sldId id="265" r:id="rId20"/>
    <p:sldId id="266" r:id="rId21"/>
    <p:sldId id="267" r:id="rId22"/>
    <p:sldId id="296" r:id="rId23"/>
    <p:sldId id="268" r:id="rId24"/>
    <p:sldId id="269" r:id="rId25"/>
    <p:sldId id="270" r:id="rId26"/>
    <p:sldId id="271" r:id="rId27"/>
    <p:sldId id="297" r:id="rId28"/>
    <p:sldId id="273" r:id="rId29"/>
    <p:sldId id="274" r:id="rId30"/>
    <p:sldId id="275" r:id="rId31"/>
    <p:sldId id="295" r:id="rId32"/>
    <p:sldId id="278" r:id="rId33"/>
    <p:sldId id="294" r:id="rId34"/>
    <p:sldId id="279" r:id="rId35"/>
    <p:sldId id="280" r:id="rId36"/>
    <p:sldId id="283" r:id="rId37"/>
    <p:sldId id="284"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0" d="100"/>
          <a:sy n="60" d="100"/>
        </p:scale>
        <p:origin x="816"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420EDB-22C1-4FCE-A358-5DBB7D2A29B2}" type="doc">
      <dgm:prSet loTypeId="urn:microsoft.com/office/officeart/2005/8/layout/process4" loCatId="process" qsTypeId="urn:microsoft.com/office/officeart/2005/8/quickstyle/3d3" qsCatId="3D" csTypeId="urn:microsoft.com/office/officeart/2005/8/colors/accent1_2" csCatId="accent1" phldr="1"/>
      <dgm:spPr/>
      <dgm:t>
        <a:bodyPr/>
        <a:lstStyle/>
        <a:p>
          <a:endParaRPr lang="en-US"/>
        </a:p>
      </dgm:t>
    </dgm:pt>
    <dgm:pt modelId="{2352A6AA-2AAD-4F84-AFCB-ADFFF4030103}">
      <dgm:prSet phldrT="[Text]" phldr="0" custT="1"/>
      <dgm:spPr/>
      <dgm:t>
        <a:bodyPr/>
        <a:lstStyle/>
        <a:p>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Giới</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thiệu</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đề</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tài</a:t>
          </a:r>
          <a:endPar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73E7272C-D4E6-4440-A8A2-A6B0A5F4AFCC}" type="parTrans" cxnId="{7C4139E2-93A7-4D1F-BEB7-A9A52C17B8B2}">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29CD26F1-959D-4AFE-9645-0D09C9221E7D}" type="sibTrans" cxnId="{7C4139E2-93A7-4D1F-BEB7-A9A52C17B8B2}">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2D19742F-3A4D-4C42-AA18-40223EFC6B1D}">
      <dgm:prSet phldrT="[Text]" phldr="0" custT="1"/>
      <dgm:spPr/>
      <dgm:t>
        <a:bodyPr/>
        <a:lstStyle/>
        <a:p>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Quá</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trình</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xây</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dựng</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hệ</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thống</a:t>
          </a:r>
          <a:endPar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C04101D4-E84F-4CA8-B8CE-3747825DCF2E}" type="parTrans" cxnId="{B0CDBF68-7FFD-4C59-AA77-5A5DD0B7E5FA}">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F341BC92-3D2B-4AD4-90C5-E69D6244E442}" type="sibTrans" cxnId="{B0CDBF68-7FFD-4C59-AA77-5A5DD0B7E5FA}">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EDD0E8A1-3B83-4E0C-B6F2-3EA5C630A815}">
      <dgm:prSet phldrT="[Text]" custT="1"/>
      <dgm:spPr/>
      <dgm:t>
        <a:bodyPr/>
        <a:lstStyle/>
        <a:p>
          <a:pPr>
            <a:buNone/>
          </a:pP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Quá</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trình</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train &amp; test model</a:t>
          </a:r>
        </a:p>
      </dgm:t>
    </dgm:pt>
    <dgm:pt modelId="{EFC125B0-FCDF-4403-9AA7-E6B64B2DE984}" type="parTrans" cxnId="{14592258-C4B8-4487-A8AD-EC666BA03900}">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B1856CD8-D09E-41FA-B6BB-95AE66D40132}" type="sibTrans" cxnId="{14592258-C4B8-4487-A8AD-EC666BA03900}">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EF10F4D8-53CB-4EB4-BE41-EDAE0CFA7D79}">
      <dgm:prSet phldrT="[Text]" phldr="0" custT="1"/>
      <dgm:spPr/>
      <dgm:t>
        <a:bodyPr/>
        <a:lstStyle/>
        <a:p>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Giới</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thiệu</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công</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nghệ</a:t>
          </a:r>
          <a:endPar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84F60894-C81B-4558-BEAE-E009BD88B8D0}" type="parTrans" cxnId="{40DEFA53-8063-49AB-9B29-85F8B9A8C598}">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7D4ADEA0-9B5B-4415-8AC3-22D94F117D90}" type="sibTrans" cxnId="{40DEFA53-8063-49AB-9B29-85F8B9A8C598}">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C90727E6-D924-4E56-A211-3551FC5B0643}">
      <dgm:prSet phldrT="[Text]" custT="1"/>
      <dgm:spPr/>
      <dgm:t>
        <a:bodyPr/>
        <a:lstStyle/>
        <a:p>
          <a:pPr>
            <a:buNone/>
          </a:pP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Triển</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khai</a:t>
          </a:r>
          <a:r>
            <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REST API</a:t>
          </a:r>
        </a:p>
      </dgm:t>
    </dgm:pt>
    <dgm:pt modelId="{58D4A72A-83F6-4C1F-8CF5-B4F9E3F89AF8}" type="parTrans" cxnId="{3928C3F1-FB84-4FE4-A91C-0441CAA5927E}">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4853444D-E387-4E6E-9668-7DFE9389E20E}" type="sibTrans" cxnId="{3928C3F1-FB84-4FE4-A91C-0441CAA5927E}">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B4E2C68A-A454-4E23-8308-CE99A238E62F}">
      <dgm:prSet phldrT="[Text]" custT="1"/>
      <dgm:spPr/>
      <dgm:t>
        <a:bodyPr/>
        <a:lstStyle/>
        <a:p>
          <a:pPr>
            <a:buNone/>
          </a:pPr>
          <a:r>
            <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Demo</a:t>
          </a:r>
          <a:endPar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8C4C6C98-4272-4F00-BC66-D51D39C85793}" type="parTrans" cxnId="{8E125F9B-8C21-48B6-9948-41806FE96A74}">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790FC3AE-906C-4543-98C4-43C46DEFBE05}" type="sibTrans" cxnId="{8E125F9B-8C21-48B6-9948-41806FE96A74}">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AE738A90-D04A-4A94-9651-5CFD996D20F3}">
      <dgm:prSet phldrT="[Text]" custT="1"/>
      <dgm:spPr/>
      <dgm:t>
        <a:bodyPr/>
        <a:lstStyle/>
        <a:p>
          <a:pPr>
            <a:buNone/>
          </a:pPr>
          <a:r>
            <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Kết luận</a:t>
          </a:r>
          <a:endParaRPr lang="en-US" sz="2400" b="1" strike="noStrike"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E41FA83B-DD62-4131-91E4-E3AA59C36FA5}" type="parTrans" cxnId="{6ACF5453-CF85-4FCF-B9F3-6C9A7EC73191}">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170DF1DE-FFDE-4BAE-8B0C-7D13BBED5C58}" type="sibTrans" cxnId="{6ACF5453-CF85-4FCF-B9F3-6C9A7EC73191}">
      <dgm:prSet/>
      <dgm:spPr/>
      <dgm:t>
        <a:bodyPr/>
        <a:lstStyle/>
        <a:p>
          <a:endParaRPr lang="en-US" sz="2400" b="1" strike="noStrike">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gm:t>
    </dgm:pt>
    <dgm:pt modelId="{9A7F3141-8DED-4826-8418-E7B55F6FCE34}" type="pres">
      <dgm:prSet presAssocID="{91420EDB-22C1-4FCE-A358-5DBB7D2A29B2}" presName="Name0" presStyleCnt="0">
        <dgm:presLayoutVars>
          <dgm:dir/>
          <dgm:animLvl val="lvl"/>
          <dgm:resizeHandles val="exact"/>
        </dgm:presLayoutVars>
      </dgm:prSet>
      <dgm:spPr/>
    </dgm:pt>
    <dgm:pt modelId="{0709C827-ED98-4D3D-9423-558B565327B2}" type="pres">
      <dgm:prSet presAssocID="{AE738A90-D04A-4A94-9651-5CFD996D20F3}" presName="boxAndChildren" presStyleCnt="0"/>
      <dgm:spPr/>
    </dgm:pt>
    <dgm:pt modelId="{D8EDBD8D-ECB8-46E9-A5DA-F0A4CF117E28}" type="pres">
      <dgm:prSet presAssocID="{AE738A90-D04A-4A94-9651-5CFD996D20F3}" presName="parentTextBox" presStyleLbl="node1" presStyleIdx="0" presStyleCnt="7"/>
      <dgm:spPr/>
    </dgm:pt>
    <dgm:pt modelId="{47CA4A0E-03AB-4728-ADDC-02B48235792F}" type="pres">
      <dgm:prSet presAssocID="{790FC3AE-906C-4543-98C4-43C46DEFBE05}" presName="sp" presStyleCnt="0"/>
      <dgm:spPr/>
    </dgm:pt>
    <dgm:pt modelId="{4890F0C3-350D-4976-B7B3-462FBD6B1076}" type="pres">
      <dgm:prSet presAssocID="{B4E2C68A-A454-4E23-8308-CE99A238E62F}" presName="arrowAndChildren" presStyleCnt="0"/>
      <dgm:spPr/>
    </dgm:pt>
    <dgm:pt modelId="{A7C96FD0-4CEA-43C3-A2E4-4968404DC69C}" type="pres">
      <dgm:prSet presAssocID="{B4E2C68A-A454-4E23-8308-CE99A238E62F}" presName="parentTextArrow" presStyleLbl="node1" presStyleIdx="1" presStyleCnt="7"/>
      <dgm:spPr/>
    </dgm:pt>
    <dgm:pt modelId="{41344F96-A734-4B02-A053-B2524BF98515}" type="pres">
      <dgm:prSet presAssocID="{4853444D-E387-4E6E-9668-7DFE9389E20E}" presName="sp" presStyleCnt="0"/>
      <dgm:spPr/>
    </dgm:pt>
    <dgm:pt modelId="{44493E20-AA06-44DB-9FC8-237BE7843782}" type="pres">
      <dgm:prSet presAssocID="{C90727E6-D924-4E56-A211-3551FC5B0643}" presName="arrowAndChildren" presStyleCnt="0"/>
      <dgm:spPr/>
    </dgm:pt>
    <dgm:pt modelId="{7E8D0099-E76E-416E-9C94-D5EF5A88B87D}" type="pres">
      <dgm:prSet presAssocID="{C90727E6-D924-4E56-A211-3551FC5B0643}" presName="parentTextArrow" presStyleLbl="node1" presStyleIdx="2" presStyleCnt="7"/>
      <dgm:spPr/>
    </dgm:pt>
    <dgm:pt modelId="{9392226C-F060-4596-BD5C-6012E2C97643}" type="pres">
      <dgm:prSet presAssocID="{B1856CD8-D09E-41FA-B6BB-95AE66D40132}" presName="sp" presStyleCnt="0"/>
      <dgm:spPr/>
    </dgm:pt>
    <dgm:pt modelId="{069A158D-8572-4091-B962-A156993FD509}" type="pres">
      <dgm:prSet presAssocID="{EDD0E8A1-3B83-4E0C-B6F2-3EA5C630A815}" presName="arrowAndChildren" presStyleCnt="0"/>
      <dgm:spPr/>
    </dgm:pt>
    <dgm:pt modelId="{ABAC1CA6-B206-42DC-838B-1CF111D326EF}" type="pres">
      <dgm:prSet presAssocID="{EDD0E8A1-3B83-4E0C-B6F2-3EA5C630A815}" presName="parentTextArrow" presStyleLbl="node1" presStyleIdx="3" presStyleCnt="7"/>
      <dgm:spPr/>
    </dgm:pt>
    <dgm:pt modelId="{470C8CA2-16AF-47FD-819E-741B5DA836F8}" type="pres">
      <dgm:prSet presAssocID="{F341BC92-3D2B-4AD4-90C5-E69D6244E442}" presName="sp" presStyleCnt="0"/>
      <dgm:spPr/>
    </dgm:pt>
    <dgm:pt modelId="{D3F7A5E0-1D4C-4E27-86E8-E6A7B9B9D593}" type="pres">
      <dgm:prSet presAssocID="{2D19742F-3A4D-4C42-AA18-40223EFC6B1D}" presName="arrowAndChildren" presStyleCnt="0"/>
      <dgm:spPr/>
    </dgm:pt>
    <dgm:pt modelId="{D971D6C5-1A5F-463C-B98E-D4CE20528992}" type="pres">
      <dgm:prSet presAssocID="{2D19742F-3A4D-4C42-AA18-40223EFC6B1D}" presName="parentTextArrow" presStyleLbl="node1" presStyleIdx="4" presStyleCnt="7"/>
      <dgm:spPr/>
    </dgm:pt>
    <dgm:pt modelId="{EC33D5F5-58F2-4657-BAF9-9892B8726E59}" type="pres">
      <dgm:prSet presAssocID="{7D4ADEA0-9B5B-4415-8AC3-22D94F117D90}" presName="sp" presStyleCnt="0"/>
      <dgm:spPr/>
    </dgm:pt>
    <dgm:pt modelId="{B56B732F-AE90-4435-BA1D-B405ABF710BF}" type="pres">
      <dgm:prSet presAssocID="{EF10F4D8-53CB-4EB4-BE41-EDAE0CFA7D79}" presName="arrowAndChildren" presStyleCnt="0"/>
      <dgm:spPr/>
    </dgm:pt>
    <dgm:pt modelId="{C1952CA6-EE49-47C7-83B6-F8011A6D3F00}" type="pres">
      <dgm:prSet presAssocID="{EF10F4D8-53CB-4EB4-BE41-EDAE0CFA7D79}" presName="parentTextArrow" presStyleLbl="node1" presStyleIdx="5" presStyleCnt="7"/>
      <dgm:spPr/>
    </dgm:pt>
    <dgm:pt modelId="{6BD087D3-45DB-4F73-B43A-5A86A90034CA}" type="pres">
      <dgm:prSet presAssocID="{29CD26F1-959D-4AFE-9645-0D09C9221E7D}" presName="sp" presStyleCnt="0"/>
      <dgm:spPr/>
    </dgm:pt>
    <dgm:pt modelId="{9660EC91-A02B-4360-91AC-4D75A4797871}" type="pres">
      <dgm:prSet presAssocID="{2352A6AA-2AAD-4F84-AFCB-ADFFF4030103}" presName="arrowAndChildren" presStyleCnt="0"/>
      <dgm:spPr/>
    </dgm:pt>
    <dgm:pt modelId="{9643A3D9-84D1-4000-B3C0-256F610CF1ED}" type="pres">
      <dgm:prSet presAssocID="{2352A6AA-2AAD-4F84-AFCB-ADFFF4030103}" presName="parentTextArrow" presStyleLbl="node1" presStyleIdx="6" presStyleCnt="7"/>
      <dgm:spPr/>
    </dgm:pt>
  </dgm:ptLst>
  <dgm:cxnLst>
    <dgm:cxn modelId="{66154A0A-7F8D-4C52-8F11-02F997720D78}" type="presOf" srcId="{C90727E6-D924-4E56-A211-3551FC5B0643}" destId="{7E8D0099-E76E-416E-9C94-D5EF5A88B87D}" srcOrd="0" destOrd="0" presId="urn:microsoft.com/office/officeart/2005/8/layout/process4"/>
    <dgm:cxn modelId="{B0CDBF68-7FFD-4C59-AA77-5A5DD0B7E5FA}" srcId="{91420EDB-22C1-4FCE-A358-5DBB7D2A29B2}" destId="{2D19742F-3A4D-4C42-AA18-40223EFC6B1D}" srcOrd="2" destOrd="0" parTransId="{C04101D4-E84F-4CA8-B8CE-3747825DCF2E}" sibTransId="{F341BC92-3D2B-4AD4-90C5-E69D6244E442}"/>
    <dgm:cxn modelId="{2FFAAF6D-9D32-46B0-A156-FDC57AE76589}" type="presOf" srcId="{2352A6AA-2AAD-4F84-AFCB-ADFFF4030103}" destId="{9643A3D9-84D1-4000-B3C0-256F610CF1ED}" srcOrd="0" destOrd="0" presId="urn:microsoft.com/office/officeart/2005/8/layout/process4"/>
    <dgm:cxn modelId="{6ACF5453-CF85-4FCF-B9F3-6C9A7EC73191}" srcId="{91420EDB-22C1-4FCE-A358-5DBB7D2A29B2}" destId="{AE738A90-D04A-4A94-9651-5CFD996D20F3}" srcOrd="6" destOrd="0" parTransId="{E41FA83B-DD62-4131-91E4-E3AA59C36FA5}" sibTransId="{170DF1DE-FFDE-4BAE-8B0C-7D13BBED5C58}"/>
    <dgm:cxn modelId="{40DEFA53-8063-49AB-9B29-85F8B9A8C598}" srcId="{91420EDB-22C1-4FCE-A358-5DBB7D2A29B2}" destId="{EF10F4D8-53CB-4EB4-BE41-EDAE0CFA7D79}" srcOrd="1" destOrd="0" parTransId="{84F60894-C81B-4558-BEAE-E009BD88B8D0}" sibTransId="{7D4ADEA0-9B5B-4415-8AC3-22D94F117D90}"/>
    <dgm:cxn modelId="{14592258-C4B8-4487-A8AD-EC666BA03900}" srcId="{91420EDB-22C1-4FCE-A358-5DBB7D2A29B2}" destId="{EDD0E8A1-3B83-4E0C-B6F2-3EA5C630A815}" srcOrd="3" destOrd="0" parTransId="{EFC125B0-FCDF-4403-9AA7-E6B64B2DE984}" sibTransId="{B1856CD8-D09E-41FA-B6BB-95AE66D40132}"/>
    <dgm:cxn modelId="{C3895896-A0C0-4978-867C-FFDCA31CBA0E}" type="presOf" srcId="{2D19742F-3A4D-4C42-AA18-40223EFC6B1D}" destId="{D971D6C5-1A5F-463C-B98E-D4CE20528992}" srcOrd="0" destOrd="0" presId="urn:microsoft.com/office/officeart/2005/8/layout/process4"/>
    <dgm:cxn modelId="{8E125F9B-8C21-48B6-9948-41806FE96A74}" srcId="{91420EDB-22C1-4FCE-A358-5DBB7D2A29B2}" destId="{B4E2C68A-A454-4E23-8308-CE99A238E62F}" srcOrd="5" destOrd="0" parTransId="{8C4C6C98-4272-4F00-BC66-D51D39C85793}" sibTransId="{790FC3AE-906C-4543-98C4-43C46DEFBE05}"/>
    <dgm:cxn modelId="{5B24F7A8-93E8-45E7-8590-F957D16F5D1A}" type="presOf" srcId="{AE738A90-D04A-4A94-9651-5CFD996D20F3}" destId="{D8EDBD8D-ECB8-46E9-A5DA-F0A4CF117E28}" srcOrd="0" destOrd="0" presId="urn:microsoft.com/office/officeart/2005/8/layout/process4"/>
    <dgm:cxn modelId="{79F02CA9-092C-4843-B3DC-85029D0D8C9E}" type="presOf" srcId="{EDD0E8A1-3B83-4E0C-B6F2-3EA5C630A815}" destId="{ABAC1CA6-B206-42DC-838B-1CF111D326EF}" srcOrd="0" destOrd="0" presId="urn:microsoft.com/office/officeart/2005/8/layout/process4"/>
    <dgm:cxn modelId="{EB9C99AB-3CC6-4212-83BB-1B49D05987C2}" type="presOf" srcId="{B4E2C68A-A454-4E23-8308-CE99A238E62F}" destId="{A7C96FD0-4CEA-43C3-A2E4-4968404DC69C}" srcOrd="0" destOrd="0" presId="urn:microsoft.com/office/officeart/2005/8/layout/process4"/>
    <dgm:cxn modelId="{228609B3-2D4C-4087-9051-5E357776964B}" type="presOf" srcId="{EF10F4D8-53CB-4EB4-BE41-EDAE0CFA7D79}" destId="{C1952CA6-EE49-47C7-83B6-F8011A6D3F00}" srcOrd="0" destOrd="0" presId="urn:microsoft.com/office/officeart/2005/8/layout/process4"/>
    <dgm:cxn modelId="{4FD41CB5-BFE8-48D9-9A15-6FF5350231C0}" type="presOf" srcId="{91420EDB-22C1-4FCE-A358-5DBB7D2A29B2}" destId="{9A7F3141-8DED-4826-8418-E7B55F6FCE34}" srcOrd="0" destOrd="0" presId="urn:microsoft.com/office/officeart/2005/8/layout/process4"/>
    <dgm:cxn modelId="{7C4139E2-93A7-4D1F-BEB7-A9A52C17B8B2}" srcId="{91420EDB-22C1-4FCE-A358-5DBB7D2A29B2}" destId="{2352A6AA-2AAD-4F84-AFCB-ADFFF4030103}" srcOrd="0" destOrd="0" parTransId="{73E7272C-D4E6-4440-A8A2-A6B0A5F4AFCC}" sibTransId="{29CD26F1-959D-4AFE-9645-0D09C9221E7D}"/>
    <dgm:cxn modelId="{3928C3F1-FB84-4FE4-A91C-0441CAA5927E}" srcId="{91420EDB-22C1-4FCE-A358-5DBB7D2A29B2}" destId="{C90727E6-D924-4E56-A211-3551FC5B0643}" srcOrd="4" destOrd="0" parTransId="{58D4A72A-83F6-4C1F-8CF5-B4F9E3F89AF8}" sibTransId="{4853444D-E387-4E6E-9668-7DFE9389E20E}"/>
    <dgm:cxn modelId="{4A3FF824-5DCA-427D-9DF6-C3C3E4DE5ED6}" type="presParOf" srcId="{9A7F3141-8DED-4826-8418-E7B55F6FCE34}" destId="{0709C827-ED98-4D3D-9423-558B565327B2}" srcOrd="0" destOrd="0" presId="urn:microsoft.com/office/officeart/2005/8/layout/process4"/>
    <dgm:cxn modelId="{480D0E39-1CD7-4C51-9394-60C3AC2161DB}" type="presParOf" srcId="{0709C827-ED98-4D3D-9423-558B565327B2}" destId="{D8EDBD8D-ECB8-46E9-A5DA-F0A4CF117E28}" srcOrd="0" destOrd="0" presId="urn:microsoft.com/office/officeart/2005/8/layout/process4"/>
    <dgm:cxn modelId="{55DF5C0F-A67E-4552-BCEF-75C6AB3D4E92}" type="presParOf" srcId="{9A7F3141-8DED-4826-8418-E7B55F6FCE34}" destId="{47CA4A0E-03AB-4728-ADDC-02B48235792F}" srcOrd="1" destOrd="0" presId="urn:microsoft.com/office/officeart/2005/8/layout/process4"/>
    <dgm:cxn modelId="{1F461C30-51BD-4749-8863-B54ACAFB9723}" type="presParOf" srcId="{9A7F3141-8DED-4826-8418-E7B55F6FCE34}" destId="{4890F0C3-350D-4976-B7B3-462FBD6B1076}" srcOrd="2" destOrd="0" presId="urn:microsoft.com/office/officeart/2005/8/layout/process4"/>
    <dgm:cxn modelId="{98EE6A82-BF56-49EA-8248-948F2E24E1D5}" type="presParOf" srcId="{4890F0C3-350D-4976-B7B3-462FBD6B1076}" destId="{A7C96FD0-4CEA-43C3-A2E4-4968404DC69C}" srcOrd="0" destOrd="0" presId="urn:microsoft.com/office/officeart/2005/8/layout/process4"/>
    <dgm:cxn modelId="{211E4781-7859-4774-A524-82E008CD9174}" type="presParOf" srcId="{9A7F3141-8DED-4826-8418-E7B55F6FCE34}" destId="{41344F96-A734-4B02-A053-B2524BF98515}" srcOrd="3" destOrd="0" presId="urn:microsoft.com/office/officeart/2005/8/layout/process4"/>
    <dgm:cxn modelId="{FE91B4CE-7970-4228-AAA4-32411B5B4FD9}" type="presParOf" srcId="{9A7F3141-8DED-4826-8418-E7B55F6FCE34}" destId="{44493E20-AA06-44DB-9FC8-237BE7843782}" srcOrd="4" destOrd="0" presId="urn:microsoft.com/office/officeart/2005/8/layout/process4"/>
    <dgm:cxn modelId="{55E94DB5-D9E8-40BD-9432-8A500DF474CD}" type="presParOf" srcId="{44493E20-AA06-44DB-9FC8-237BE7843782}" destId="{7E8D0099-E76E-416E-9C94-D5EF5A88B87D}" srcOrd="0" destOrd="0" presId="urn:microsoft.com/office/officeart/2005/8/layout/process4"/>
    <dgm:cxn modelId="{5056648F-CFFD-4A21-9557-3C24556C59D9}" type="presParOf" srcId="{9A7F3141-8DED-4826-8418-E7B55F6FCE34}" destId="{9392226C-F060-4596-BD5C-6012E2C97643}" srcOrd="5" destOrd="0" presId="urn:microsoft.com/office/officeart/2005/8/layout/process4"/>
    <dgm:cxn modelId="{CCF95E2A-00CC-4753-AAB1-39028BDBE514}" type="presParOf" srcId="{9A7F3141-8DED-4826-8418-E7B55F6FCE34}" destId="{069A158D-8572-4091-B962-A156993FD509}" srcOrd="6" destOrd="0" presId="urn:microsoft.com/office/officeart/2005/8/layout/process4"/>
    <dgm:cxn modelId="{A74809DF-973F-490C-8823-8092E60AA2C7}" type="presParOf" srcId="{069A158D-8572-4091-B962-A156993FD509}" destId="{ABAC1CA6-B206-42DC-838B-1CF111D326EF}" srcOrd="0" destOrd="0" presId="urn:microsoft.com/office/officeart/2005/8/layout/process4"/>
    <dgm:cxn modelId="{4C8F93F8-C7ED-4DBB-8BBE-E3A9FFC82C32}" type="presParOf" srcId="{9A7F3141-8DED-4826-8418-E7B55F6FCE34}" destId="{470C8CA2-16AF-47FD-819E-741B5DA836F8}" srcOrd="7" destOrd="0" presId="urn:microsoft.com/office/officeart/2005/8/layout/process4"/>
    <dgm:cxn modelId="{52CF9020-6A1A-4628-85C2-241CC5CF1E1A}" type="presParOf" srcId="{9A7F3141-8DED-4826-8418-E7B55F6FCE34}" destId="{D3F7A5E0-1D4C-4E27-86E8-E6A7B9B9D593}" srcOrd="8" destOrd="0" presId="urn:microsoft.com/office/officeart/2005/8/layout/process4"/>
    <dgm:cxn modelId="{B637FC1D-9EA3-4F4B-91EB-4E3797C4A137}" type="presParOf" srcId="{D3F7A5E0-1D4C-4E27-86E8-E6A7B9B9D593}" destId="{D971D6C5-1A5F-463C-B98E-D4CE20528992}" srcOrd="0" destOrd="0" presId="urn:microsoft.com/office/officeart/2005/8/layout/process4"/>
    <dgm:cxn modelId="{530D5662-387D-48F4-A880-2B80B49BE3D3}" type="presParOf" srcId="{9A7F3141-8DED-4826-8418-E7B55F6FCE34}" destId="{EC33D5F5-58F2-4657-BAF9-9892B8726E59}" srcOrd="9" destOrd="0" presId="urn:microsoft.com/office/officeart/2005/8/layout/process4"/>
    <dgm:cxn modelId="{E44CCADF-E443-47E5-AC7F-7434598A1508}" type="presParOf" srcId="{9A7F3141-8DED-4826-8418-E7B55F6FCE34}" destId="{B56B732F-AE90-4435-BA1D-B405ABF710BF}" srcOrd="10" destOrd="0" presId="urn:microsoft.com/office/officeart/2005/8/layout/process4"/>
    <dgm:cxn modelId="{F6B49C02-3AB8-41AB-8821-413A222EEE29}" type="presParOf" srcId="{B56B732F-AE90-4435-BA1D-B405ABF710BF}" destId="{C1952CA6-EE49-47C7-83B6-F8011A6D3F00}" srcOrd="0" destOrd="0" presId="urn:microsoft.com/office/officeart/2005/8/layout/process4"/>
    <dgm:cxn modelId="{5E942729-A180-4B84-B505-D35B7900FA75}" type="presParOf" srcId="{9A7F3141-8DED-4826-8418-E7B55F6FCE34}" destId="{6BD087D3-45DB-4F73-B43A-5A86A90034CA}" srcOrd="11" destOrd="0" presId="urn:microsoft.com/office/officeart/2005/8/layout/process4"/>
    <dgm:cxn modelId="{B0DB7F04-27D4-4C15-A102-1D0D30F426CC}" type="presParOf" srcId="{9A7F3141-8DED-4826-8418-E7B55F6FCE34}" destId="{9660EC91-A02B-4360-91AC-4D75A4797871}" srcOrd="12" destOrd="0" presId="urn:microsoft.com/office/officeart/2005/8/layout/process4"/>
    <dgm:cxn modelId="{FB08ACE0-E569-43C3-80D8-A197D92DA33A}" type="presParOf" srcId="{9660EC91-A02B-4360-91AC-4D75A4797871}" destId="{9643A3D9-84D1-4000-B3C0-256F610CF1ED}"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EDBD8D-ECB8-46E9-A5DA-F0A4CF117E28}">
      <dsp:nvSpPr>
        <dsp:cNvPr id="0" name=""/>
        <dsp:cNvSpPr/>
      </dsp:nvSpPr>
      <dsp:spPr>
        <a:xfrm>
          <a:off x="0" y="6195371"/>
          <a:ext cx="6347534" cy="677956"/>
        </a:xfrm>
        <a:prstGeom prst="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strike="noStrike" kern="120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Kết luận</a:t>
          </a:r>
          <a:endPar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sp:txBody>
      <dsp:txXfrm>
        <a:off x="0" y="6195371"/>
        <a:ext cx="6347534" cy="677956"/>
      </dsp:txXfrm>
    </dsp:sp>
    <dsp:sp modelId="{A7C96FD0-4CEA-43C3-A2E4-4968404DC69C}">
      <dsp:nvSpPr>
        <dsp:cNvPr id="0" name=""/>
        <dsp:cNvSpPr/>
      </dsp:nvSpPr>
      <dsp:spPr>
        <a:xfrm rot="10800000">
          <a:off x="0" y="5162844"/>
          <a:ext cx="6347534" cy="1042696"/>
        </a:xfrm>
        <a:prstGeom prst="upArrowCallou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strike="noStrike" kern="120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Demo</a:t>
          </a:r>
          <a:endPar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sp:txBody>
      <dsp:txXfrm rot="10800000">
        <a:off x="0" y="5162844"/>
        <a:ext cx="6347534" cy="677513"/>
      </dsp:txXfrm>
    </dsp:sp>
    <dsp:sp modelId="{7E8D0099-E76E-416E-9C94-D5EF5A88B87D}">
      <dsp:nvSpPr>
        <dsp:cNvPr id="0" name=""/>
        <dsp:cNvSpPr/>
      </dsp:nvSpPr>
      <dsp:spPr>
        <a:xfrm rot="10800000">
          <a:off x="0" y="4130317"/>
          <a:ext cx="6347534" cy="1042696"/>
        </a:xfrm>
        <a:prstGeom prst="upArrowCallou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Triển</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khai</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REST API</a:t>
          </a:r>
        </a:p>
      </dsp:txBody>
      <dsp:txXfrm rot="10800000">
        <a:off x="0" y="4130317"/>
        <a:ext cx="6347534" cy="677513"/>
      </dsp:txXfrm>
    </dsp:sp>
    <dsp:sp modelId="{ABAC1CA6-B206-42DC-838B-1CF111D326EF}">
      <dsp:nvSpPr>
        <dsp:cNvPr id="0" name=""/>
        <dsp:cNvSpPr/>
      </dsp:nvSpPr>
      <dsp:spPr>
        <a:xfrm rot="10800000">
          <a:off x="0" y="3097789"/>
          <a:ext cx="6347534" cy="1042696"/>
        </a:xfrm>
        <a:prstGeom prst="upArrowCallou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Quá</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trình</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train &amp; test model</a:t>
          </a:r>
        </a:p>
      </dsp:txBody>
      <dsp:txXfrm rot="10800000">
        <a:off x="0" y="3097789"/>
        <a:ext cx="6347534" cy="677513"/>
      </dsp:txXfrm>
    </dsp:sp>
    <dsp:sp modelId="{D971D6C5-1A5F-463C-B98E-D4CE20528992}">
      <dsp:nvSpPr>
        <dsp:cNvPr id="0" name=""/>
        <dsp:cNvSpPr/>
      </dsp:nvSpPr>
      <dsp:spPr>
        <a:xfrm rot="10800000">
          <a:off x="0" y="2065262"/>
          <a:ext cx="6347534" cy="1042696"/>
        </a:xfrm>
        <a:prstGeom prst="upArrowCallou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Quá</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trình</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xây</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dựng</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hệ</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thống</a:t>
          </a:r>
          <a:endPar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sp:txBody>
      <dsp:txXfrm rot="10800000">
        <a:off x="0" y="2065262"/>
        <a:ext cx="6347534" cy="677513"/>
      </dsp:txXfrm>
    </dsp:sp>
    <dsp:sp modelId="{C1952CA6-EE49-47C7-83B6-F8011A6D3F00}">
      <dsp:nvSpPr>
        <dsp:cNvPr id="0" name=""/>
        <dsp:cNvSpPr/>
      </dsp:nvSpPr>
      <dsp:spPr>
        <a:xfrm rot="10800000">
          <a:off x="0" y="1032735"/>
          <a:ext cx="6347534" cy="1042696"/>
        </a:xfrm>
        <a:prstGeom prst="upArrowCallou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Giới</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thiệu</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công</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nghệ</a:t>
          </a:r>
          <a:endPar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sp:txBody>
      <dsp:txXfrm rot="10800000">
        <a:off x="0" y="1032735"/>
        <a:ext cx="6347534" cy="677513"/>
      </dsp:txXfrm>
    </dsp:sp>
    <dsp:sp modelId="{9643A3D9-84D1-4000-B3C0-256F610CF1ED}">
      <dsp:nvSpPr>
        <dsp:cNvPr id="0" name=""/>
        <dsp:cNvSpPr/>
      </dsp:nvSpPr>
      <dsp:spPr>
        <a:xfrm rot="10800000">
          <a:off x="0" y="208"/>
          <a:ext cx="6347534" cy="1042696"/>
        </a:xfrm>
        <a:prstGeom prst="upArrowCallou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Giới</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thiệu</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đề</a:t>
          </a:r>
          <a:r>
            <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400" b="1" strike="noStrike" kern="12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tài</a:t>
          </a:r>
          <a:endParaRPr lang="en-US" sz="2400" b="1" strike="noStrike" kern="12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dsp:txBody>
      <dsp:txXfrm rot="10800000">
        <a:off x="0" y="208"/>
        <a:ext cx="6347534" cy="67751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C1DDA1-CF24-47E0-B168-39F7F31B8D63}" type="datetimeFigureOut">
              <a:rPr lang="en-US" smtClean="0"/>
              <a:t>Sun 23/08/2026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2B1AB3-8239-45CE-B65B-6FA3026A1302}" type="slidenum">
              <a:rPr lang="en-US" smtClean="0"/>
              <a:t>‹#›</a:t>
            </a:fld>
            <a:endParaRPr lang="en-US"/>
          </a:p>
        </p:txBody>
      </p:sp>
    </p:spTree>
    <p:extLst>
      <p:ext uri="{BB962C8B-B14F-4D97-AF65-F5344CB8AC3E}">
        <p14:creationId xmlns:p14="http://schemas.microsoft.com/office/powerpoint/2010/main" val="2115478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2B1AB3-8239-45CE-B65B-6FA3026A1302}" type="slidenum">
              <a:rPr lang="en-US" smtClean="0"/>
              <a:t>5</a:t>
            </a:fld>
            <a:endParaRPr lang="en-US"/>
          </a:p>
        </p:txBody>
      </p:sp>
    </p:spTree>
    <p:extLst>
      <p:ext uri="{BB962C8B-B14F-4D97-AF65-F5344CB8AC3E}">
        <p14:creationId xmlns:p14="http://schemas.microsoft.com/office/powerpoint/2010/main" val="2171075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2B1AB3-8239-45CE-B65B-6FA3026A1302}" type="slidenum">
              <a:rPr lang="en-US" smtClean="0"/>
              <a:t>35</a:t>
            </a:fld>
            <a:endParaRPr lang="en-US"/>
          </a:p>
        </p:txBody>
      </p:sp>
    </p:spTree>
    <p:extLst>
      <p:ext uri="{BB962C8B-B14F-4D97-AF65-F5344CB8AC3E}">
        <p14:creationId xmlns:p14="http://schemas.microsoft.com/office/powerpoint/2010/main" val="2243159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6D6A1-5007-058C-2716-4B6CB94873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D0467-35D9-28A2-296D-9E78DE718F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8544A3-73DA-1BE9-C950-553BCC95ED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6E44BC-D73C-47AF-B2E1-F8391A256D9A}"/>
              </a:ext>
            </a:extLst>
          </p:cNvPr>
          <p:cNvSpPr>
            <a:spLocks noGrp="1"/>
          </p:cNvSpPr>
          <p:nvPr>
            <p:ph type="sldNum" sz="quarter" idx="5"/>
          </p:nvPr>
        </p:nvSpPr>
        <p:spPr/>
        <p:txBody>
          <a:bodyPr/>
          <a:lstStyle/>
          <a:p>
            <a:fld id="{272B1AB3-8239-45CE-B65B-6FA3026A1302}" type="slidenum">
              <a:rPr lang="en-US" smtClean="0"/>
              <a:t>36</a:t>
            </a:fld>
            <a:endParaRPr lang="en-US"/>
          </a:p>
        </p:txBody>
      </p:sp>
    </p:spTree>
    <p:extLst>
      <p:ext uri="{BB962C8B-B14F-4D97-AF65-F5344CB8AC3E}">
        <p14:creationId xmlns:p14="http://schemas.microsoft.com/office/powerpoint/2010/main" val="2722303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DAA8C-3C15-8774-C2B1-ACE5B5FA5E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6F82B7-DFFD-E388-9D67-7E684421E9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56A188-213B-A56C-C6ED-1B4C7BD929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CF3244-20C2-1F7E-B99D-5744E9C0ADEF}"/>
              </a:ext>
            </a:extLst>
          </p:cNvPr>
          <p:cNvSpPr>
            <a:spLocks noGrp="1"/>
          </p:cNvSpPr>
          <p:nvPr>
            <p:ph type="sldNum" sz="quarter" idx="5"/>
          </p:nvPr>
        </p:nvSpPr>
        <p:spPr/>
        <p:txBody>
          <a:bodyPr/>
          <a:lstStyle/>
          <a:p>
            <a:fld id="{272B1AB3-8239-45CE-B65B-6FA3026A1302}" type="slidenum">
              <a:rPr lang="en-US" smtClean="0"/>
              <a:t>37</a:t>
            </a:fld>
            <a:endParaRPr lang="en-US"/>
          </a:p>
        </p:txBody>
      </p:sp>
    </p:spTree>
    <p:extLst>
      <p:ext uri="{BB962C8B-B14F-4D97-AF65-F5344CB8AC3E}">
        <p14:creationId xmlns:p14="http://schemas.microsoft.com/office/powerpoint/2010/main" val="3766816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Sun 23/08/2026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Sun 23/08/2026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Sun 23/08/2026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Sun 23/08/2026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Sun 23/08/2026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Sun 23/08/2026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Sun 23/08/2026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Sun 23/08/2026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Sun 23/08/2026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Sun 23/08/2026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Sun 23/08/2026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Sun 23/08/2026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python3.wannaphong.com/2020/" TargetMode="Externa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python3.wannaphong.com/2020/" TargetMode="Externa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6.org&amp;utm_campaign=parser&amp;utm_content=thumbnai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2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1014412"/>
            <a:ext cx="12192000" cy="1462980"/>
          </a:xfrm>
          <a:prstGeom prst="rect">
            <a:avLst/>
          </a:prstGeom>
          <a:noFill/>
        </p:spPr>
        <p:txBody>
          <a:bodyPr wrap="square" lIns="0" tIns="0" rIns="0" bIns="0" anchor="t">
            <a:spAutoFit/>
          </a:bodyPr>
          <a:lstStyle/>
          <a:p>
            <a:pPr algn="ctr">
              <a:lnSpc>
                <a:spcPts val="5759"/>
              </a:lnSpc>
            </a:pPr>
            <a:r>
              <a:rPr sz="4800" b="1" i="0" u="none" dirty="0" err="1">
                <a:solidFill>
                  <a:srgbClr val="0056B3"/>
                </a:solidFill>
                <a:effectLst>
                  <a:outerShdw blurRad="38100" dist="38100" dir="2700000" algn="tl">
                    <a:srgbClr val="000000">
                      <a:alpha val="43137"/>
                    </a:srgbClr>
                  </a:outerShdw>
                </a:effectLst>
                <a:latin typeface="Montserrat"/>
              </a:rPr>
              <a:t>Phát</a:t>
            </a:r>
            <a:r>
              <a:rPr sz="4800" b="1" i="0" u="none" dirty="0">
                <a:solidFill>
                  <a:srgbClr val="0056B3"/>
                </a:solidFill>
                <a:effectLst>
                  <a:outerShdw blurRad="38100" dist="38100" dir="2700000" algn="tl">
                    <a:srgbClr val="000000">
                      <a:alpha val="43137"/>
                    </a:srgbClr>
                  </a:outerShdw>
                </a:effectLst>
                <a:latin typeface="Montserrat"/>
              </a:rPr>
              <a:t> </a:t>
            </a:r>
            <a:r>
              <a:rPr sz="4800" b="1" i="0" u="none" dirty="0" err="1">
                <a:solidFill>
                  <a:srgbClr val="0056B3"/>
                </a:solidFill>
                <a:effectLst>
                  <a:outerShdw blurRad="38100" dist="38100" dir="2700000" algn="tl">
                    <a:srgbClr val="000000">
                      <a:alpha val="43137"/>
                    </a:srgbClr>
                  </a:outerShdw>
                </a:effectLst>
                <a:latin typeface="Montserrat"/>
              </a:rPr>
              <a:t>hiện</a:t>
            </a:r>
            <a:r>
              <a:rPr sz="4800" b="1" i="0" u="none" dirty="0">
                <a:solidFill>
                  <a:srgbClr val="0056B3"/>
                </a:solidFill>
                <a:effectLst>
                  <a:outerShdw blurRad="38100" dist="38100" dir="2700000" algn="tl">
                    <a:srgbClr val="000000">
                      <a:alpha val="43137"/>
                    </a:srgbClr>
                  </a:outerShdw>
                </a:effectLst>
                <a:latin typeface="Montserrat"/>
              </a:rPr>
              <a:t> </a:t>
            </a:r>
            <a:r>
              <a:rPr sz="4800" b="1" i="0" u="none" dirty="0" err="1">
                <a:solidFill>
                  <a:srgbClr val="0056B3"/>
                </a:solidFill>
                <a:effectLst>
                  <a:outerShdw blurRad="38100" dist="38100" dir="2700000" algn="tl">
                    <a:srgbClr val="000000">
                      <a:alpha val="43137"/>
                    </a:srgbClr>
                  </a:outerShdw>
                </a:effectLst>
                <a:latin typeface="Montserrat"/>
              </a:rPr>
              <a:t>đối</a:t>
            </a:r>
            <a:r>
              <a:rPr sz="4800" b="1" i="0" u="none" dirty="0">
                <a:solidFill>
                  <a:srgbClr val="0056B3"/>
                </a:solidFill>
                <a:effectLst>
                  <a:outerShdw blurRad="38100" dist="38100" dir="2700000" algn="tl">
                    <a:srgbClr val="000000">
                      <a:alpha val="43137"/>
                    </a:srgbClr>
                  </a:outerShdw>
                </a:effectLst>
                <a:latin typeface="Montserrat"/>
              </a:rPr>
              <a:t> </a:t>
            </a:r>
            <a:r>
              <a:rPr sz="4800" b="1" i="0" u="none" dirty="0" err="1">
                <a:solidFill>
                  <a:srgbClr val="0056B3"/>
                </a:solidFill>
                <a:effectLst>
                  <a:outerShdw blurRad="38100" dist="38100" dir="2700000" algn="tl">
                    <a:srgbClr val="000000">
                      <a:alpha val="43137"/>
                    </a:srgbClr>
                  </a:outerShdw>
                </a:effectLst>
                <a:latin typeface="Montserrat"/>
              </a:rPr>
              <a:t>tượng</a:t>
            </a:r>
            <a:r>
              <a:rPr lang="en-US" sz="4800" b="1" i="0" u="none" dirty="0">
                <a:solidFill>
                  <a:srgbClr val="0056B3"/>
                </a:solidFill>
                <a:effectLst>
                  <a:outerShdw blurRad="38100" dist="38100" dir="2700000" algn="tl">
                    <a:srgbClr val="000000">
                      <a:alpha val="43137"/>
                    </a:srgbClr>
                  </a:outerShdw>
                </a:effectLst>
                <a:latin typeface="Montserrat"/>
              </a:rPr>
              <a:t> </a:t>
            </a:r>
            <a:r>
              <a:rPr sz="4800" b="1" i="0" u="none" dirty="0" err="1">
                <a:solidFill>
                  <a:srgbClr val="0056B3"/>
                </a:solidFill>
                <a:effectLst>
                  <a:outerShdw blurRad="38100" dist="38100" dir="2700000" algn="tl">
                    <a:srgbClr val="000000">
                      <a:alpha val="43137"/>
                    </a:srgbClr>
                  </a:outerShdw>
                </a:effectLst>
                <a:latin typeface="Montserrat"/>
              </a:rPr>
              <a:t>có</a:t>
            </a:r>
            <a:r>
              <a:rPr sz="4800" b="1" i="0" u="none" dirty="0">
                <a:solidFill>
                  <a:srgbClr val="0056B3"/>
                </a:solidFill>
                <a:effectLst>
                  <a:outerShdw blurRad="38100" dist="38100" dir="2700000" algn="tl">
                    <a:srgbClr val="000000">
                      <a:alpha val="43137"/>
                    </a:srgbClr>
                  </a:outerShdw>
                </a:effectLst>
                <a:latin typeface="Montserrat"/>
              </a:rPr>
              <a:t> </a:t>
            </a:r>
            <a:r>
              <a:rPr sz="4800" b="1" i="0" u="none" dirty="0" err="1">
                <a:solidFill>
                  <a:srgbClr val="0056B3"/>
                </a:solidFill>
                <a:effectLst>
                  <a:outerShdw blurRad="38100" dist="38100" dir="2700000" algn="tl">
                    <a:srgbClr val="000000">
                      <a:alpha val="43137"/>
                    </a:srgbClr>
                  </a:outerShdw>
                </a:effectLst>
                <a:latin typeface="Montserrat"/>
              </a:rPr>
              <a:t>thể</a:t>
            </a:r>
            <a:r>
              <a:rPr sz="4800" b="1" i="0" u="none" dirty="0">
                <a:solidFill>
                  <a:srgbClr val="0056B3"/>
                </a:solidFill>
                <a:effectLst>
                  <a:outerShdw blurRad="38100" dist="38100" dir="2700000" algn="tl">
                    <a:srgbClr val="000000">
                      <a:alpha val="43137"/>
                    </a:srgbClr>
                  </a:outerShdw>
                </a:effectLst>
                <a:latin typeface="Montserrat"/>
              </a:rPr>
              <a:t> </a:t>
            </a:r>
            <a:r>
              <a:rPr sz="4800" b="1" i="0" u="none" dirty="0" err="1">
                <a:solidFill>
                  <a:srgbClr val="0056B3"/>
                </a:solidFill>
                <a:effectLst>
                  <a:outerShdw blurRad="38100" dist="38100" dir="2700000" algn="tl">
                    <a:srgbClr val="000000">
                      <a:alpha val="43137"/>
                    </a:srgbClr>
                  </a:outerShdw>
                </a:effectLst>
                <a:latin typeface="Montserrat"/>
              </a:rPr>
              <a:t>mở</a:t>
            </a:r>
            <a:r>
              <a:rPr sz="4800" b="1" i="0" u="none" dirty="0">
                <a:solidFill>
                  <a:srgbClr val="0056B3"/>
                </a:solidFill>
                <a:effectLst>
                  <a:outerShdw blurRad="38100" dist="38100" dir="2700000" algn="tl">
                    <a:srgbClr val="000000">
                      <a:alpha val="43137"/>
                    </a:srgbClr>
                  </a:outerShdw>
                </a:effectLst>
                <a:latin typeface="Montserrat"/>
              </a:rPr>
              <a:t> </a:t>
            </a:r>
            <a:r>
              <a:rPr sz="4800" b="1" i="0" u="none" dirty="0" err="1">
                <a:solidFill>
                  <a:srgbClr val="0056B3"/>
                </a:solidFill>
                <a:effectLst>
                  <a:outerShdw blurRad="38100" dist="38100" dir="2700000" algn="tl">
                    <a:srgbClr val="000000">
                      <a:alpha val="43137"/>
                    </a:srgbClr>
                  </a:outerShdw>
                </a:effectLst>
                <a:latin typeface="Montserrat"/>
              </a:rPr>
              <a:t>rộng</a:t>
            </a:r>
            <a:r>
              <a:rPr sz="4800" b="1" i="0" u="none" dirty="0">
                <a:solidFill>
                  <a:srgbClr val="0056B3"/>
                </a:solidFill>
                <a:effectLst>
                  <a:outerShdw blurRad="38100" dist="38100" dir="2700000" algn="tl">
                    <a:srgbClr val="000000">
                      <a:alpha val="43137"/>
                    </a:srgbClr>
                  </a:outerShdw>
                </a:effectLst>
                <a:latin typeface="Montserrat"/>
              </a:rPr>
              <a:t> </a:t>
            </a:r>
            <a:r>
              <a:rPr sz="4800" b="1" i="0" u="none" dirty="0" err="1">
                <a:solidFill>
                  <a:srgbClr val="0056B3"/>
                </a:solidFill>
                <a:effectLst>
                  <a:outerShdw blurRad="38100" dist="38100" dir="2700000" algn="tl">
                    <a:srgbClr val="000000">
                      <a:alpha val="43137"/>
                    </a:srgbClr>
                  </a:outerShdw>
                </a:effectLst>
                <a:latin typeface="Montserrat"/>
              </a:rPr>
              <a:t>với</a:t>
            </a:r>
            <a:r>
              <a:rPr sz="4800" b="1" i="0" u="none" dirty="0">
                <a:solidFill>
                  <a:srgbClr val="0056B3"/>
                </a:solidFill>
                <a:effectLst>
                  <a:outerShdw blurRad="38100" dist="38100" dir="2700000" algn="tl">
                    <a:srgbClr val="000000">
                      <a:alpha val="43137"/>
                    </a:srgbClr>
                  </a:outerShdw>
                </a:effectLst>
                <a:latin typeface="Montserrat"/>
              </a:rPr>
              <a:t> </a:t>
            </a:r>
            <a:r>
              <a:rPr sz="4800" b="1" i="0" u="none" dirty="0">
                <a:solidFill>
                  <a:srgbClr val="FFC107"/>
                </a:solidFill>
                <a:effectLst>
                  <a:outerShdw blurRad="38100" dist="38100" dir="2700000" algn="tl">
                    <a:srgbClr val="000000">
                      <a:alpha val="43137"/>
                    </a:srgbClr>
                  </a:outerShdw>
                </a:effectLst>
                <a:latin typeface="Montserrat"/>
              </a:rPr>
              <a:t>YOLOv5</a:t>
            </a:r>
          </a:p>
        </p:txBody>
      </p:sp>
      <p:sp>
        <p:nvSpPr>
          <p:cNvPr id="5" name="TextBox 4"/>
          <p:cNvSpPr txBox="1"/>
          <p:nvPr/>
        </p:nvSpPr>
        <p:spPr>
          <a:xfrm>
            <a:off x="1333500" y="2667892"/>
            <a:ext cx="9525000" cy="338554"/>
          </a:xfrm>
          <a:prstGeom prst="rect">
            <a:avLst/>
          </a:prstGeom>
          <a:noFill/>
        </p:spPr>
        <p:txBody>
          <a:bodyPr wrap="square" lIns="0" tIns="0" rIns="0" bIns="0" anchor="t">
            <a:spAutoFit/>
          </a:bodyPr>
          <a:lstStyle/>
          <a:p>
            <a:pPr algn="ctr">
              <a:lnSpc>
                <a:spcPts val="2879"/>
              </a:lnSpc>
            </a:pPr>
            <a:r>
              <a:rPr lang="en-US" dirty="0">
                <a:solidFill>
                  <a:srgbClr val="546E7A"/>
                </a:solidFill>
                <a:effectLst>
                  <a:outerShdw blurRad="38100" dist="38100" dir="2700000" algn="tl">
                    <a:srgbClr val="000000">
                      <a:alpha val="43137"/>
                    </a:srgbClr>
                  </a:outerShdw>
                </a:effectLst>
                <a:latin typeface="Open Sans"/>
              </a:rPr>
              <a:t>Hồ Thuận Khang &amp; Nguyễn Chánh </a:t>
            </a:r>
            <a:r>
              <a:rPr lang="en-US" dirty="0" err="1">
                <a:solidFill>
                  <a:srgbClr val="546E7A"/>
                </a:solidFill>
                <a:effectLst>
                  <a:outerShdw blurRad="38100" dist="38100" dir="2700000" algn="tl">
                    <a:srgbClr val="000000">
                      <a:alpha val="43137"/>
                    </a:srgbClr>
                  </a:outerShdw>
                </a:effectLst>
                <a:latin typeface="Open Sans"/>
              </a:rPr>
              <a:t>Khôi</a:t>
            </a:r>
            <a:endParaRPr sz="1800" b="0" i="0" u="none" dirty="0">
              <a:solidFill>
                <a:srgbClr val="546E7A"/>
              </a:solidFill>
              <a:effectLst>
                <a:outerShdw blurRad="38100" dist="38100" dir="2700000" algn="tl">
                  <a:srgbClr val="000000">
                    <a:alpha val="43137"/>
                  </a:srgbClr>
                </a:outerShdw>
              </a:effectLst>
              <a:latin typeface="Open Sans"/>
            </a:endParaRPr>
          </a:p>
        </p:txBody>
      </p:sp>
      <p:pic>
        <p:nvPicPr>
          <p:cNvPr id="1026" name="Picture 2" descr="Bytepawn - Marton Trencseni – YOLOv5 object detection experiments">
            <a:extLst>
              <a:ext uri="{FF2B5EF4-FFF2-40B4-BE49-F238E27FC236}">
                <a16:creationId xmlns:a16="http://schemas.microsoft.com/office/drawing/2014/main" id="{FE15FA1D-C1A8-6CF2-8144-884AC673F3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5855" y="3390562"/>
            <a:ext cx="5330986" cy="30342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B8312-8391-2C3E-FEE9-D433112EA0F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0BD3CB1-00B0-BA3E-36AC-B7A7EB375164}"/>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5C3FDD7F-50C7-EB53-6195-659AFC47ABBD}"/>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4D83EF8-1752-BCB7-65FB-B68ED46C9499}"/>
              </a:ext>
            </a:extLst>
          </p:cNvPr>
          <p:cNvSpPr txBox="1"/>
          <p:nvPr/>
        </p:nvSpPr>
        <p:spPr>
          <a:xfrm>
            <a:off x="310718" y="393325"/>
            <a:ext cx="4438835" cy="1231106"/>
          </a:xfrm>
          <a:prstGeom prst="rect">
            <a:avLst/>
          </a:prstGeom>
          <a:noFill/>
        </p:spPr>
        <p:txBody>
          <a:bodyPr wrap="square" lIns="0" tIns="0" rIns="0" bIns="0" anchor="t">
            <a:spAutoFit/>
          </a:bodyPr>
          <a:lstStyle/>
          <a:p>
            <a:r>
              <a:rPr lang="en-US" sz="4000" b="1" dirty="0">
                <a:solidFill>
                  <a:srgbClr val="0056B3"/>
                </a:solidFill>
                <a:effectLst>
                  <a:outerShdw blurRad="38100" dist="38100" dir="2700000" algn="tl">
                    <a:srgbClr val="000000">
                      <a:alpha val="43137"/>
                    </a:srgbClr>
                  </a:outerShdw>
                </a:effectLst>
                <a:latin typeface="Montserrat"/>
              </a:rPr>
              <a:t>Trong </a:t>
            </a:r>
            <a:r>
              <a:rPr lang="en-US" sz="4000" b="1" dirty="0" err="1">
                <a:solidFill>
                  <a:srgbClr val="0056B3"/>
                </a:solidFill>
                <a:effectLst>
                  <a:outerShdw blurRad="38100" dist="38100" dir="2700000" algn="tl">
                    <a:srgbClr val="000000">
                      <a:alpha val="43137"/>
                    </a:srgbClr>
                  </a:outerShdw>
                </a:effectLst>
                <a:latin typeface="Montserrat"/>
              </a:rPr>
              <a:t>bài</a:t>
            </a:r>
            <a:r>
              <a:rPr lang="en-US" sz="4000" b="1" dirty="0">
                <a:solidFill>
                  <a:srgbClr val="0056B3"/>
                </a:solidFill>
                <a:effectLst>
                  <a:outerShdw blurRad="38100" dist="38100" dir="2700000" algn="tl">
                    <a:srgbClr val="000000">
                      <a:alpha val="43137"/>
                    </a:srgbClr>
                  </a:outerShdw>
                </a:effectLst>
                <a:latin typeface="Montserrat"/>
              </a:rPr>
              <a:t> </a:t>
            </a:r>
            <a:r>
              <a:rPr lang="en-US" sz="4000" b="1" dirty="0" err="1">
                <a:solidFill>
                  <a:srgbClr val="0056B3"/>
                </a:solidFill>
                <a:effectLst>
                  <a:outerShdw blurRad="38100" dist="38100" dir="2700000" algn="tl">
                    <a:srgbClr val="000000">
                      <a:alpha val="43137"/>
                    </a:srgbClr>
                  </a:outerShdw>
                </a:effectLst>
                <a:latin typeface="Montserrat"/>
              </a:rPr>
              <a:t>thuyết</a:t>
            </a:r>
            <a:r>
              <a:rPr lang="en-US" sz="4000" b="1" dirty="0">
                <a:solidFill>
                  <a:srgbClr val="0056B3"/>
                </a:solidFill>
                <a:effectLst>
                  <a:outerShdw blurRad="38100" dist="38100" dir="2700000" algn="tl">
                    <a:srgbClr val="000000">
                      <a:alpha val="43137"/>
                    </a:srgbClr>
                  </a:outerShdw>
                </a:effectLst>
                <a:latin typeface="Montserrat"/>
              </a:rPr>
              <a:t> </a:t>
            </a:r>
            <a:r>
              <a:rPr lang="en-US" sz="4000" b="1" dirty="0" err="1">
                <a:solidFill>
                  <a:srgbClr val="0056B3"/>
                </a:solidFill>
                <a:effectLst>
                  <a:outerShdw blurRad="38100" dist="38100" dir="2700000" algn="tl">
                    <a:srgbClr val="000000">
                      <a:alpha val="43137"/>
                    </a:srgbClr>
                  </a:outerShdw>
                </a:effectLst>
                <a:latin typeface="Montserrat"/>
              </a:rPr>
              <a:t>trình</a:t>
            </a:r>
            <a:r>
              <a:rPr lang="en-US" sz="4000" b="1" dirty="0">
                <a:solidFill>
                  <a:srgbClr val="0056B3"/>
                </a:solidFill>
                <a:effectLst>
                  <a:outerShdw blurRad="38100" dist="38100" dir="2700000" algn="tl">
                    <a:srgbClr val="000000">
                      <a:alpha val="43137"/>
                    </a:srgbClr>
                  </a:outerShdw>
                </a:effectLst>
                <a:latin typeface="Montserrat"/>
              </a:rPr>
              <a:t> </a:t>
            </a:r>
            <a:r>
              <a:rPr lang="en-US" sz="4000" b="1" dirty="0" err="1">
                <a:solidFill>
                  <a:srgbClr val="0056B3"/>
                </a:solidFill>
                <a:effectLst>
                  <a:outerShdw blurRad="38100" dist="38100" dir="2700000" algn="tl">
                    <a:srgbClr val="000000">
                      <a:alpha val="43137"/>
                    </a:srgbClr>
                  </a:outerShdw>
                </a:effectLst>
                <a:latin typeface="Montserrat"/>
              </a:rPr>
              <a:t>này</a:t>
            </a:r>
            <a:endParaRPr lang="en-US" sz="4000" b="1" dirty="0">
              <a:solidFill>
                <a:srgbClr val="0056B3"/>
              </a:solidFill>
              <a:effectLst>
                <a:outerShdw blurRad="38100" dist="38100" dir="2700000" algn="tl">
                  <a:srgbClr val="000000">
                    <a:alpha val="43137"/>
                  </a:srgbClr>
                </a:outerShdw>
              </a:effectLst>
              <a:latin typeface="Montserrat"/>
            </a:endParaRPr>
          </a:p>
        </p:txBody>
      </p:sp>
      <p:graphicFrame>
        <p:nvGraphicFramePr>
          <p:cNvPr id="6" name="Diagram 5">
            <a:extLst>
              <a:ext uri="{FF2B5EF4-FFF2-40B4-BE49-F238E27FC236}">
                <a16:creationId xmlns:a16="http://schemas.microsoft.com/office/drawing/2014/main" id="{3D52701C-ADF7-0E7F-7656-D6AE2C6E5D5D}"/>
              </a:ext>
            </a:extLst>
          </p:cNvPr>
          <p:cNvGraphicFramePr/>
          <p:nvPr>
            <p:extLst>
              <p:ext uri="{D42A27DB-BD31-4B8C-83A1-F6EECF244321}">
                <p14:modId xmlns:p14="http://schemas.microsoft.com/office/powerpoint/2010/main" val="3799086653"/>
              </p:ext>
            </p:extLst>
          </p:nvPr>
        </p:nvGraphicFramePr>
        <p:xfrm>
          <a:off x="5844466" y="0"/>
          <a:ext cx="6347534" cy="6873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0965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65546-A97B-19C8-BEDF-6A51D7AE3D0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F970377-7862-B546-749B-72EE65895BCA}"/>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10BF401-48E2-D0AF-636C-469F27D07832}"/>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9883020-DA64-D59E-A5F9-1C65BC5937D4}"/>
              </a:ext>
            </a:extLst>
          </p:cNvPr>
          <p:cNvSpPr txBox="1"/>
          <p:nvPr/>
        </p:nvSpPr>
        <p:spPr>
          <a:xfrm>
            <a:off x="2357373" y="2646016"/>
            <a:ext cx="7170896" cy="738664"/>
          </a:xfrm>
          <a:prstGeom prst="rect">
            <a:avLst/>
          </a:prstGeom>
          <a:noFill/>
        </p:spPr>
        <p:txBody>
          <a:bodyPr wrap="square" lIns="0" tIns="0" rIns="0" bIns="0" anchor="t">
            <a:spAutoFit/>
          </a:bodyPr>
          <a:lstStyle/>
          <a:p>
            <a:pPr algn="ctr"/>
            <a:r>
              <a:rPr lang="en-US" sz="4800" b="1" dirty="0" err="1">
                <a:solidFill>
                  <a:srgbClr val="0056B3"/>
                </a:solidFill>
                <a:effectLst>
                  <a:outerShdw blurRad="38100" dist="38100" dir="2700000" algn="tl">
                    <a:srgbClr val="000000">
                      <a:alpha val="43137"/>
                    </a:srgbClr>
                  </a:outerShdw>
                </a:effectLst>
                <a:latin typeface="Montserrat"/>
              </a:rPr>
              <a:t>Giới</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thiệu</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đề</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tài</a:t>
            </a:r>
            <a:endParaRPr lang="en-US" sz="4800" b="1" dirty="0">
              <a:solidFill>
                <a:srgbClr val="0056B3"/>
              </a:solidFill>
              <a:effectLst>
                <a:outerShdw blurRad="38100" dist="38100" dir="2700000" algn="tl">
                  <a:srgbClr val="000000">
                    <a:alpha val="43137"/>
                  </a:srgbClr>
                </a:outerShdw>
              </a:effectLst>
              <a:latin typeface="Montserrat"/>
            </a:endParaRPr>
          </a:p>
        </p:txBody>
      </p:sp>
      <p:sp>
        <p:nvSpPr>
          <p:cNvPr id="5" name="Rectangle 4">
            <a:extLst>
              <a:ext uri="{FF2B5EF4-FFF2-40B4-BE49-F238E27FC236}">
                <a16:creationId xmlns:a16="http://schemas.microsoft.com/office/drawing/2014/main" id="{940442FA-888D-8353-F2E0-58B6EA0E78BD}"/>
              </a:ext>
            </a:extLst>
          </p:cNvPr>
          <p:cNvSpPr/>
          <p:nvPr/>
        </p:nvSpPr>
        <p:spPr>
          <a:xfrm>
            <a:off x="5524500" y="3517552"/>
            <a:ext cx="1143000" cy="5715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871751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357373" y="2646016"/>
            <a:ext cx="7170896" cy="738664"/>
          </a:xfrm>
          <a:prstGeom prst="rect">
            <a:avLst/>
          </a:prstGeom>
          <a:noFill/>
        </p:spPr>
        <p:txBody>
          <a:bodyPr wrap="square" lIns="0" tIns="0" rIns="0" bIns="0" anchor="t">
            <a:spAutoFit/>
          </a:bodyPr>
          <a:lstStyle/>
          <a:p>
            <a:pPr algn="ctr"/>
            <a:r>
              <a:rPr lang="en-US" sz="4800" b="1" dirty="0" err="1">
                <a:solidFill>
                  <a:srgbClr val="0056B3"/>
                </a:solidFill>
                <a:latin typeface="Montserrat"/>
              </a:rPr>
              <a:t>Mục</a:t>
            </a:r>
            <a:r>
              <a:rPr lang="en-US" sz="4800" b="1" dirty="0">
                <a:solidFill>
                  <a:srgbClr val="0056B3"/>
                </a:solidFill>
                <a:latin typeface="Montserrat"/>
              </a:rPr>
              <a:t> </a:t>
            </a:r>
            <a:r>
              <a:rPr lang="en-US" sz="4800" b="1" dirty="0" err="1">
                <a:solidFill>
                  <a:srgbClr val="0056B3"/>
                </a:solidFill>
                <a:latin typeface="Montserrat"/>
              </a:rPr>
              <a:t>Tiêu</a:t>
            </a:r>
            <a:r>
              <a:rPr lang="en-US" sz="4800" b="1" dirty="0">
                <a:solidFill>
                  <a:srgbClr val="0056B3"/>
                </a:solidFill>
                <a:latin typeface="Montserrat"/>
              </a:rPr>
              <a:t> &amp; </a:t>
            </a:r>
            <a:r>
              <a:rPr lang="en-US" sz="4800" b="1" dirty="0" err="1">
                <a:solidFill>
                  <a:srgbClr val="0056B3"/>
                </a:solidFill>
                <a:latin typeface="Montserrat"/>
              </a:rPr>
              <a:t>Đề</a:t>
            </a:r>
            <a:r>
              <a:rPr lang="en-US" sz="4800" b="1" dirty="0">
                <a:solidFill>
                  <a:srgbClr val="0056B3"/>
                </a:solidFill>
                <a:latin typeface="Montserrat"/>
              </a:rPr>
              <a:t> </a:t>
            </a:r>
            <a:r>
              <a:rPr lang="en-US" sz="4800" b="1" dirty="0" err="1">
                <a:solidFill>
                  <a:srgbClr val="0056B3"/>
                </a:solidFill>
                <a:latin typeface="Montserrat"/>
              </a:rPr>
              <a:t>Bài</a:t>
            </a:r>
            <a:endParaRPr lang="en-US" sz="4800" b="1" dirty="0">
              <a:solidFill>
                <a:srgbClr val="0056B3"/>
              </a:solidFill>
              <a:latin typeface="Montserrat"/>
            </a:endParaRPr>
          </a:p>
        </p:txBody>
      </p:sp>
      <p:sp>
        <p:nvSpPr>
          <p:cNvPr id="5" name="Rectangle 4"/>
          <p:cNvSpPr/>
          <p:nvPr/>
        </p:nvSpPr>
        <p:spPr>
          <a:xfrm>
            <a:off x="5524500" y="3517552"/>
            <a:ext cx="1143000" cy="5715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4375" y="647700"/>
            <a:ext cx="11451431" cy="495300"/>
          </a:xfrm>
          <a:prstGeom prst="rect">
            <a:avLst/>
          </a:prstGeom>
          <a:noFill/>
        </p:spPr>
        <p:txBody>
          <a:bodyPr wrap="square" lIns="0" tIns="0" rIns="0" bIns="0" anchor="t">
            <a:spAutoFit/>
          </a:bodyPr>
          <a:lstStyle/>
          <a:p>
            <a:pPr algn="l"/>
            <a:r>
              <a:rPr sz="3150" b="1" i="0" u="none" dirty="0" err="1">
                <a:solidFill>
                  <a:srgbClr val="0056B3"/>
                </a:solidFill>
                <a:effectLst>
                  <a:outerShdw blurRad="38100" dist="38100" dir="2700000" algn="tl">
                    <a:srgbClr val="000000">
                      <a:alpha val="43137"/>
                    </a:srgbClr>
                  </a:outerShdw>
                </a:effectLst>
                <a:latin typeface="Montserrat"/>
              </a:rPr>
              <a:t>Mục</a:t>
            </a:r>
            <a:r>
              <a:rPr sz="3150" b="1" i="0" u="none" dirty="0">
                <a:solidFill>
                  <a:srgbClr val="0056B3"/>
                </a:solidFill>
                <a:effectLst>
                  <a:outerShdw blurRad="38100" dist="38100" dir="2700000" algn="tl">
                    <a:srgbClr val="000000">
                      <a:alpha val="43137"/>
                    </a:srgbClr>
                  </a:outerShdw>
                </a:effectLst>
                <a:latin typeface="Montserrat"/>
              </a:rPr>
              <a:t> </a:t>
            </a:r>
            <a:r>
              <a:rPr lang="en-US" sz="3150" b="1" i="0" u="none" dirty="0" err="1">
                <a:solidFill>
                  <a:srgbClr val="0056B3"/>
                </a:solidFill>
                <a:effectLst>
                  <a:outerShdw blurRad="38100" dist="38100" dir="2700000" algn="tl">
                    <a:srgbClr val="000000">
                      <a:alpha val="43137"/>
                    </a:srgbClr>
                  </a:outerShdw>
                </a:effectLst>
                <a:latin typeface="Montserrat"/>
              </a:rPr>
              <a:t>tiêu</a:t>
            </a:r>
            <a:endParaRPr sz="3150" b="1" i="0" u="none" dirty="0">
              <a:solidFill>
                <a:srgbClr val="0056B3"/>
              </a:solidFill>
              <a:effectLst>
                <a:outerShdw blurRad="38100" dist="38100" dir="2700000" algn="tl">
                  <a:srgbClr val="000000">
                    <a:alpha val="43137"/>
                  </a:srgbClr>
                </a:outerShdw>
              </a:effectLst>
              <a:latin typeface="Montserrat"/>
            </a:endParaRPr>
          </a:p>
        </p:txBody>
      </p:sp>
      <p:sp>
        <p:nvSpPr>
          <p:cNvPr id="5" name="Rectangle 4"/>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0125" y="1822576"/>
            <a:ext cx="4857750" cy="1237262"/>
          </a:xfrm>
          <a:prstGeom prst="rect">
            <a:avLst/>
          </a:prstGeom>
          <a:noFill/>
        </p:spPr>
        <p:txBody>
          <a:bodyPr wrap="square" lIns="0" tIns="0" rIns="0" bIns="0" anchor="t">
            <a:spAutoFit/>
          </a:bodyPr>
          <a:lstStyle/>
          <a:p>
            <a:pPr algn="l">
              <a:lnSpc>
                <a:spcPct val="114000"/>
              </a:lnSpc>
            </a:pPr>
            <a:r>
              <a:rPr sz="2400" b="1" i="0" u="none" dirty="0" err="1">
                <a:solidFill>
                  <a:srgbClr val="2C3E50"/>
                </a:solidFill>
                <a:effectLst>
                  <a:outerShdw blurRad="38100" dist="38100" dir="2700000" algn="tl">
                    <a:srgbClr val="000000">
                      <a:alpha val="43137"/>
                    </a:srgbClr>
                  </a:outerShdw>
                </a:effectLst>
                <a:latin typeface="Open Sans"/>
              </a:rPr>
              <a:t>Hệ</a:t>
            </a:r>
            <a:r>
              <a:rPr sz="2400" b="1" i="0" u="none" dirty="0">
                <a:solidFill>
                  <a:srgbClr val="2C3E50"/>
                </a:solidFill>
                <a:effectLst>
                  <a:outerShdw blurRad="38100" dist="38100" dir="2700000" algn="tl">
                    <a:srgbClr val="000000">
                      <a:alpha val="43137"/>
                    </a:srgbClr>
                  </a:outerShdw>
                </a:effectLst>
                <a:latin typeface="Open Sans"/>
              </a:rPr>
              <a:t> </a:t>
            </a:r>
            <a:r>
              <a:rPr sz="2400" b="1" i="0" u="none" dirty="0" err="1">
                <a:solidFill>
                  <a:srgbClr val="2C3E50"/>
                </a:solidFill>
                <a:effectLst>
                  <a:outerShdw blurRad="38100" dist="38100" dir="2700000" algn="tl">
                    <a:srgbClr val="000000">
                      <a:alpha val="43137"/>
                    </a:srgbClr>
                  </a:outerShdw>
                </a:effectLst>
                <a:latin typeface="Open Sans"/>
              </a:rPr>
              <a:t>thống</a:t>
            </a:r>
            <a:r>
              <a:rPr sz="2400" b="1" i="0" u="none" dirty="0">
                <a:solidFill>
                  <a:srgbClr val="2C3E50"/>
                </a:solidFill>
                <a:effectLst>
                  <a:outerShdw blurRad="38100" dist="38100" dir="2700000" algn="tl">
                    <a:srgbClr val="000000">
                      <a:alpha val="43137"/>
                    </a:srgbClr>
                  </a:outerShdw>
                </a:effectLst>
                <a:latin typeface="Open Sans"/>
              </a:rPr>
              <a:t> </a:t>
            </a:r>
            <a:r>
              <a:rPr sz="2400" b="1" i="0" u="none" dirty="0" err="1">
                <a:solidFill>
                  <a:srgbClr val="2C3E50"/>
                </a:solidFill>
                <a:effectLst>
                  <a:outerShdw blurRad="38100" dist="38100" dir="2700000" algn="tl">
                    <a:srgbClr val="000000">
                      <a:alpha val="43137"/>
                    </a:srgbClr>
                  </a:outerShdw>
                </a:effectLst>
                <a:latin typeface="Open Sans"/>
              </a:rPr>
              <a:t>linh</a:t>
            </a:r>
            <a:r>
              <a:rPr sz="2400" b="1" i="0" u="none" dirty="0">
                <a:solidFill>
                  <a:srgbClr val="2C3E50"/>
                </a:solidFill>
                <a:effectLst>
                  <a:outerShdw blurRad="38100" dist="38100" dir="2700000" algn="tl">
                    <a:srgbClr val="000000">
                      <a:alpha val="43137"/>
                    </a:srgbClr>
                  </a:outerShdw>
                </a:effectLst>
                <a:latin typeface="Open Sans"/>
              </a:rPr>
              <a:t> </a:t>
            </a:r>
            <a:r>
              <a:rPr sz="2400" b="1" i="0" u="none" dirty="0" err="1">
                <a:solidFill>
                  <a:srgbClr val="2C3E50"/>
                </a:solidFill>
                <a:effectLst>
                  <a:outerShdw blurRad="38100" dist="38100" dir="2700000" algn="tl">
                    <a:srgbClr val="000000">
                      <a:alpha val="43137"/>
                    </a:srgbClr>
                  </a:outerShdw>
                </a:effectLst>
                <a:latin typeface="Open Sans"/>
              </a:rPr>
              <a:t>hoạt</a:t>
            </a:r>
            <a:r>
              <a:rPr sz="2400" b="1" i="0" u="none" dirty="0">
                <a:solidFill>
                  <a:srgbClr val="2C3E50"/>
                </a:solidFill>
                <a:effectLst>
                  <a:outerShdw blurRad="38100" dist="38100" dir="2700000" algn="tl">
                    <a:srgbClr val="000000">
                      <a:alpha val="43137"/>
                    </a:srgbClr>
                  </a:outerShdw>
                </a:effectLst>
                <a:latin typeface="Open Sans"/>
              </a:rPr>
              <a:t>:</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Xây</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dựng</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hệ</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thống</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phát</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hiện</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đối</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tượng</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dựa</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trên</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kiến</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trúc</a:t>
            </a:r>
            <a:r>
              <a:rPr sz="2400" b="0" i="0" u="none" dirty="0">
                <a:solidFill>
                  <a:srgbClr val="2C3E50"/>
                </a:solidFill>
                <a:effectLst>
                  <a:outerShdw blurRad="38100" dist="38100" dir="2700000" algn="tl">
                    <a:srgbClr val="000000">
                      <a:alpha val="43137"/>
                    </a:srgbClr>
                  </a:outerShdw>
                </a:effectLst>
                <a:latin typeface="Open Sans"/>
              </a:rPr>
              <a:t> YOLOv5 </a:t>
            </a:r>
            <a:r>
              <a:rPr sz="2400" b="0" i="0" u="none" dirty="0" err="1">
                <a:solidFill>
                  <a:srgbClr val="2C3E50"/>
                </a:solidFill>
                <a:effectLst>
                  <a:outerShdw blurRad="38100" dist="38100" dir="2700000" algn="tl">
                    <a:srgbClr val="000000">
                      <a:alpha val="43137"/>
                    </a:srgbClr>
                  </a:outerShdw>
                </a:effectLst>
                <a:latin typeface="Open Sans"/>
              </a:rPr>
              <a:t>mạnh</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mẽ</a:t>
            </a:r>
            <a:r>
              <a:rPr sz="2400" b="0" i="0" u="none" dirty="0">
                <a:solidFill>
                  <a:srgbClr val="2C3E50"/>
                </a:solidFill>
                <a:effectLst>
                  <a:outerShdw blurRad="38100" dist="38100" dir="2700000" algn="tl">
                    <a:srgbClr val="000000">
                      <a:alpha val="43137"/>
                    </a:srgbClr>
                  </a:outerShdw>
                </a:effectLst>
                <a:latin typeface="Open Sans"/>
              </a:rPr>
              <a:t>.</a:t>
            </a:r>
          </a:p>
        </p:txBody>
      </p:sp>
      <p:sp>
        <p:nvSpPr>
          <p:cNvPr id="7" name="TextBox 6"/>
          <p:cNvSpPr txBox="1"/>
          <p:nvPr/>
        </p:nvSpPr>
        <p:spPr>
          <a:xfrm>
            <a:off x="1000125" y="3420980"/>
            <a:ext cx="4857750" cy="2079287"/>
          </a:xfrm>
          <a:prstGeom prst="rect">
            <a:avLst/>
          </a:prstGeom>
          <a:noFill/>
        </p:spPr>
        <p:txBody>
          <a:bodyPr wrap="square" lIns="0" tIns="0" rIns="0" bIns="0" anchor="t">
            <a:spAutoFit/>
          </a:bodyPr>
          <a:lstStyle/>
          <a:p>
            <a:pPr algn="l">
              <a:lnSpc>
                <a:spcPct val="114000"/>
              </a:lnSpc>
            </a:pPr>
            <a:r>
              <a:rPr sz="2400" b="1" i="0" u="none" dirty="0" err="1">
                <a:solidFill>
                  <a:srgbClr val="2C3E50"/>
                </a:solidFill>
                <a:effectLst>
                  <a:outerShdw blurRad="38100" dist="38100" dir="2700000" algn="tl">
                    <a:srgbClr val="000000">
                      <a:alpha val="43137"/>
                    </a:srgbClr>
                  </a:outerShdw>
                </a:effectLst>
                <a:latin typeface="Open Sans"/>
              </a:rPr>
              <a:t>Đa</a:t>
            </a:r>
            <a:r>
              <a:rPr sz="2400" b="1" i="0" u="none" dirty="0">
                <a:solidFill>
                  <a:srgbClr val="2C3E50"/>
                </a:solidFill>
                <a:effectLst>
                  <a:outerShdw blurRad="38100" dist="38100" dir="2700000" algn="tl">
                    <a:srgbClr val="000000">
                      <a:alpha val="43137"/>
                    </a:srgbClr>
                  </a:outerShdw>
                </a:effectLst>
                <a:latin typeface="Open Sans"/>
              </a:rPr>
              <a:t> </a:t>
            </a:r>
            <a:r>
              <a:rPr sz="2400" b="1" i="0" u="none" dirty="0" err="1">
                <a:solidFill>
                  <a:srgbClr val="2C3E50"/>
                </a:solidFill>
                <a:effectLst>
                  <a:outerShdw blurRad="38100" dist="38100" dir="2700000" algn="tl">
                    <a:srgbClr val="000000">
                      <a:alpha val="43137"/>
                    </a:srgbClr>
                  </a:outerShdw>
                </a:effectLst>
                <a:latin typeface="Open Sans"/>
              </a:rPr>
              <a:t>dạng</a:t>
            </a:r>
            <a:r>
              <a:rPr sz="2400" b="1" i="0" u="none" dirty="0">
                <a:solidFill>
                  <a:srgbClr val="2C3E50"/>
                </a:solidFill>
                <a:effectLst>
                  <a:outerShdw blurRad="38100" dist="38100" dir="2700000" algn="tl">
                    <a:srgbClr val="000000">
                      <a:alpha val="43137"/>
                    </a:srgbClr>
                  </a:outerShdw>
                </a:effectLst>
                <a:latin typeface="Open Sans"/>
              </a:rPr>
              <a:t> </a:t>
            </a:r>
            <a:r>
              <a:rPr sz="2400" b="1" i="0" u="none" dirty="0" err="1">
                <a:solidFill>
                  <a:srgbClr val="2C3E50"/>
                </a:solidFill>
                <a:effectLst>
                  <a:outerShdw blurRad="38100" dist="38100" dir="2700000" algn="tl">
                    <a:srgbClr val="000000">
                      <a:alpha val="43137"/>
                    </a:srgbClr>
                  </a:outerShdw>
                </a:effectLst>
                <a:latin typeface="Open Sans"/>
              </a:rPr>
              <a:t>dữ</a:t>
            </a:r>
            <a:r>
              <a:rPr sz="2400" b="1" i="0" u="none" dirty="0">
                <a:solidFill>
                  <a:srgbClr val="2C3E50"/>
                </a:solidFill>
                <a:effectLst>
                  <a:outerShdw blurRad="38100" dist="38100" dir="2700000" algn="tl">
                    <a:srgbClr val="000000">
                      <a:alpha val="43137"/>
                    </a:srgbClr>
                  </a:outerShdw>
                </a:effectLst>
                <a:latin typeface="Open Sans"/>
              </a:rPr>
              <a:t> </a:t>
            </a:r>
            <a:r>
              <a:rPr sz="2400" b="1" i="0" u="none" dirty="0" err="1">
                <a:solidFill>
                  <a:srgbClr val="2C3E50"/>
                </a:solidFill>
                <a:effectLst>
                  <a:outerShdw blurRad="38100" dist="38100" dir="2700000" algn="tl">
                    <a:srgbClr val="000000">
                      <a:alpha val="43137"/>
                    </a:srgbClr>
                  </a:outerShdw>
                </a:effectLst>
                <a:latin typeface="Open Sans"/>
              </a:rPr>
              <a:t>liệu</a:t>
            </a:r>
            <a:r>
              <a:rPr sz="2400" b="1" i="0" u="none" dirty="0">
                <a:solidFill>
                  <a:srgbClr val="2C3E50"/>
                </a:solidFill>
                <a:effectLst>
                  <a:outerShdw blurRad="38100" dist="38100" dir="2700000" algn="tl">
                    <a:srgbClr val="000000">
                      <a:alpha val="43137"/>
                    </a:srgbClr>
                  </a:outerShdw>
                </a:effectLst>
                <a:latin typeface="Open Sans"/>
              </a:rPr>
              <a:t>:</a:t>
            </a:r>
            <a:r>
              <a:rPr sz="2400" b="0" i="0" u="none" dirty="0">
                <a:solidFill>
                  <a:srgbClr val="2C3E50"/>
                </a:solidFill>
                <a:effectLst>
                  <a:outerShdw blurRad="38100" dist="38100" dir="2700000" algn="tl">
                    <a:srgbClr val="000000">
                      <a:alpha val="43137"/>
                    </a:srgbClr>
                  </a:outerShdw>
                </a:effectLst>
                <a:latin typeface="Open Sans"/>
              </a:rPr>
              <a:t> </a:t>
            </a:r>
            <a:r>
              <a:rPr lang="en-US" sz="2400" b="0" i="0" u="none" dirty="0" err="1">
                <a:solidFill>
                  <a:srgbClr val="2C3E50"/>
                </a:solidFill>
                <a:effectLst>
                  <a:outerShdw blurRad="38100" dist="38100" dir="2700000" algn="tl">
                    <a:srgbClr val="000000">
                      <a:alpha val="43137"/>
                    </a:srgbClr>
                  </a:outerShdw>
                </a:effectLst>
                <a:latin typeface="Open Sans"/>
              </a:rPr>
              <a:t>Có</a:t>
            </a:r>
            <a:r>
              <a:rPr lang="en-US" sz="2400" b="0" i="0" u="none" dirty="0">
                <a:solidFill>
                  <a:srgbClr val="2C3E50"/>
                </a:solidFill>
                <a:effectLst>
                  <a:outerShdw blurRad="38100" dist="38100" dir="2700000" algn="tl">
                    <a:srgbClr val="000000">
                      <a:alpha val="43137"/>
                    </a:srgbClr>
                  </a:outerShdw>
                </a:effectLst>
                <a:latin typeface="Open Sans"/>
              </a:rPr>
              <a:t> </a:t>
            </a:r>
            <a:r>
              <a:rPr lang="en-US" sz="2400" b="0" i="0" u="none" dirty="0" err="1">
                <a:solidFill>
                  <a:srgbClr val="2C3E50"/>
                </a:solidFill>
                <a:effectLst>
                  <a:outerShdw blurRad="38100" dist="38100" dir="2700000" algn="tl">
                    <a:srgbClr val="000000">
                      <a:alpha val="43137"/>
                    </a:srgbClr>
                  </a:outerShdw>
                </a:effectLst>
                <a:latin typeface="Open Sans"/>
              </a:rPr>
              <a:t>thể</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mở</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rộng</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để</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phát</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hiện</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nhiều</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loại</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đối</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tượng</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trên</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các</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tập</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dữ</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liệu</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khác</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nhau</a:t>
            </a:r>
            <a:r>
              <a:rPr sz="2400" b="0" i="0" u="none" dirty="0">
                <a:solidFill>
                  <a:srgbClr val="2C3E50"/>
                </a:solidFill>
                <a:effectLst>
                  <a:outerShdw blurRad="38100" dist="38100" dir="2700000" algn="tl">
                    <a:srgbClr val="000000">
                      <a:alpha val="43137"/>
                    </a:srgbClr>
                  </a:outerShdw>
                </a:effectLst>
                <a:latin typeface="Open Sans"/>
              </a:rPr>
              <a:t> (COCO, </a:t>
            </a:r>
            <a:r>
              <a:rPr sz="2400" b="0" i="0" u="none" dirty="0" err="1">
                <a:solidFill>
                  <a:srgbClr val="2C3E50"/>
                </a:solidFill>
                <a:effectLst>
                  <a:outerShdw blurRad="38100" dist="38100" dir="2700000" algn="tl">
                    <a:srgbClr val="000000">
                      <a:alpha val="43137"/>
                    </a:srgbClr>
                  </a:outerShdw>
                </a:effectLst>
                <a:latin typeface="Open Sans"/>
              </a:rPr>
              <a:t>VisDrone</a:t>
            </a:r>
            <a:r>
              <a:rPr sz="2400" b="0" i="0" u="none" dirty="0">
                <a:solidFill>
                  <a:srgbClr val="2C3E50"/>
                </a:solidFill>
                <a:effectLst>
                  <a:outerShdw blurRad="38100" dist="38100" dir="2700000" algn="tl">
                    <a:srgbClr val="000000">
                      <a:alpha val="43137"/>
                    </a:srgbClr>
                  </a:outerShdw>
                </a:effectLst>
                <a:latin typeface="Open Sans"/>
              </a:rPr>
              <a:t>, </a:t>
            </a:r>
            <a:r>
              <a:rPr lang="en-US" sz="2400" b="0" i="0" u="none" dirty="0" err="1">
                <a:solidFill>
                  <a:srgbClr val="2C3E50"/>
                </a:solidFill>
                <a:effectLst>
                  <a:outerShdw blurRad="38100" dist="38100" dir="2700000" algn="tl">
                    <a:srgbClr val="000000">
                      <a:alpha val="43137"/>
                    </a:srgbClr>
                  </a:outerShdw>
                </a:effectLst>
                <a:latin typeface="Open Sans"/>
              </a:rPr>
              <a:t>d</a:t>
            </a:r>
            <a:r>
              <a:rPr sz="2400" b="0" i="0" u="none" dirty="0" err="1">
                <a:solidFill>
                  <a:srgbClr val="2C3E50"/>
                </a:solidFill>
                <a:effectLst>
                  <a:outerShdw blurRad="38100" dist="38100" dir="2700000" algn="tl">
                    <a:srgbClr val="000000">
                      <a:alpha val="43137"/>
                    </a:srgbClr>
                  </a:outerShdw>
                </a:effectLst>
                <a:latin typeface="Open Sans"/>
              </a:rPr>
              <a:t>ữ</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liệu</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tuỳ</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chỉnh</a:t>
            </a:r>
            <a:r>
              <a:rPr sz="2400" b="0" i="0" u="none" dirty="0">
                <a:solidFill>
                  <a:srgbClr val="2C3E50"/>
                </a:solidFill>
                <a:effectLst>
                  <a:outerShdw blurRad="38100" dist="38100" dir="2700000" algn="tl">
                    <a:srgbClr val="000000">
                      <a:alpha val="43137"/>
                    </a:srgbClr>
                  </a:outerShdw>
                </a:effectLst>
                <a:latin typeface="Open Sans"/>
              </a:rPr>
              <a:t>).</a:t>
            </a:r>
          </a:p>
        </p:txBody>
      </p:sp>
      <p:sp>
        <p:nvSpPr>
          <p:cNvPr id="8" name="TextBox 7"/>
          <p:cNvSpPr txBox="1"/>
          <p:nvPr/>
        </p:nvSpPr>
        <p:spPr>
          <a:xfrm>
            <a:off x="6762750" y="1840539"/>
            <a:ext cx="4857750" cy="1237262"/>
          </a:xfrm>
          <a:prstGeom prst="rect">
            <a:avLst/>
          </a:prstGeom>
          <a:noFill/>
        </p:spPr>
        <p:txBody>
          <a:bodyPr wrap="square" lIns="0" tIns="0" rIns="0" bIns="0" anchor="t">
            <a:spAutoFit/>
          </a:bodyPr>
          <a:lstStyle/>
          <a:p>
            <a:pPr algn="l">
              <a:lnSpc>
                <a:spcPct val="114000"/>
              </a:lnSpc>
            </a:pPr>
            <a:r>
              <a:rPr sz="2400" b="1" i="0" u="none" dirty="0" err="1">
                <a:solidFill>
                  <a:srgbClr val="2C3E50"/>
                </a:solidFill>
                <a:effectLst>
                  <a:outerShdw blurRad="38100" dist="38100" dir="2700000" algn="tl">
                    <a:srgbClr val="000000">
                      <a:alpha val="43137"/>
                    </a:srgbClr>
                  </a:outerShdw>
                </a:effectLst>
                <a:latin typeface="Open Sans"/>
              </a:rPr>
              <a:t>Triển</a:t>
            </a:r>
            <a:r>
              <a:rPr sz="2400" b="1" i="0" u="none" dirty="0">
                <a:solidFill>
                  <a:srgbClr val="2C3E50"/>
                </a:solidFill>
                <a:effectLst>
                  <a:outerShdw blurRad="38100" dist="38100" dir="2700000" algn="tl">
                    <a:srgbClr val="000000">
                      <a:alpha val="43137"/>
                    </a:srgbClr>
                  </a:outerShdw>
                </a:effectLst>
                <a:latin typeface="Open Sans"/>
              </a:rPr>
              <a:t> </a:t>
            </a:r>
            <a:r>
              <a:rPr sz="2400" b="1" i="0" u="none" dirty="0" err="1">
                <a:solidFill>
                  <a:srgbClr val="2C3E50"/>
                </a:solidFill>
                <a:effectLst>
                  <a:outerShdw blurRad="38100" dist="38100" dir="2700000" algn="tl">
                    <a:srgbClr val="000000">
                      <a:alpha val="43137"/>
                    </a:srgbClr>
                  </a:outerShdw>
                </a:effectLst>
                <a:latin typeface="Open Sans"/>
              </a:rPr>
              <a:t>khai</a:t>
            </a:r>
            <a:r>
              <a:rPr sz="2400" b="1" i="0" u="none" dirty="0">
                <a:solidFill>
                  <a:srgbClr val="2C3E50"/>
                </a:solidFill>
                <a:effectLst>
                  <a:outerShdw blurRad="38100" dist="38100" dir="2700000" algn="tl">
                    <a:srgbClr val="000000">
                      <a:alpha val="43137"/>
                    </a:srgbClr>
                  </a:outerShdw>
                </a:effectLst>
                <a:latin typeface="Open Sans"/>
              </a:rPr>
              <a:t> API:</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Tạo</a:t>
            </a:r>
            <a:r>
              <a:rPr sz="2400" b="0" i="0" u="none" dirty="0">
                <a:solidFill>
                  <a:srgbClr val="2C3E50"/>
                </a:solidFill>
                <a:effectLst>
                  <a:outerShdw blurRad="38100" dist="38100" dir="2700000" algn="tl">
                    <a:srgbClr val="000000">
                      <a:alpha val="43137"/>
                    </a:srgbClr>
                  </a:outerShdw>
                </a:effectLst>
                <a:latin typeface="Open Sans"/>
              </a:rPr>
              <a:t> REST API </a:t>
            </a:r>
            <a:r>
              <a:rPr sz="2400" b="0" i="0" u="none" dirty="0" err="1">
                <a:solidFill>
                  <a:srgbClr val="2C3E50"/>
                </a:solidFill>
                <a:effectLst>
                  <a:outerShdw blurRad="38100" dist="38100" dir="2700000" algn="tl">
                    <a:srgbClr val="000000">
                      <a:alpha val="43137"/>
                    </a:srgbClr>
                  </a:outerShdw>
                </a:effectLst>
                <a:latin typeface="Open Sans"/>
              </a:rPr>
              <a:t>để</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nhận</a:t>
            </a:r>
            <a:r>
              <a:rPr sz="2400" b="0" i="0" u="none" dirty="0">
                <a:solidFill>
                  <a:srgbClr val="2C3E50"/>
                </a:solidFill>
                <a:effectLst>
                  <a:outerShdw blurRad="38100" dist="38100" dir="2700000" algn="tl">
                    <a:srgbClr val="000000">
                      <a:alpha val="43137"/>
                    </a:srgbClr>
                  </a:outerShdw>
                </a:effectLst>
                <a:latin typeface="Open Sans"/>
              </a:rPr>
              <a:t> </a:t>
            </a:r>
            <a:r>
              <a:rPr lang="en-US" sz="2400" b="0" i="0" u="none" dirty="0">
                <a:solidFill>
                  <a:srgbClr val="2C3E50"/>
                </a:solidFill>
                <a:effectLst>
                  <a:outerShdw blurRad="38100" dist="38100" dir="2700000" algn="tl">
                    <a:srgbClr val="000000">
                      <a:alpha val="43137"/>
                    </a:srgbClr>
                  </a:outerShdw>
                </a:effectLst>
                <a:latin typeface="Open Sans"/>
              </a:rPr>
              <a:t>&amp;</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trả</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kết</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quả</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phát</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hiện</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đối</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tượng</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trong</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hình</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ản</a:t>
            </a:r>
            <a:r>
              <a:rPr lang="en-US" sz="2400" b="0" i="0" u="none" dirty="0" err="1">
                <a:solidFill>
                  <a:srgbClr val="2C3E50"/>
                </a:solidFill>
                <a:effectLst>
                  <a:outerShdw blurRad="38100" dist="38100" dir="2700000" algn="tl">
                    <a:srgbClr val="000000">
                      <a:alpha val="43137"/>
                    </a:srgbClr>
                  </a:outerShdw>
                </a:effectLst>
                <a:latin typeface="Open Sans"/>
              </a:rPr>
              <a:t>h</a:t>
            </a:r>
            <a:r>
              <a:rPr lang="en-US" sz="2400" b="0" i="0" u="none" dirty="0">
                <a:solidFill>
                  <a:srgbClr val="2C3E50"/>
                </a:solidFill>
                <a:effectLst>
                  <a:outerShdw blurRad="38100" dist="38100" dir="2700000" algn="tl">
                    <a:srgbClr val="000000">
                      <a:alpha val="43137"/>
                    </a:srgbClr>
                  </a:outerShdw>
                </a:effectLst>
                <a:latin typeface="Open Sans"/>
              </a:rPr>
              <a:t> </a:t>
            </a:r>
            <a:r>
              <a:rPr lang="en-US" sz="2400" b="0" i="0" u="none" dirty="0" err="1">
                <a:solidFill>
                  <a:srgbClr val="2C3E50"/>
                </a:solidFill>
                <a:effectLst>
                  <a:outerShdw blurRad="38100" dist="38100" dir="2700000" algn="tl">
                    <a:srgbClr val="000000">
                      <a:alpha val="43137"/>
                    </a:srgbClr>
                  </a:outerShdw>
                </a:effectLst>
                <a:latin typeface="Open Sans"/>
              </a:rPr>
              <a:t>trực</a:t>
            </a:r>
            <a:r>
              <a:rPr lang="en-US" sz="2400" b="0" i="0" u="none" dirty="0">
                <a:solidFill>
                  <a:srgbClr val="2C3E50"/>
                </a:solidFill>
                <a:effectLst>
                  <a:outerShdw blurRad="38100" dist="38100" dir="2700000" algn="tl">
                    <a:srgbClr val="000000">
                      <a:alpha val="43137"/>
                    </a:srgbClr>
                  </a:outerShdw>
                </a:effectLst>
                <a:latin typeface="Open Sans"/>
              </a:rPr>
              <a:t> </a:t>
            </a:r>
            <a:r>
              <a:rPr lang="en-US" sz="2400" b="0" i="0" u="none" dirty="0" err="1">
                <a:solidFill>
                  <a:srgbClr val="2C3E50"/>
                </a:solidFill>
                <a:effectLst>
                  <a:outerShdw blurRad="38100" dist="38100" dir="2700000" algn="tl">
                    <a:srgbClr val="000000">
                      <a:alpha val="43137"/>
                    </a:srgbClr>
                  </a:outerShdw>
                </a:effectLst>
                <a:latin typeface="Open Sans"/>
              </a:rPr>
              <a:t>tiếp</a:t>
            </a:r>
            <a:r>
              <a:rPr lang="en-US" sz="2400" b="0" i="0" u="none" dirty="0">
                <a:solidFill>
                  <a:srgbClr val="2C3E50"/>
                </a:solidFill>
                <a:effectLst>
                  <a:outerShdw blurRad="38100" dist="38100" dir="2700000" algn="tl">
                    <a:srgbClr val="000000">
                      <a:alpha val="43137"/>
                    </a:srgbClr>
                  </a:outerShdw>
                </a:effectLst>
                <a:latin typeface="Open Sans"/>
              </a:rPr>
              <a:t>.</a:t>
            </a:r>
            <a:endParaRPr sz="2400" b="0" i="0" u="none" dirty="0">
              <a:solidFill>
                <a:srgbClr val="2C3E50"/>
              </a:solidFill>
              <a:effectLst>
                <a:outerShdw blurRad="38100" dist="38100" dir="2700000" algn="tl">
                  <a:srgbClr val="000000">
                    <a:alpha val="43137"/>
                  </a:srgbClr>
                </a:outerShdw>
              </a:effectLst>
              <a:latin typeface="Open Sans"/>
            </a:endParaRPr>
          </a:p>
        </p:txBody>
      </p:sp>
      <p:sp>
        <p:nvSpPr>
          <p:cNvPr id="9" name="TextBox 8"/>
          <p:cNvSpPr txBox="1"/>
          <p:nvPr/>
        </p:nvSpPr>
        <p:spPr>
          <a:xfrm>
            <a:off x="6762750" y="3545987"/>
            <a:ext cx="4857750" cy="1658274"/>
          </a:xfrm>
          <a:prstGeom prst="rect">
            <a:avLst/>
          </a:prstGeom>
          <a:noFill/>
        </p:spPr>
        <p:txBody>
          <a:bodyPr wrap="square" lIns="0" tIns="0" rIns="0" bIns="0" anchor="t">
            <a:spAutoFit/>
          </a:bodyPr>
          <a:lstStyle/>
          <a:p>
            <a:pPr algn="l">
              <a:lnSpc>
                <a:spcPct val="114000"/>
              </a:lnSpc>
            </a:pPr>
            <a:r>
              <a:rPr sz="2400" b="1" i="0" u="none" dirty="0" err="1">
                <a:solidFill>
                  <a:srgbClr val="2C3E50"/>
                </a:solidFill>
                <a:effectLst>
                  <a:outerShdw blurRad="38100" dist="38100" dir="2700000" algn="tl">
                    <a:srgbClr val="000000">
                      <a:alpha val="43137"/>
                    </a:srgbClr>
                  </a:outerShdw>
                </a:effectLst>
                <a:latin typeface="Open Sans"/>
              </a:rPr>
              <a:t>Tối</a:t>
            </a:r>
            <a:r>
              <a:rPr sz="2400" b="1" i="0" u="none" dirty="0">
                <a:solidFill>
                  <a:srgbClr val="2C3E50"/>
                </a:solidFill>
                <a:effectLst>
                  <a:outerShdw blurRad="38100" dist="38100" dir="2700000" algn="tl">
                    <a:srgbClr val="000000">
                      <a:alpha val="43137"/>
                    </a:srgbClr>
                  </a:outerShdw>
                </a:effectLst>
                <a:latin typeface="Open Sans"/>
              </a:rPr>
              <a:t> </a:t>
            </a:r>
            <a:r>
              <a:rPr sz="2400" b="1" i="0" u="none" dirty="0" err="1">
                <a:solidFill>
                  <a:srgbClr val="2C3E50"/>
                </a:solidFill>
                <a:effectLst>
                  <a:outerShdw blurRad="38100" dist="38100" dir="2700000" algn="tl">
                    <a:srgbClr val="000000">
                      <a:alpha val="43137"/>
                    </a:srgbClr>
                  </a:outerShdw>
                </a:effectLst>
                <a:latin typeface="Open Sans"/>
              </a:rPr>
              <a:t>ưu</a:t>
            </a:r>
            <a:r>
              <a:rPr sz="2400" b="1" i="0" u="none" dirty="0">
                <a:solidFill>
                  <a:srgbClr val="2C3E50"/>
                </a:solidFill>
                <a:effectLst>
                  <a:outerShdw blurRad="38100" dist="38100" dir="2700000" algn="tl">
                    <a:srgbClr val="000000">
                      <a:alpha val="43137"/>
                    </a:srgbClr>
                  </a:outerShdw>
                </a:effectLst>
                <a:latin typeface="Open Sans"/>
              </a:rPr>
              <a:t> </a:t>
            </a:r>
            <a:r>
              <a:rPr sz="2400" b="1" i="0" u="none" dirty="0" err="1">
                <a:solidFill>
                  <a:srgbClr val="2C3E50"/>
                </a:solidFill>
                <a:effectLst>
                  <a:outerShdw blurRad="38100" dist="38100" dir="2700000" algn="tl">
                    <a:srgbClr val="000000">
                      <a:alpha val="43137"/>
                    </a:srgbClr>
                  </a:outerShdw>
                </a:effectLst>
                <a:latin typeface="Open Sans"/>
              </a:rPr>
              <a:t>hạ</a:t>
            </a:r>
            <a:r>
              <a:rPr sz="2400" b="1" i="0" u="none" dirty="0">
                <a:solidFill>
                  <a:srgbClr val="2C3E50"/>
                </a:solidFill>
                <a:effectLst>
                  <a:outerShdw blurRad="38100" dist="38100" dir="2700000" algn="tl">
                    <a:srgbClr val="000000">
                      <a:alpha val="43137"/>
                    </a:srgbClr>
                  </a:outerShdw>
                </a:effectLst>
                <a:latin typeface="Open Sans"/>
              </a:rPr>
              <a:t> </a:t>
            </a:r>
            <a:r>
              <a:rPr sz="2400" b="1" i="0" u="none" dirty="0" err="1">
                <a:solidFill>
                  <a:srgbClr val="2C3E50"/>
                </a:solidFill>
                <a:effectLst>
                  <a:outerShdw blurRad="38100" dist="38100" dir="2700000" algn="tl">
                    <a:srgbClr val="000000">
                      <a:alpha val="43137"/>
                    </a:srgbClr>
                  </a:outerShdw>
                </a:effectLst>
                <a:latin typeface="Open Sans"/>
              </a:rPr>
              <a:t>tầng</a:t>
            </a:r>
            <a:r>
              <a:rPr sz="2400" b="1" i="0" u="none" dirty="0">
                <a:solidFill>
                  <a:srgbClr val="2C3E50"/>
                </a:solidFill>
                <a:effectLst>
                  <a:outerShdw blurRad="38100" dist="38100" dir="2700000" algn="tl">
                    <a:srgbClr val="000000">
                      <a:alpha val="43137"/>
                    </a:srgbClr>
                  </a:outerShdw>
                </a:effectLst>
                <a:latin typeface="Open Sans"/>
              </a:rPr>
              <a:t>:</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Tận</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dụng</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triệt</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để</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sức</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mạnh</a:t>
            </a:r>
            <a:r>
              <a:rPr sz="2400" b="0" i="0" u="none" dirty="0">
                <a:solidFill>
                  <a:srgbClr val="2C3E50"/>
                </a:solidFill>
                <a:effectLst>
                  <a:outerShdw blurRad="38100" dist="38100" dir="2700000" algn="tl">
                    <a:srgbClr val="000000">
                      <a:alpha val="43137"/>
                    </a:srgbClr>
                  </a:outerShdw>
                </a:effectLst>
                <a:latin typeface="Open Sans"/>
              </a:rPr>
              <a:t> GPU </a:t>
            </a:r>
            <a:r>
              <a:rPr sz="2400" b="0" i="0" u="none" dirty="0" err="1">
                <a:solidFill>
                  <a:srgbClr val="2C3E50"/>
                </a:solidFill>
                <a:effectLst>
                  <a:outerShdw blurRad="38100" dist="38100" dir="2700000" algn="tl">
                    <a:srgbClr val="000000">
                      <a:alpha val="43137"/>
                    </a:srgbClr>
                  </a:outerShdw>
                </a:effectLst>
                <a:latin typeface="Open Sans"/>
              </a:rPr>
              <a:t>của</a:t>
            </a:r>
            <a:r>
              <a:rPr sz="2400" b="0" i="0" u="none" dirty="0">
                <a:solidFill>
                  <a:srgbClr val="2C3E50"/>
                </a:solidFill>
                <a:effectLst>
                  <a:outerShdw blurRad="38100" dist="38100" dir="2700000" algn="tl">
                    <a:srgbClr val="000000">
                      <a:alpha val="43137"/>
                    </a:srgbClr>
                  </a:outerShdw>
                </a:effectLst>
                <a:latin typeface="Open Sans"/>
              </a:rPr>
              <a:t> Google </a:t>
            </a:r>
            <a:r>
              <a:rPr sz="2400" b="0" i="0" u="none" dirty="0" err="1">
                <a:solidFill>
                  <a:srgbClr val="2C3E50"/>
                </a:solidFill>
                <a:effectLst>
                  <a:outerShdw blurRad="38100" dist="38100" dir="2700000" algn="tl">
                    <a:srgbClr val="000000">
                      <a:alpha val="43137"/>
                    </a:srgbClr>
                  </a:outerShdw>
                </a:effectLst>
                <a:latin typeface="Open Sans"/>
              </a:rPr>
              <a:t>Colab</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cho</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cả</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quá</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trình</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huấn</a:t>
            </a:r>
            <a:r>
              <a:rPr sz="2400" b="0" i="0" u="none" dirty="0">
                <a:solidFill>
                  <a:srgbClr val="2C3E50"/>
                </a:solidFill>
                <a:effectLst>
                  <a:outerShdw blurRad="38100" dist="38100" dir="2700000" algn="tl">
                    <a:srgbClr val="000000">
                      <a:alpha val="43137"/>
                    </a:srgbClr>
                  </a:outerShdw>
                </a:effectLst>
                <a:latin typeface="Open Sans"/>
              </a:rPr>
              <a:t> </a:t>
            </a:r>
            <a:r>
              <a:rPr sz="2400" b="0" i="0" u="none" dirty="0" err="1">
                <a:solidFill>
                  <a:srgbClr val="2C3E50"/>
                </a:solidFill>
                <a:effectLst>
                  <a:outerShdw blurRad="38100" dist="38100" dir="2700000" algn="tl">
                    <a:srgbClr val="000000">
                      <a:alpha val="43137"/>
                    </a:srgbClr>
                  </a:outerShdw>
                </a:effectLst>
                <a:latin typeface="Open Sans"/>
              </a:rPr>
              <a:t>luyện</a:t>
            </a:r>
            <a:r>
              <a:rPr sz="2400" b="0" i="0" u="none" dirty="0">
                <a:solidFill>
                  <a:srgbClr val="2C3E50"/>
                </a:solidFill>
                <a:effectLst>
                  <a:outerShdw blurRad="38100" dist="38100" dir="2700000" algn="tl">
                    <a:srgbClr val="000000">
                      <a:alpha val="43137"/>
                    </a:srgbClr>
                  </a:outerShdw>
                </a:effectLst>
                <a:latin typeface="Open Sans"/>
              </a:rPr>
              <a:t> </a:t>
            </a:r>
            <a:r>
              <a:rPr lang="en-US" sz="2400" dirty="0">
                <a:solidFill>
                  <a:srgbClr val="2C3E50"/>
                </a:solidFill>
                <a:effectLst>
                  <a:outerShdw blurRad="38100" dist="38100" dir="2700000" algn="tl">
                    <a:srgbClr val="000000">
                      <a:alpha val="43137"/>
                    </a:srgbClr>
                  </a:outerShdw>
                </a:effectLst>
                <a:latin typeface="Open Sans"/>
              </a:rPr>
              <a:t>&amp; inference.</a:t>
            </a:r>
            <a:endParaRPr sz="2400" b="0" i="0" u="none" dirty="0">
              <a:solidFill>
                <a:srgbClr val="2C3E50"/>
              </a:solidFill>
              <a:effectLst>
                <a:outerShdw blurRad="38100" dist="38100" dir="2700000" algn="tl">
                  <a:srgbClr val="000000">
                    <a:alpha val="43137"/>
                  </a:srgbClr>
                </a:outerShdw>
              </a:effectLst>
              <a:latin typeface="Open Sans"/>
            </a:endParaRPr>
          </a:p>
        </p:txBody>
      </p:sp>
      <p:pic>
        <p:nvPicPr>
          <p:cNvPr id="11" name="Picture 10" descr="image.png"/>
          <p:cNvPicPr>
            <a:picLocks noChangeAspect="1"/>
          </p:cNvPicPr>
          <p:nvPr/>
        </p:nvPicPr>
        <p:blipFill>
          <a:blip r:embed="rId3"/>
          <a:stretch>
            <a:fillRect/>
          </a:stretch>
        </p:blipFill>
        <p:spPr>
          <a:xfrm>
            <a:off x="571500" y="1851151"/>
            <a:ext cx="228600" cy="247650"/>
          </a:xfrm>
          <a:prstGeom prst="rect">
            <a:avLst/>
          </a:prstGeom>
        </p:spPr>
      </p:pic>
      <p:pic>
        <p:nvPicPr>
          <p:cNvPr id="12" name="Picture 11" descr="image.png"/>
          <p:cNvPicPr>
            <a:picLocks noChangeAspect="1"/>
          </p:cNvPicPr>
          <p:nvPr/>
        </p:nvPicPr>
        <p:blipFill>
          <a:blip r:embed="rId4"/>
          <a:stretch>
            <a:fillRect/>
          </a:stretch>
        </p:blipFill>
        <p:spPr>
          <a:xfrm>
            <a:off x="571500" y="3443623"/>
            <a:ext cx="200025" cy="247650"/>
          </a:xfrm>
          <a:prstGeom prst="rect">
            <a:avLst/>
          </a:prstGeom>
        </p:spPr>
      </p:pic>
      <p:pic>
        <p:nvPicPr>
          <p:cNvPr id="13" name="Picture 12" descr="image.png"/>
          <p:cNvPicPr>
            <a:picLocks noChangeAspect="1"/>
          </p:cNvPicPr>
          <p:nvPr/>
        </p:nvPicPr>
        <p:blipFill>
          <a:blip r:embed="rId5"/>
          <a:stretch>
            <a:fillRect/>
          </a:stretch>
        </p:blipFill>
        <p:spPr>
          <a:xfrm>
            <a:off x="6334125" y="1869114"/>
            <a:ext cx="228600" cy="247650"/>
          </a:xfrm>
          <a:prstGeom prst="rect">
            <a:avLst/>
          </a:prstGeom>
        </p:spPr>
      </p:pic>
      <p:pic>
        <p:nvPicPr>
          <p:cNvPr id="14" name="Picture 13" descr="image.png"/>
          <p:cNvPicPr>
            <a:picLocks noChangeAspect="1"/>
          </p:cNvPicPr>
          <p:nvPr/>
        </p:nvPicPr>
        <p:blipFill>
          <a:blip r:embed="rId6"/>
          <a:stretch>
            <a:fillRect/>
          </a:stretch>
        </p:blipFill>
        <p:spPr>
          <a:xfrm>
            <a:off x="6334125" y="3574562"/>
            <a:ext cx="228600" cy="2476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2171700"/>
            <a:ext cx="3492549" cy="3390900"/>
          </a:xfrm>
          <a:prstGeom prst="rect">
            <a:avLst/>
          </a:prstGeom>
        </p:spPr>
      </p:pic>
      <p:pic>
        <p:nvPicPr>
          <p:cNvPr id="3" name="Picture 2" descr="image.png"/>
          <p:cNvPicPr>
            <a:picLocks noChangeAspect="1"/>
          </p:cNvPicPr>
          <p:nvPr/>
        </p:nvPicPr>
        <p:blipFill>
          <a:blip r:embed="rId3"/>
          <a:stretch>
            <a:fillRect/>
          </a:stretch>
        </p:blipFill>
        <p:spPr>
          <a:xfrm>
            <a:off x="4349799" y="2171700"/>
            <a:ext cx="3492549" cy="3390900"/>
          </a:xfrm>
          <a:prstGeom prst="rect">
            <a:avLst/>
          </a:prstGeom>
        </p:spPr>
      </p:pic>
      <p:pic>
        <p:nvPicPr>
          <p:cNvPr id="4" name="Picture 3" descr="image.png"/>
          <p:cNvPicPr>
            <a:picLocks noChangeAspect="1"/>
          </p:cNvPicPr>
          <p:nvPr/>
        </p:nvPicPr>
        <p:blipFill>
          <a:blip r:embed="rId4"/>
          <a:stretch>
            <a:fillRect/>
          </a:stretch>
        </p:blipFill>
        <p:spPr>
          <a:xfrm>
            <a:off x="8128099" y="2171700"/>
            <a:ext cx="3492549" cy="3390900"/>
          </a:xfrm>
          <a:prstGeom prst="rect">
            <a:avLst/>
          </a:prstGeom>
        </p:spPr>
      </p:pic>
      <p:sp>
        <p:nvSpPr>
          <p:cNvPr id="5" name="Rectangle 4"/>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4375" y="647700"/>
            <a:ext cx="11451431" cy="484748"/>
          </a:xfrm>
          <a:prstGeom prst="rect">
            <a:avLst/>
          </a:prstGeom>
          <a:noFill/>
        </p:spPr>
        <p:txBody>
          <a:bodyPr wrap="square" lIns="0" tIns="0" rIns="0" bIns="0" anchor="t">
            <a:spAutoFit/>
          </a:bodyPr>
          <a:lstStyle/>
          <a:p>
            <a:pPr algn="l"/>
            <a:r>
              <a:rPr sz="3150" b="1" i="0" u="none" dirty="0" err="1">
                <a:solidFill>
                  <a:srgbClr val="0056B3"/>
                </a:solidFill>
                <a:effectLst>
                  <a:outerShdw blurRad="38100" dist="38100" dir="2700000" algn="tl">
                    <a:srgbClr val="000000">
                      <a:alpha val="43137"/>
                    </a:srgbClr>
                  </a:outerShdw>
                </a:effectLst>
                <a:latin typeface="Montserrat"/>
              </a:rPr>
              <a:t>Khả</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năng</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Ứng</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dụng</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Thực</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tiễn</a:t>
            </a:r>
            <a:endParaRPr sz="3150" b="1" i="0" u="none" dirty="0">
              <a:solidFill>
                <a:srgbClr val="0056B3"/>
              </a:solidFill>
              <a:effectLst>
                <a:outerShdw blurRad="38100" dist="38100" dir="2700000" algn="tl">
                  <a:srgbClr val="000000">
                    <a:alpha val="43137"/>
                  </a:srgbClr>
                </a:outerShdw>
              </a:effectLst>
              <a:latin typeface="Montserrat"/>
            </a:endParaRPr>
          </a:p>
        </p:txBody>
      </p:sp>
      <p:sp>
        <p:nvSpPr>
          <p:cNvPr id="8" name="Rectangle 7"/>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5"/>
          <a:stretch>
            <a:fillRect/>
          </a:stretch>
        </p:blipFill>
        <p:spPr>
          <a:xfrm>
            <a:off x="1936700" y="2457450"/>
            <a:ext cx="762000" cy="762000"/>
          </a:xfrm>
          <a:prstGeom prst="rect">
            <a:avLst/>
          </a:prstGeom>
        </p:spPr>
      </p:pic>
      <p:sp>
        <p:nvSpPr>
          <p:cNvPr id="10" name="TextBox 9"/>
          <p:cNvSpPr txBox="1"/>
          <p:nvPr/>
        </p:nvSpPr>
        <p:spPr>
          <a:xfrm>
            <a:off x="1072544" y="3409950"/>
            <a:ext cx="2490311" cy="323850"/>
          </a:xfrm>
          <a:prstGeom prst="rect">
            <a:avLst/>
          </a:prstGeom>
          <a:noFill/>
        </p:spPr>
        <p:txBody>
          <a:bodyPr wrap="square" lIns="0" tIns="0" rIns="0" bIns="0" anchor="t">
            <a:spAutoFit/>
          </a:bodyPr>
          <a:lstStyle/>
          <a:p>
            <a:pPr algn="ctr"/>
            <a:r>
              <a:rPr sz="2100" b="1" i="0" u="none" dirty="0" err="1">
                <a:solidFill>
                  <a:srgbClr val="004494"/>
                </a:solidFill>
                <a:effectLst>
                  <a:outerShdw blurRad="38100" dist="38100" dir="2700000" algn="tl">
                    <a:srgbClr val="000000">
                      <a:alpha val="43137"/>
                    </a:srgbClr>
                  </a:outerShdw>
                </a:effectLst>
                <a:latin typeface="Montserrat"/>
              </a:rPr>
              <a:t>Giám</a:t>
            </a:r>
            <a:r>
              <a:rPr sz="2100" b="1" i="0" u="none" dirty="0">
                <a:solidFill>
                  <a:srgbClr val="004494"/>
                </a:solidFill>
                <a:effectLst>
                  <a:outerShdw blurRad="38100" dist="38100" dir="2700000" algn="tl">
                    <a:srgbClr val="000000">
                      <a:alpha val="43137"/>
                    </a:srgbClr>
                  </a:outerShdw>
                </a:effectLst>
                <a:latin typeface="Montserrat"/>
              </a:rPr>
              <a:t> </a:t>
            </a:r>
            <a:r>
              <a:rPr sz="2100" b="1" i="0" u="none" dirty="0" err="1">
                <a:solidFill>
                  <a:srgbClr val="004494"/>
                </a:solidFill>
                <a:effectLst>
                  <a:outerShdw blurRad="38100" dist="38100" dir="2700000" algn="tl">
                    <a:srgbClr val="000000">
                      <a:alpha val="43137"/>
                    </a:srgbClr>
                  </a:outerShdw>
                </a:effectLst>
                <a:latin typeface="Montserrat"/>
              </a:rPr>
              <a:t>sát</a:t>
            </a:r>
            <a:r>
              <a:rPr sz="2100" b="1" i="0" u="none" dirty="0">
                <a:solidFill>
                  <a:srgbClr val="004494"/>
                </a:solidFill>
                <a:effectLst>
                  <a:outerShdw blurRad="38100" dist="38100" dir="2700000" algn="tl">
                    <a:srgbClr val="000000">
                      <a:alpha val="43137"/>
                    </a:srgbClr>
                  </a:outerShdw>
                </a:effectLst>
                <a:latin typeface="Montserrat"/>
              </a:rPr>
              <a:t> An </a:t>
            </a:r>
            <a:r>
              <a:rPr sz="2100" b="1" i="0" u="none" dirty="0" err="1">
                <a:solidFill>
                  <a:srgbClr val="004494"/>
                </a:solidFill>
                <a:effectLst>
                  <a:outerShdw blurRad="38100" dist="38100" dir="2700000" algn="tl">
                    <a:srgbClr val="000000">
                      <a:alpha val="43137"/>
                    </a:srgbClr>
                  </a:outerShdw>
                </a:effectLst>
                <a:latin typeface="Montserrat"/>
              </a:rPr>
              <a:t>ninh</a:t>
            </a:r>
            <a:endParaRPr sz="2100" b="1" i="0" u="none" dirty="0">
              <a:solidFill>
                <a:srgbClr val="004494"/>
              </a:solidFill>
              <a:effectLst>
                <a:outerShdw blurRad="38100" dist="38100" dir="2700000" algn="tl">
                  <a:srgbClr val="000000">
                    <a:alpha val="43137"/>
                  </a:srgbClr>
                </a:outerShdw>
              </a:effectLst>
              <a:latin typeface="Montserrat"/>
            </a:endParaRPr>
          </a:p>
        </p:txBody>
      </p:sp>
      <p:sp>
        <p:nvSpPr>
          <p:cNvPr id="11" name="TextBox 10"/>
          <p:cNvSpPr txBox="1"/>
          <p:nvPr/>
        </p:nvSpPr>
        <p:spPr>
          <a:xfrm>
            <a:off x="857250" y="3876675"/>
            <a:ext cx="2921049" cy="1219200"/>
          </a:xfrm>
          <a:prstGeom prst="rect">
            <a:avLst/>
          </a:prstGeom>
          <a:noFill/>
        </p:spPr>
        <p:txBody>
          <a:bodyPr wrap="square" lIns="0" tIns="0" rIns="0" bIns="0" anchor="t">
            <a:spAutoFit/>
          </a:bodyPr>
          <a:lstStyle/>
          <a:p>
            <a:pPr algn="ctr">
              <a:lnSpc>
                <a:spcPts val="2400"/>
              </a:lnSpc>
            </a:pPr>
            <a:r>
              <a:rPr sz="1500" b="0" i="0" u="none" dirty="0" err="1">
                <a:solidFill>
                  <a:srgbClr val="2C3E50"/>
                </a:solidFill>
                <a:effectLst>
                  <a:outerShdw blurRad="38100" dist="38100" dir="2700000" algn="tl">
                    <a:srgbClr val="000000">
                      <a:alpha val="43137"/>
                    </a:srgbClr>
                  </a:outerShdw>
                </a:effectLst>
                <a:latin typeface="Open Sans"/>
              </a:rPr>
              <a:t>Phát</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hiện</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xâm</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nhập</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nhận</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diện</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phương</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tiện</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và</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theo</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dõi</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đối</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tượng</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khả</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nghi</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trong</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thời</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gian</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thực</a:t>
            </a:r>
            <a:r>
              <a:rPr sz="1500" b="0" i="0" u="none" dirty="0">
                <a:solidFill>
                  <a:srgbClr val="2C3E50"/>
                </a:solidFill>
                <a:effectLst>
                  <a:outerShdw blurRad="38100" dist="38100" dir="2700000" algn="tl">
                    <a:srgbClr val="000000">
                      <a:alpha val="43137"/>
                    </a:srgbClr>
                  </a:outerShdw>
                </a:effectLst>
                <a:latin typeface="Open Sans"/>
              </a:rPr>
              <a:t>.</a:t>
            </a:r>
          </a:p>
        </p:txBody>
      </p:sp>
      <p:pic>
        <p:nvPicPr>
          <p:cNvPr id="12" name="Picture 11" descr="image.png"/>
          <p:cNvPicPr>
            <a:picLocks noChangeAspect="1"/>
          </p:cNvPicPr>
          <p:nvPr/>
        </p:nvPicPr>
        <p:blipFill>
          <a:blip r:embed="rId6"/>
          <a:stretch>
            <a:fillRect/>
          </a:stretch>
        </p:blipFill>
        <p:spPr>
          <a:xfrm>
            <a:off x="5715000" y="2457450"/>
            <a:ext cx="762000" cy="762000"/>
          </a:xfrm>
          <a:prstGeom prst="rect">
            <a:avLst/>
          </a:prstGeom>
        </p:spPr>
      </p:pic>
      <p:sp>
        <p:nvSpPr>
          <p:cNvPr id="13" name="TextBox 12"/>
          <p:cNvSpPr txBox="1"/>
          <p:nvPr/>
        </p:nvSpPr>
        <p:spPr>
          <a:xfrm>
            <a:off x="4720828" y="3409950"/>
            <a:ext cx="2750343" cy="323850"/>
          </a:xfrm>
          <a:prstGeom prst="rect">
            <a:avLst/>
          </a:prstGeom>
          <a:noFill/>
        </p:spPr>
        <p:txBody>
          <a:bodyPr wrap="square" lIns="0" tIns="0" rIns="0" bIns="0" anchor="t">
            <a:spAutoFit/>
          </a:bodyPr>
          <a:lstStyle/>
          <a:p>
            <a:pPr algn="ctr"/>
            <a:r>
              <a:rPr sz="2100" b="1" i="0" u="none" dirty="0">
                <a:solidFill>
                  <a:srgbClr val="004494"/>
                </a:solidFill>
                <a:effectLst>
                  <a:outerShdw blurRad="38100" dist="38100" dir="2700000" algn="tl">
                    <a:srgbClr val="000000">
                      <a:alpha val="43137"/>
                    </a:srgbClr>
                  </a:outerShdw>
                </a:effectLst>
                <a:latin typeface="Montserrat"/>
              </a:rPr>
              <a:t>Bán </a:t>
            </a:r>
            <a:r>
              <a:rPr sz="2100" b="1" i="0" u="none" dirty="0" err="1">
                <a:solidFill>
                  <a:srgbClr val="004494"/>
                </a:solidFill>
                <a:effectLst>
                  <a:outerShdw blurRad="38100" dist="38100" dir="2700000" algn="tl">
                    <a:srgbClr val="000000">
                      <a:alpha val="43137"/>
                    </a:srgbClr>
                  </a:outerShdw>
                </a:effectLst>
                <a:latin typeface="Montserrat"/>
              </a:rPr>
              <a:t>lẻ</a:t>
            </a:r>
            <a:r>
              <a:rPr sz="2100" b="1" i="0" u="none" dirty="0">
                <a:solidFill>
                  <a:srgbClr val="004494"/>
                </a:solidFill>
                <a:effectLst>
                  <a:outerShdw blurRad="38100" dist="38100" dir="2700000" algn="tl">
                    <a:srgbClr val="000000">
                      <a:alpha val="43137"/>
                    </a:srgbClr>
                  </a:outerShdw>
                </a:effectLst>
                <a:latin typeface="Montserrat"/>
              </a:rPr>
              <a:t> Thông </a:t>
            </a:r>
            <a:r>
              <a:rPr sz="2100" b="1" i="0" u="none" dirty="0" err="1">
                <a:solidFill>
                  <a:srgbClr val="004494"/>
                </a:solidFill>
                <a:effectLst>
                  <a:outerShdw blurRad="38100" dist="38100" dir="2700000" algn="tl">
                    <a:srgbClr val="000000">
                      <a:alpha val="43137"/>
                    </a:srgbClr>
                  </a:outerShdw>
                </a:effectLst>
                <a:latin typeface="Montserrat"/>
              </a:rPr>
              <a:t>minh</a:t>
            </a:r>
            <a:endParaRPr sz="2100" b="1" i="0" u="none" dirty="0">
              <a:solidFill>
                <a:srgbClr val="004494"/>
              </a:solidFill>
              <a:effectLst>
                <a:outerShdw blurRad="38100" dist="38100" dir="2700000" algn="tl">
                  <a:srgbClr val="000000">
                    <a:alpha val="43137"/>
                  </a:srgbClr>
                </a:outerShdw>
              </a:effectLst>
              <a:latin typeface="Montserrat"/>
            </a:endParaRPr>
          </a:p>
        </p:txBody>
      </p:sp>
      <p:sp>
        <p:nvSpPr>
          <p:cNvPr id="14" name="TextBox 13"/>
          <p:cNvSpPr txBox="1"/>
          <p:nvPr/>
        </p:nvSpPr>
        <p:spPr>
          <a:xfrm>
            <a:off x="4635549" y="3876675"/>
            <a:ext cx="2921049" cy="914400"/>
          </a:xfrm>
          <a:prstGeom prst="rect">
            <a:avLst/>
          </a:prstGeom>
          <a:noFill/>
        </p:spPr>
        <p:txBody>
          <a:bodyPr wrap="square" lIns="0" tIns="0" rIns="0" bIns="0" anchor="t">
            <a:spAutoFit/>
          </a:bodyPr>
          <a:lstStyle/>
          <a:p>
            <a:pPr algn="ctr">
              <a:lnSpc>
                <a:spcPts val="2400"/>
              </a:lnSpc>
            </a:pPr>
            <a:r>
              <a:rPr sz="1500" b="0" i="0" u="none" dirty="0" err="1">
                <a:solidFill>
                  <a:srgbClr val="2C3E50"/>
                </a:solidFill>
                <a:effectLst>
                  <a:outerShdw blurRad="38100" dist="38100" dir="2700000" algn="tl">
                    <a:srgbClr val="000000">
                      <a:alpha val="43137"/>
                    </a:srgbClr>
                  </a:outerShdw>
                </a:effectLst>
                <a:latin typeface="Open Sans"/>
              </a:rPr>
              <a:t>Đếm</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số</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lượng</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khách</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hàng</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phân</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tích</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hành</a:t>
            </a:r>
            <a:r>
              <a:rPr sz="1500" b="0" i="0" u="none" dirty="0">
                <a:solidFill>
                  <a:srgbClr val="2C3E50"/>
                </a:solidFill>
                <a:effectLst>
                  <a:outerShdw blurRad="38100" dist="38100" dir="2700000" algn="tl">
                    <a:srgbClr val="000000">
                      <a:alpha val="43137"/>
                    </a:srgbClr>
                  </a:outerShdw>
                </a:effectLst>
                <a:latin typeface="Open Sans"/>
              </a:rPr>
              <a:t> vi </a:t>
            </a:r>
            <a:r>
              <a:rPr sz="1500" b="0" i="0" u="none" dirty="0" err="1">
                <a:solidFill>
                  <a:srgbClr val="2C3E50"/>
                </a:solidFill>
                <a:effectLst>
                  <a:outerShdw blurRad="38100" dist="38100" dir="2700000" algn="tl">
                    <a:srgbClr val="000000">
                      <a:alpha val="43137"/>
                    </a:srgbClr>
                  </a:outerShdw>
                </a:effectLst>
                <a:latin typeface="Open Sans"/>
              </a:rPr>
              <a:t>mua</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sắm</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và</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kiểm</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tra</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tình</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trạng</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hàng</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hóa</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trên</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kệ</a:t>
            </a:r>
            <a:r>
              <a:rPr sz="1500" b="0" i="0" u="none" dirty="0">
                <a:solidFill>
                  <a:srgbClr val="2C3E50"/>
                </a:solidFill>
                <a:effectLst>
                  <a:outerShdw blurRad="38100" dist="38100" dir="2700000" algn="tl">
                    <a:srgbClr val="000000">
                      <a:alpha val="43137"/>
                    </a:srgbClr>
                  </a:outerShdw>
                </a:effectLst>
                <a:latin typeface="Open Sans"/>
              </a:rPr>
              <a:t>.</a:t>
            </a:r>
          </a:p>
        </p:txBody>
      </p:sp>
      <p:pic>
        <p:nvPicPr>
          <p:cNvPr id="15" name="Picture 14" descr="image.png"/>
          <p:cNvPicPr>
            <a:picLocks noChangeAspect="1"/>
          </p:cNvPicPr>
          <p:nvPr/>
        </p:nvPicPr>
        <p:blipFill>
          <a:blip r:embed="rId7"/>
          <a:stretch>
            <a:fillRect/>
          </a:stretch>
        </p:blipFill>
        <p:spPr>
          <a:xfrm>
            <a:off x="9493299" y="2457450"/>
            <a:ext cx="762000" cy="762000"/>
          </a:xfrm>
          <a:prstGeom prst="rect">
            <a:avLst/>
          </a:prstGeom>
        </p:spPr>
      </p:pic>
      <p:sp>
        <p:nvSpPr>
          <p:cNvPr id="16" name="TextBox 15"/>
          <p:cNvSpPr txBox="1"/>
          <p:nvPr/>
        </p:nvSpPr>
        <p:spPr>
          <a:xfrm>
            <a:off x="8964185" y="3409950"/>
            <a:ext cx="1820227" cy="323850"/>
          </a:xfrm>
          <a:prstGeom prst="rect">
            <a:avLst/>
          </a:prstGeom>
          <a:noFill/>
        </p:spPr>
        <p:txBody>
          <a:bodyPr wrap="square" lIns="0" tIns="0" rIns="0" bIns="0" anchor="t">
            <a:spAutoFit/>
          </a:bodyPr>
          <a:lstStyle/>
          <a:p>
            <a:pPr algn="ctr"/>
            <a:r>
              <a:rPr sz="2100" b="1" i="0" u="none" dirty="0" err="1">
                <a:solidFill>
                  <a:srgbClr val="004494"/>
                </a:solidFill>
                <a:effectLst>
                  <a:outerShdw blurRad="38100" dist="38100" dir="2700000" algn="tl">
                    <a:srgbClr val="000000">
                      <a:alpha val="43137"/>
                    </a:srgbClr>
                  </a:outerShdw>
                </a:effectLst>
                <a:latin typeface="Montserrat"/>
              </a:rPr>
              <a:t>Tự</a:t>
            </a:r>
            <a:r>
              <a:rPr sz="2100" b="1" i="0" u="none" dirty="0">
                <a:solidFill>
                  <a:srgbClr val="004494"/>
                </a:solidFill>
                <a:effectLst>
                  <a:outerShdw blurRad="38100" dist="38100" dir="2700000" algn="tl">
                    <a:srgbClr val="000000">
                      <a:alpha val="43137"/>
                    </a:srgbClr>
                  </a:outerShdw>
                </a:effectLst>
                <a:latin typeface="Montserrat"/>
              </a:rPr>
              <a:t> </a:t>
            </a:r>
            <a:r>
              <a:rPr sz="2100" b="1" i="0" u="none" dirty="0" err="1">
                <a:solidFill>
                  <a:srgbClr val="004494"/>
                </a:solidFill>
                <a:effectLst>
                  <a:outerShdw blurRad="38100" dist="38100" dir="2700000" algn="tl">
                    <a:srgbClr val="000000">
                      <a:alpha val="43137"/>
                    </a:srgbClr>
                  </a:outerShdw>
                </a:effectLst>
                <a:latin typeface="Montserrat"/>
              </a:rPr>
              <a:t>động</a:t>
            </a:r>
            <a:r>
              <a:rPr sz="2100" b="1" i="0" u="none" dirty="0">
                <a:solidFill>
                  <a:srgbClr val="004494"/>
                </a:solidFill>
                <a:effectLst>
                  <a:outerShdw blurRad="38100" dist="38100" dir="2700000" algn="tl">
                    <a:srgbClr val="000000">
                      <a:alpha val="43137"/>
                    </a:srgbClr>
                  </a:outerShdw>
                </a:effectLst>
                <a:latin typeface="Montserrat"/>
              </a:rPr>
              <a:t> </a:t>
            </a:r>
            <a:r>
              <a:rPr sz="2100" b="1" i="0" u="none" dirty="0" err="1">
                <a:solidFill>
                  <a:srgbClr val="004494"/>
                </a:solidFill>
                <a:effectLst>
                  <a:outerShdw blurRad="38100" dist="38100" dir="2700000" algn="tl">
                    <a:srgbClr val="000000">
                      <a:alpha val="43137"/>
                    </a:srgbClr>
                  </a:outerShdw>
                </a:effectLst>
                <a:latin typeface="Montserrat"/>
              </a:rPr>
              <a:t>hóa</a:t>
            </a:r>
            <a:endParaRPr sz="2100" b="1" i="0" u="none" dirty="0">
              <a:solidFill>
                <a:srgbClr val="004494"/>
              </a:solidFill>
              <a:effectLst>
                <a:outerShdw blurRad="38100" dist="38100" dir="2700000" algn="tl">
                  <a:srgbClr val="000000">
                    <a:alpha val="43137"/>
                  </a:srgbClr>
                </a:outerShdw>
              </a:effectLst>
              <a:latin typeface="Montserrat"/>
            </a:endParaRPr>
          </a:p>
        </p:txBody>
      </p:sp>
      <p:sp>
        <p:nvSpPr>
          <p:cNvPr id="17" name="TextBox 16"/>
          <p:cNvSpPr txBox="1"/>
          <p:nvPr/>
        </p:nvSpPr>
        <p:spPr>
          <a:xfrm>
            <a:off x="8413849" y="3876675"/>
            <a:ext cx="2921049" cy="914400"/>
          </a:xfrm>
          <a:prstGeom prst="rect">
            <a:avLst/>
          </a:prstGeom>
          <a:noFill/>
        </p:spPr>
        <p:txBody>
          <a:bodyPr wrap="square" lIns="0" tIns="0" rIns="0" bIns="0" anchor="t">
            <a:spAutoFit/>
          </a:bodyPr>
          <a:lstStyle/>
          <a:p>
            <a:pPr algn="ctr">
              <a:lnSpc>
                <a:spcPts val="2400"/>
              </a:lnSpc>
            </a:pPr>
            <a:r>
              <a:rPr sz="1500" b="0" i="0" u="none" dirty="0" err="1">
                <a:solidFill>
                  <a:srgbClr val="2C3E50"/>
                </a:solidFill>
                <a:effectLst>
                  <a:outerShdw blurRad="38100" dist="38100" dir="2700000" algn="tl">
                    <a:srgbClr val="000000">
                      <a:alpha val="43137"/>
                    </a:srgbClr>
                  </a:outerShdw>
                </a:effectLst>
                <a:latin typeface="Open Sans"/>
              </a:rPr>
              <a:t>Kiểm</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tra</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chất</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lượng</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sản</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phẩm</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trên</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dây</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chuyền</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phân</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loại</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hàng</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hóa</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tại</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các</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kho</a:t>
            </a:r>
            <a:r>
              <a:rPr sz="1500" b="0" i="0" u="none" dirty="0">
                <a:solidFill>
                  <a:srgbClr val="2C3E50"/>
                </a:solidFill>
                <a:effectLst>
                  <a:outerShdw blurRad="38100" dist="38100" dir="2700000" algn="tl">
                    <a:srgbClr val="000000">
                      <a:alpha val="43137"/>
                    </a:srgbClr>
                  </a:outerShdw>
                </a:effectLst>
                <a:latin typeface="Open Sans"/>
              </a:rPr>
              <a:t> </a:t>
            </a:r>
            <a:r>
              <a:rPr sz="1500" b="0" i="0" u="none" dirty="0" err="1">
                <a:solidFill>
                  <a:srgbClr val="2C3E50"/>
                </a:solidFill>
                <a:effectLst>
                  <a:outerShdw blurRad="38100" dist="38100" dir="2700000" algn="tl">
                    <a:srgbClr val="000000">
                      <a:alpha val="43137"/>
                    </a:srgbClr>
                  </a:outerShdw>
                </a:effectLst>
                <a:latin typeface="Open Sans"/>
              </a:rPr>
              <a:t>bãi</a:t>
            </a:r>
            <a:r>
              <a:rPr sz="1500" b="0" i="0" u="none" dirty="0">
                <a:solidFill>
                  <a:srgbClr val="2C3E50"/>
                </a:solidFill>
                <a:effectLst>
                  <a:outerShdw blurRad="38100" dist="38100" dir="2700000" algn="tl">
                    <a:srgbClr val="000000">
                      <a:alpha val="43137"/>
                    </a:srgbClr>
                  </a:outerShdw>
                </a:effectLst>
                <a:latin typeface="Open Sans"/>
              </a:rPr>
              <a:t> logistic.</a:t>
            </a:r>
          </a:p>
        </p:txBody>
      </p:sp>
      <p:pic>
        <p:nvPicPr>
          <p:cNvPr id="18" name="Picture 17" descr="image.png"/>
          <p:cNvPicPr>
            <a:picLocks noChangeAspect="1"/>
          </p:cNvPicPr>
          <p:nvPr/>
        </p:nvPicPr>
        <p:blipFill>
          <a:blip r:embed="rId8"/>
          <a:stretch>
            <a:fillRect/>
          </a:stretch>
        </p:blipFill>
        <p:spPr>
          <a:xfrm>
            <a:off x="2122437" y="2667000"/>
            <a:ext cx="390525" cy="342900"/>
          </a:xfrm>
          <a:prstGeom prst="rect">
            <a:avLst/>
          </a:prstGeom>
        </p:spPr>
      </p:pic>
      <p:pic>
        <p:nvPicPr>
          <p:cNvPr id="19" name="Picture 18" descr="image.png"/>
          <p:cNvPicPr>
            <a:picLocks noChangeAspect="1"/>
          </p:cNvPicPr>
          <p:nvPr/>
        </p:nvPicPr>
        <p:blipFill>
          <a:blip r:embed="rId9"/>
          <a:stretch>
            <a:fillRect/>
          </a:stretch>
        </p:blipFill>
        <p:spPr>
          <a:xfrm>
            <a:off x="5881687" y="2667000"/>
            <a:ext cx="428625" cy="342900"/>
          </a:xfrm>
          <a:prstGeom prst="rect">
            <a:avLst/>
          </a:prstGeom>
        </p:spPr>
      </p:pic>
      <p:pic>
        <p:nvPicPr>
          <p:cNvPr id="20" name="Picture 19" descr="image.png"/>
          <p:cNvPicPr>
            <a:picLocks noChangeAspect="1"/>
          </p:cNvPicPr>
          <p:nvPr/>
        </p:nvPicPr>
        <p:blipFill>
          <a:blip r:embed="rId10"/>
          <a:stretch>
            <a:fillRect/>
          </a:stretch>
        </p:blipFill>
        <p:spPr>
          <a:xfrm>
            <a:off x="9679037" y="2667000"/>
            <a:ext cx="390525" cy="3429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2DE6E-D5F3-C518-E406-2B828260F0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9CAB962-4C6B-FA4F-78EA-48CF15F3166A}"/>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4E009600-6BDF-D42A-A65C-6ABAF9A28CA8}"/>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12A4B17-68C4-2CF7-3D12-8E622D92626F}"/>
              </a:ext>
            </a:extLst>
          </p:cNvPr>
          <p:cNvSpPr txBox="1"/>
          <p:nvPr/>
        </p:nvSpPr>
        <p:spPr>
          <a:xfrm>
            <a:off x="2357373" y="2646016"/>
            <a:ext cx="7170896" cy="738664"/>
          </a:xfrm>
          <a:prstGeom prst="rect">
            <a:avLst/>
          </a:prstGeom>
          <a:noFill/>
        </p:spPr>
        <p:txBody>
          <a:bodyPr wrap="square" lIns="0" tIns="0" rIns="0" bIns="0" anchor="t">
            <a:spAutoFit/>
          </a:bodyPr>
          <a:lstStyle/>
          <a:p>
            <a:pPr algn="ctr"/>
            <a:r>
              <a:rPr lang="en-US" sz="4800" b="1" dirty="0" err="1">
                <a:solidFill>
                  <a:srgbClr val="0056B3"/>
                </a:solidFill>
                <a:effectLst>
                  <a:outerShdw blurRad="38100" dist="38100" dir="2700000" algn="tl">
                    <a:srgbClr val="000000">
                      <a:alpha val="43137"/>
                    </a:srgbClr>
                  </a:outerShdw>
                </a:effectLst>
                <a:latin typeface="Montserrat"/>
              </a:rPr>
              <a:t>Giới</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thiệu</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công</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nghệ</a:t>
            </a:r>
            <a:endParaRPr lang="en-US" sz="4800" b="1" dirty="0">
              <a:solidFill>
                <a:srgbClr val="0056B3"/>
              </a:solidFill>
              <a:effectLst>
                <a:outerShdw blurRad="38100" dist="38100" dir="2700000" algn="tl">
                  <a:srgbClr val="000000">
                    <a:alpha val="43137"/>
                  </a:srgbClr>
                </a:outerShdw>
              </a:effectLst>
              <a:latin typeface="Montserrat"/>
            </a:endParaRPr>
          </a:p>
        </p:txBody>
      </p:sp>
      <p:sp>
        <p:nvSpPr>
          <p:cNvPr id="5" name="Rectangle 4">
            <a:extLst>
              <a:ext uri="{FF2B5EF4-FFF2-40B4-BE49-F238E27FC236}">
                <a16:creationId xmlns:a16="http://schemas.microsoft.com/office/drawing/2014/main" id="{49723B32-934D-CE00-2E56-43C2F54ED7B5}"/>
              </a:ext>
            </a:extLst>
          </p:cNvPr>
          <p:cNvSpPr/>
          <p:nvPr/>
        </p:nvSpPr>
        <p:spPr>
          <a:xfrm>
            <a:off x="5524500" y="3517552"/>
            <a:ext cx="1143000" cy="5715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000321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1866900"/>
            <a:ext cx="3492549" cy="4000500"/>
          </a:xfrm>
          <a:prstGeom prst="rect">
            <a:avLst/>
          </a:prstGeom>
        </p:spPr>
      </p:pic>
      <p:pic>
        <p:nvPicPr>
          <p:cNvPr id="3" name="Picture 2" descr="image.png"/>
          <p:cNvPicPr>
            <a:picLocks noChangeAspect="1"/>
          </p:cNvPicPr>
          <p:nvPr/>
        </p:nvPicPr>
        <p:blipFill>
          <a:blip r:embed="rId3"/>
          <a:stretch>
            <a:fillRect/>
          </a:stretch>
        </p:blipFill>
        <p:spPr>
          <a:xfrm>
            <a:off x="4349799" y="1866900"/>
            <a:ext cx="3492549" cy="4000500"/>
          </a:xfrm>
          <a:prstGeom prst="rect">
            <a:avLst/>
          </a:prstGeom>
        </p:spPr>
      </p:pic>
      <p:pic>
        <p:nvPicPr>
          <p:cNvPr id="4" name="Picture 3" descr="image.png"/>
          <p:cNvPicPr>
            <a:picLocks noChangeAspect="1"/>
          </p:cNvPicPr>
          <p:nvPr/>
        </p:nvPicPr>
        <p:blipFill>
          <a:blip r:embed="rId4"/>
          <a:stretch>
            <a:fillRect/>
          </a:stretch>
        </p:blipFill>
        <p:spPr>
          <a:xfrm>
            <a:off x="8128099" y="1866900"/>
            <a:ext cx="3492549" cy="4000500"/>
          </a:xfrm>
          <a:prstGeom prst="rect">
            <a:avLst/>
          </a:prstGeom>
        </p:spPr>
      </p:pic>
      <p:sp>
        <p:nvSpPr>
          <p:cNvPr id="5" name="Rectangle 4"/>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4375" y="647700"/>
            <a:ext cx="11451431" cy="495300"/>
          </a:xfrm>
          <a:prstGeom prst="rect">
            <a:avLst/>
          </a:prstGeom>
          <a:noFill/>
        </p:spPr>
        <p:txBody>
          <a:bodyPr wrap="square" lIns="0" tIns="0" rIns="0" bIns="0" anchor="t">
            <a:spAutoFit/>
          </a:bodyPr>
          <a:lstStyle/>
          <a:p>
            <a:pPr algn="l"/>
            <a:r>
              <a:rPr lang="en-US" sz="3150" b="1" i="0" u="none" dirty="0" err="1">
                <a:solidFill>
                  <a:srgbClr val="0056B3"/>
                </a:solidFill>
                <a:effectLst>
                  <a:outerShdw blurRad="38100" dist="38100" dir="2700000" algn="tl">
                    <a:srgbClr val="000000">
                      <a:alpha val="43137"/>
                    </a:srgbClr>
                  </a:outerShdw>
                </a:effectLst>
                <a:latin typeface="Montserrat"/>
              </a:rPr>
              <a:t>Giới</a:t>
            </a:r>
            <a:r>
              <a:rPr lang="en-US" sz="3150" b="1" i="0" u="none" dirty="0">
                <a:solidFill>
                  <a:srgbClr val="0056B3"/>
                </a:solidFill>
                <a:effectLst>
                  <a:outerShdw blurRad="38100" dist="38100" dir="2700000" algn="tl">
                    <a:srgbClr val="000000">
                      <a:alpha val="43137"/>
                    </a:srgbClr>
                  </a:outerShdw>
                </a:effectLst>
                <a:latin typeface="Montserrat"/>
              </a:rPr>
              <a:t> </a:t>
            </a:r>
            <a:r>
              <a:rPr lang="en-US" sz="3150" b="1" i="0" u="none" dirty="0" err="1">
                <a:solidFill>
                  <a:srgbClr val="0056B3"/>
                </a:solidFill>
                <a:effectLst>
                  <a:outerShdw blurRad="38100" dist="38100" dir="2700000" algn="tl">
                    <a:srgbClr val="000000">
                      <a:alpha val="43137"/>
                    </a:srgbClr>
                  </a:outerShdw>
                </a:effectLst>
                <a:latin typeface="Montserrat"/>
              </a:rPr>
              <a:t>thiệu</a:t>
            </a:r>
            <a:r>
              <a:rPr lang="en-US" sz="3150" b="1" i="0" u="none" dirty="0">
                <a:solidFill>
                  <a:srgbClr val="0056B3"/>
                </a:solidFill>
                <a:effectLst>
                  <a:outerShdw blurRad="38100" dist="38100" dir="2700000" algn="tl">
                    <a:srgbClr val="000000">
                      <a:alpha val="43137"/>
                    </a:srgbClr>
                  </a:outerShdw>
                </a:effectLst>
                <a:latin typeface="Montserrat"/>
              </a:rPr>
              <a:t> </a:t>
            </a:r>
            <a:r>
              <a:rPr lang="en-US" sz="3150" b="1" i="0" u="none" dirty="0" err="1">
                <a:solidFill>
                  <a:srgbClr val="0056B3"/>
                </a:solidFill>
                <a:effectLst>
                  <a:outerShdw blurRad="38100" dist="38100" dir="2700000" algn="tl">
                    <a:srgbClr val="000000">
                      <a:alpha val="43137"/>
                    </a:srgbClr>
                  </a:outerShdw>
                </a:effectLst>
                <a:latin typeface="Montserrat"/>
              </a:rPr>
              <a:t>công</a:t>
            </a:r>
            <a:r>
              <a:rPr lang="en-US" sz="3150" b="1" i="0" u="none" dirty="0">
                <a:solidFill>
                  <a:srgbClr val="0056B3"/>
                </a:solidFill>
                <a:effectLst>
                  <a:outerShdw blurRad="38100" dist="38100" dir="2700000" algn="tl">
                    <a:srgbClr val="000000">
                      <a:alpha val="43137"/>
                    </a:srgbClr>
                  </a:outerShdw>
                </a:effectLst>
                <a:latin typeface="Montserrat"/>
              </a:rPr>
              <a:t> </a:t>
            </a:r>
            <a:r>
              <a:rPr lang="en-US" sz="3150" b="1" i="0" u="none" dirty="0" err="1">
                <a:solidFill>
                  <a:srgbClr val="0056B3"/>
                </a:solidFill>
                <a:effectLst>
                  <a:outerShdw blurRad="38100" dist="38100" dir="2700000" algn="tl">
                    <a:srgbClr val="000000">
                      <a:alpha val="43137"/>
                    </a:srgbClr>
                  </a:outerShdw>
                </a:effectLst>
                <a:latin typeface="Montserrat"/>
              </a:rPr>
              <a:t>nghệ</a:t>
            </a:r>
            <a:endParaRPr sz="3150" b="1" i="0" u="none" dirty="0">
              <a:solidFill>
                <a:srgbClr val="0056B3"/>
              </a:solidFill>
              <a:effectLst>
                <a:outerShdw blurRad="38100" dist="38100" dir="2700000" algn="tl">
                  <a:srgbClr val="000000">
                    <a:alpha val="43137"/>
                  </a:srgbClr>
                </a:outerShdw>
              </a:effectLst>
              <a:latin typeface="Montserrat"/>
            </a:endParaRPr>
          </a:p>
        </p:txBody>
      </p:sp>
      <p:sp>
        <p:nvSpPr>
          <p:cNvPr id="8" name="Rectangle 7"/>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5"/>
          <a:stretch>
            <a:fillRect/>
          </a:stretch>
        </p:blipFill>
        <p:spPr>
          <a:xfrm>
            <a:off x="1936700" y="2152650"/>
            <a:ext cx="762000" cy="762000"/>
          </a:xfrm>
          <a:prstGeom prst="rect">
            <a:avLst/>
          </a:prstGeom>
        </p:spPr>
      </p:pic>
      <p:sp>
        <p:nvSpPr>
          <p:cNvPr id="10" name="TextBox 9"/>
          <p:cNvSpPr txBox="1"/>
          <p:nvPr/>
        </p:nvSpPr>
        <p:spPr>
          <a:xfrm>
            <a:off x="571352" y="3105150"/>
            <a:ext cx="3435399" cy="369332"/>
          </a:xfrm>
          <a:prstGeom prst="rect">
            <a:avLst/>
          </a:prstGeom>
          <a:noFill/>
        </p:spPr>
        <p:txBody>
          <a:bodyPr wrap="square" lIns="0" tIns="0" rIns="0" bIns="0" anchor="t">
            <a:spAutoFit/>
          </a:bodyPr>
          <a:lstStyle/>
          <a:p>
            <a:pPr algn="ctr"/>
            <a:r>
              <a:rPr sz="2400" b="1" i="0" u="none" dirty="0" err="1">
                <a:solidFill>
                  <a:srgbClr val="004494"/>
                </a:solidFill>
                <a:effectLst>
                  <a:outerShdw blurRad="38100" dist="38100" dir="2700000" algn="tl">
                    <a:srgbClr val="000000">
                      <a:alpha val="43137"/>
                    </a:srgbClr>
                  </a:outerShdw>
                </a:effectLst>
                <a:latin typeface="Montserrat"/>
              </a:rPr>
              <a:t>Hạ</a:t>
            </a:r>
            <a:r>
              <a:rPr sz="2400" b="1" i="0" u="none" dirty="0">
                <a:solidFill>
                  <a:srgbClr val="004494"/>
                </a:solidFill>
                <a:effectLst>
                  <a:outerShdw blurRad="38100" dist="38100" dir="2700000" algn="tl">
                    <a:srgbClr val="000000">
                      <a:alpha val="43137"/>
                    </a:srgbClr>
                  </a:outerShdw>
                </a:effectLst>
                <a:latin typeface="Montserrat"/>
              </a:rPr>
              <a:t> </a:t>
            </a:r>
            <a:r>
              <a:rPr sz="2400" b="1" i="0" u="none" dirty="0" err="1">
                <a:solidFill>
                  <a:srgbClr val="004494"/>
                </a:solidFill>
                <a:effectLst>
                  <a:outerShdw blurRad="38100" dist="38100" dir="2700000" algn="tl">
                    <a:srgbClr val="000000">
                      <a:alpha val="43137"/>
                    </a:srgbClr>
                  </a:outerShdw>
                </a:effectLst>
                <a:latin typeface="Montserrat"/>
              </a:rPr>
              <a:t>tầng</a:t>
            </a:r>
            <a:r>
              <a:rPr sz="2400" b="1" i="0" u="none" dirty="0">
                <a:solidFill>
                  <a:srgbClr val="004494"/>
                </a:solidFill>
                <a:effectLst>
                  <a:outerShdw blurRad="38100" dist="38100" dir="2700000" algn="tl">
                    <a:srgbClr val="000000">
                      <a:alpha val="43137"/>
                    </a:srgbClr>
                  </a:outerShdw>
                </a:effectLst>
                <a:latin typeface="Montserrat"/>
              </a:rPr>
              <a:t> </a:t>
            </a:r>
            <a:r>
              <a:rPr lang="en-US" sz="2400" b="1" i="0" u="none" dirty="0">
                <a:solidFill>
                  <a:srgbClr val="004494"/>
                </a:solidFill>
                <a:effectLst>
                  <a:outerShdw blurRad="38100" dist="38100" dir="2700000" algn="tl">
                    <a:srgbClr val="000000">
                      <a:alpha val="43137"/>
                    </a:srgbClr>
                  </a:outerShdw>
                </a:effectLst>
                <a:latin typeface="Montserrat"/>
              </a:rPr>
              <a:t>Cloud</a:t>
            </a:r>
            <a:endParaRPr sz="2400" b="1" i="0" u="none" dirty="0">
              <a:solidFill>
                <a:srgbClr val="004494"/>
              </a:solidFill>
              <a:effectLst>
                <a:outerShdw blurRad="38100" dist="38100" dir="2700000" algn="tl">
                  <a:srgbClr val="000000">
                    <a:alpha val="43137"/>
                  </a:srgbClr>
                </a:outerShdw>
              </a:effectLst>
              <a:latin typeface="Montserrat"/>
            </a:endParaRPr>
          </a:p>
        </p:txBody>
      </p:sp>
      <p:sp>
        <p:nvSpPr>
          <p:cNvPr id="11" name="TextBox 10"/>
          <p:cNvSpPr txBox="1"/>
          <p:nvPr/>
        </p:nvSpPr>
        <p:spPr>
          <a:xfrm>
            <a:off x="857250" y="3571875"/>
            <a:ext cx="2921049" cy="2083712"/>
          </a:xfrm>
          <a:prstGeom prst="rect">
            <a:avLst/>
          </a:prstGeom>
          <a:noFill/>
        </p:spPr>
        <p:txBody>
          <a:bodyPr wrap="square" lIns="0" tIns="0" rIns="0" bIns="0" anchor="t">
            <a:spAutoFit/>
          </a:bodyPr>
          <a:lstStyle/>
          <a:p>
            <a:pPr algn="ctr">
              <a:lnSpc>
                <a:spcPct val="114000"/>
              </a:lnSpc>
            </a:pPr>
            <a:r>
              <a:rPr sz="2000" b="1" i="0" u="none" dirty="0">
                <a:solidFill>
                  <a:srgbClr val="2C3E50"/>
                </a:solidFill>
                <a:effectLst>
                  <a:outerShdw blurRad="38100" dist="38100" dir="2700000" algn="tl">
                    <a:srgbClr val="000000">
                      <a:alpha val="43137"/>
                    </a:srgbClr>
                  </a:outerShdw>
                </a:effectLst>
                <a:latin typeface="Open Sans"/>
              </a:rPr>
              <a:t>Google </a:t>
            </a:r>
            <a:r>
              <a:rPr sz="2000" b="1" i="0" u="none" dirty="0" err="1">
                <a:solidFill>
                  <a:srgbClr val="2C3E50"/>
                </a:solidFill>
                <a:effectLst>
                  <a:outerShdw blurRad="38100" dist="38100" dir="2700000" algn="tl">
                    <a:srgbClr val="000000">
                      <a:alpha val="43137"/>
                    </a:srgbClr>
                  </a:outerShdw>
                </a:effectLst>
                <a:latin typeface="Open Sans"/>
              </a:rPr>
              <a:t>Colab</a:t>
            </a:r>
            <a:r>
              <a:rPr sz="2000" b="1" i="0" u="none" dirty="0">
                <a:solidFill>
                  <a:srgbClr val="2C3E50"/>
                </a:solidFill>
                <a:effectLst>
                  <a:outerShdw blurRad="38100" dist="38100" dir="2700000" algn="tl">
                    <a:srgbClr val="000000">
                      <a:alpha val="43137"/>
                    </a:srgbClr>
                  </a:outerShdw>
                </a:effectLst>
                <a:latin typeface="Open Sans"/>
              </a:rPr>
              <a:t>:</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Môi</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trường</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thực</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thi</a:t>
            </a:r>
            <a:r>
              <a:rPr sz="2000" b="0" i="0" u="none" dirty="0">
                <a:solidFill>
                  <a:srgbClr val="2C3E50"/>
                </a:solidFill>
                <a:effectLst>
                  <a:outerShdw blurRad="38100" dist="38100" dir="2700000" algn="tl">
                    <a:srgbClr val="000000">
                      <a:alpha val="43137"/>
                    </a:srgbClr>
                  </a:outerShdw>
                </a:effectLst>
                <a:latin typeface="Open Sans"/>
              </a:rPr>
              <a:t> </a:t>
            </a:r>
            <a:r>
              <a:rPr lang="en-US" sz="2000" b="0" i="0" u="none" dirty="0">
                <a:solidFill>
                  <a:srgbClr val="2C3E50"/>
                </a:solidFill>
                <a:effectLst>
                  <a:outerShdw blurRad="38100" dist="38100" dir="2700000" algn="tl">
                    <a:srgbClr val="000000">
                      <a:alpha val="43137"/>
                    </a:srgbClr>
                  </a:outerShdw>
                </a:effectLst>
                <a:latin typeface="Open Sans"/>
              </a:rPr>
              <a:t>&amp;</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cung</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cấp</a:t>
            </a:r>
            <a:r>
              <a:rPr sz="2000" b="0" i="0" u="none" dirty="0">
                <a:solidFill>
                  <a:srgbClr val="2C3E50"/>
                </a:solidFill>
                <a:effectLst>
                  <a:outerShdw blurRad="38100" dist="38100" dir="2700000" algn="tl">
                    <a:srgbClr val="000000">
                      <a:alpha val="43137"/>
                    </a:srgbClr>
                  </a:outerShdw>
                </a:effectLst>
                <a:latin typeface="Open Sans"/>
              </a:rPr>
              <a:t> GPU </a:t>
            </a:r>
            <a:r>
              <a:rPr sz="2000" b="0" i="0" u="none" dirty="0" err="1">
                <a:solidFill>
                  <a:srgbClr val="2C3E50"/>
                </a:solidFill>
                <a:effectLst>
                  <a:outerShdw blurRad="38100" dist="38100" dir="2700000" algn="tl">
                    <a:srgbClr val="000000">
                      <a:alpha val="43137"/>
                    </a:srgbClr>
                  </a:outerShdw>
                </a:effectLst>
                <a:latin typeface="Open Sans"/>
              </a:rPr>
              <a:t>miễn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phí</a:t>
            </a:r>
            <a:r>
              <a:rPr sz="2000" b="0" i="0" u="none" dirty="0">
                <a:solidFill>
                  <a:srgbClr val="2C3E50"/>
                </a:solidFill>
                <a:effectLst>
                  <a:outerShdw blurRad="38100" dist="38100" dir="2700000" algn="tl">
                    <a:srgbClr val="000000">
                      <a:alpha val="43137"/>
                    </a:srgbClr>
                  </a:outerShdw>
                </a:effectLst>
                <a:latin typeface="Open Sans"/>
              </a:rPr>
              <a:t>.</a:t>
            </a:r>
            <a:r>
              <a:rPr sz="2000" dirty="0">
                <a:effectLst>
                  <a:outerShdw blurRad="38100" dist="38100" dir="2700000" algn="tl">
                    <a:srgbClr val="000000">
                      <a:alpha val="43137"/>
                    </a:srgbClr>
                  </a:outerShdw>
                </a:effectLst>
              </a:rPr>
              <a:t>
</a:t>
            </a:r>
            <a:r>
              <a:rPr sz="2000" b="1" i="0" u="none" dirty="0">
                <a:solidFill>
                  <a:srgbClr val="2C3E50"/>
                </a:solidFill>
                <a:effectLst>
                  <a:outerShdw blurRad="38100" dist="38100" dir="2700000" algn="tl">
                    <a:srgbClr val="000000">
                      <a:alpha val="43137"/>
                    </a:srgbClr>
                  </a:outerShdw>
                </a:effectLst>
                <a:latin typeface="Open Sans"/>
              </a:rPr>
              <a:t>Google Drive:</a:t>
            </a:r>
            <a:r>
              <a:rPr sz="2000" b="0" i="0" u="none" dirty="0">
                <a:solidFill>
                  <a:srgbClr val="2C3E50"/>
                </a:solidFill>
                <a:effectLst>
                  <a:outerShdw blurRad="38100" dist="38100" dir="2700000" algn="tl">
                    <a:srgbClr val="000000">
                      <a:alpha val="43137"/>
                    </a:srgbClr>
                  </a:outerShdw>
                </a:effectLst>
                <a:latin typeface="Open Sans"/>
              </a:rPr>
              <a:t> Lưu </a:t>
            </a:r>
            <a:r>
              <a:rPr sz="2000" b="0" i="0" u="none" dirty="0" err="1">
                <a:solidFill>
                  <a:srgbClr val="2C3E50"/>
                </a:solidFill>
                <a:effectLst>
                  <a:outerShdw blurRad="38100" dist="38100" dir="2700000" algn="tl">
                    <a:srgbClr val="000000">
                      <a:alpha val="43137"/>
                    </a:srgbClr>
                  </a:outerShdw>
                </a:effectLst>
                <a:latin typeface="Open Sans"/>
              </a:rPr>
              <a:t>trữ</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dữ</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liệu</a:t>
            </a:r>
            <a:r>
              <a:rPr sz="2000" b="0" i="0" u="none" dirty="0">
                <a:solidFill>
                  <a:srgbClr val="2C3E50"/>
                </a:solidFill>
                <a:effectLst>
                  <a:outerShdw blurRad="38100" dist="38100" dir="2700000" algn="tl">
                    <a:srgbClr val="000000">
                      <a:alpha val="43137"/>
                    </a:srgbClr>
                  </a:outerShdw>
                </a:effectLst>
                <a:latin typeface="Open Sans"/>
              </a:rPr>
              <a:t>, </a:t>
            </a:r>
            <a:r>
              <a:rPr lang="en-US" sz="2000" dirty="0">
                <a:solidFill>
                  <a:srgbClr val="2C3E50"/>
                </a:solidFill>
                <a:effectLst>
                  <a:outerShdw blurRad="38100" dist="38100" dir="2700000" algn="tl">
                    <a:srgbClr val="000000">
                      <a:alpha val="43137"/>
                    </a:srgbClr>
                  </a:outerShdw>
                </a:effectLst>
                <a:latin typeface="Open Sans"/>
              </a:rPr>
              <a:t>model &amp; </a:t>
            </a:r>
            <a:r>
              <a:rPr lang="en-US" sz="2000" dirty="0" err="1">
                <a:solidFill>
                  <a:srgbClr val="2C3E50"/>
                </a:solidFill>
                <a:effectLst>
                  <a:outerShdw blurRad="38100" dist="38100" dir="2700000" algn="tl">
                    <a:srgbClr val="000000">
                      <a:alpha val="43137"/>
                    </a:srgbClr>
                  </a:outerShdw>
                </a:effectLst>
                <a:latin typeface="Open Sans"/>
              </a:rPr>
              <a:t>các</a:t>
            </a:r>
            <a:r>
              <a:rPr lang="en-US" sz="2000" dirty="0">
                <a:solidFill>
                  <a:srgbClr val="2C3E50"/>
                </a:solidFill>
                <a:effectLst>
                  <a:outerShdw blurRad="38100" dist="38100" dir="2700000" algn="tl">
                    <a:srgbClr val="000000">
                      <a:alpha val="43137"/>
                    </a:srgbClr>
                  </a:outerShdw>
                </a:effectLst>
                <a:latin typeface="Open Sans"/>
              </a:rPr>
              <a:t> file config.</a:t>
            </a:r>
            <a:endParaRPr sz="2000" b="0" i="0" u="none" dirty="0">
              <a:solidFill>
                <a:srgbClr val="2C3E50"/>
              </a:solidFill>
              <a:effectLst>
                <a:outerShdw blurRad="38100" dist="38100" dir="2700000" algn="tl">
                  <a:srgbClr val="000000">
                    <a:alpha val="43137"/>
                  </a:srgbClr>
                </a:outerShdw>
              </a:effectLst>
              <a:latin typeface="Open Sans"/>
            </a:endParaRPr>
          </a:p>
        </p:txBody>
      </p:sp>
      <p:pic>
        <p:nvPicPr>
          <p:cNvPr id="12" name="Picture 11" descr="image.png"/>
          <p:cNvPicPr>
            <a:picLocks noChangeAspect="1"/>
          </p:cNvPicPr>
          <p:nvPr/>
        </p:nvPicPr>
        <p:blipFill>
          <a:blip r:embed="rId6"/>
          <a:stretch>
            <a:fillRect/>
          </a:stretch>
        </p:blipFill>
        <p:spPr>
          <a:xfrm>
            <a:off x="5715000" y="2152650"/>
            <a:ext cx="762000" cy="762000"/>
          </a:xfrm>
          <a:prstGeom prst="rect">
            <a:avLst/>
          </a:prstGeom>
        </p:spPr>
      </p:pic>
      <p:sp>
        <p:nvSpPr>
          <p:cNvPr id="13" name="TextBox 12"/>
          <p:cNvSpPr txBox="1"/>
          <p:nvPr/>
        </p:nvSpPr>
        <p:spPr>
          <a:xfrm>
            <a:off x="4610814" y="3105150"/>
            <a:ext cx="2970371" cy="369332"/>
          </a:xfrm>
          <a:prstGeom prst="rect">
            <a:avLst/>
          </a:prstGeom>
          <a:noFill/>
        </p:spPr>
        <p:txBody>
          <a:bodyPr wrap="square" lIns="0" tIns="0" rIns="0" bIns="0" anchor="t">
            <a:spAutoFit/>
          </a:bodyPr>
          <a:lstStyle/>
          <a:p>
            <a:pPr algn="ctr"/>
            <a:r>
              <a:rPr lang="en-US" sz="2400" b="1" i="0" u="none" dirty="0" err="1">
                <a:solidFill>
                  <a:srgbClr val="004494"/>
                </a:solidFill>
                <a:effectLst>
                  <a:outerShdw blurRad="38100" dist="38100" dir="2700000" algn="tl">
                    <a:srgbClr val="000000">
                      <a:alpha val="43137"/>
                    </a:srgbClr>
                  </a:outerShdw>
                </a:effectLst>
                <a:latin typeface="Montserrat"/>
              </a:rPr>
              <a:t>Nền</a:t>
            </a:r>
            <a:r>
              <a:rPr lang="en-US" sz="2400" b="1" i="0" u="none" dirty="0">
                <a:solidFill>
                  <a:srgbClr val="004494"/>
                </a:solidFill>
                <a:effectLst>
                  <a:outerShdw blurRad="38100" dist="38100" dir="2700000" algn="tl">
                    <a:srgbClr val="000000">
                      <a:alpha val="43137"/>
                    </a:srgbClr>
                  </a:outerShdw>
                </a:effectLst>
                <a:latin typeface="Montserrat"/>
              </a:rPr>
              <a:t> </a:t>
            </a:r>
            <a:r>
              <a:rPr lang="en-US" sz="2400" b="1" i="0" u="none" dirty="0" err="1">
                <a:solidFill>
                  <a:srgbClr val="004494"/>
                </a:solidFill>
                <a:effectLst>
                  <a:outerShdw blurRad="38100" dist="38100" dir="2700000" algn="tl">
                    <a:srgbClr val="000000">
                      <a:alpha val="43137"/>
                    </a:srgbClr>
                  </a:outerShdw>
                </a:effectLst>
                <a:latin typeface="Montserrat"/>
              </a:rPr>
              <a:t>tảng</a:t>
            </a:r>
            <a:r>
              <a:rPr lang="en-US" sz="2400" b="1" i="0" u="none" dirty="0">
                <a:solidFill>
                  <a:srgbClr val="004494"/>
                </a:solidFill>
                <a:effectLst>
                  <a:outerShdw blurRad="38100" dist="38100" dir="2700000" algn="tl">
                    <a:srgbClr val="000000">
                      <a:alpha val="43137"/>
                    </a:srgbClr>
                  </a:outerShdw>
                </a:effectLst>
                <a:latin typeface="Montserrat"/>
              </a:rPr>
              <a:t> train</a:t>
            </a:r>
            <a:endParaRPr sz="2400" b="1" i="0" u="none" dirty="0">
              <a:solidFill>
                <a:srgbClr val="004494"/>
              </a:solidFill>
              <a:effectLst>
                <a:outerShdw blurRad="38100" dist="38100" dir="2700000" algn="tl">
                  <a:srgbClr val="000000">
                    <a:alpha val="43137"/>
                  </a:srgbClr>
                </a:outerShdw>
              </a:effectLst>
              <a:latin typeface="Montserrat"/>
            </a:endParaRPr>
          </a:p>
        </p:txBody>
      </p:sp>
      <p:sp>
        <p:nvSpPr>
          <p:cNvPr id="14" name="TextBox 13"/>
          <p:cNvSpPr txBox="1"/>
          <p:nvPr/>
        </p:nvSpPr>
        <p:spPr>
          <a:xfrm>
            <a:off x="4349651" y="3571875"/>
            <a:ext cx="3492549" cy="1381981"/>
          </a:xfrm>
          <a:prstGeom prst="rect">
            <a:avLst/>
          </a:prstGeom>
          <a:noFill/>
        </p:spPr>
        <p:txBody>
          <a:bodyPr wrap="square" lIns="0" tIns="0" rIns="0" bIns="0" anchor="t">
            <a:spAutoFit/>
          </a:bodyPr>
          <a:lstStyle/>
          <a:p>
            <a:pPr algn="ctr">
              <a:lnSpc>
                <a:spcPct val="114000"/>
              </a:lnSpc>
            </a:pPr>
            <a:r>
              <a:rPr sz="2000" b="1" i="0" u="none" dirty="0" err="1">
                <a:solidFill>
                  <a:srgbClr val="2C3E50"/>
                </a:solidFill>
                <a:effectLst>
                  <a:outerShdw blurRad="38100" dist="38100" dir="2700000" algn="tl">
                    <a:srgbClr val="000000">
                      <a:alpha val="43137"/>
                    </a:srgbClr>
                  </a:outerShdw>
                </a:effectLst>
                <a:latin typeface="Open Sans"/>
              </a:rPr>
              <a:t>PyTorch</a:t>
            </a:r>
            <a:r>
              <a:rPr sz="2000" b="1" i="0" u="none" dirty="0">
                <a:solidFill>
                  <a:srgbClr val="2C3E50"/>
                </a:solidFill>
                <a:effectLst>
                  <a:outerShdw blurRad="38100" dist="38100" dir="2700000" algn="tl">
                    <a:srgbClr val="000000">
                      <a:alpha val="43137"/>
                    </a:srgbClr>
                  </a:outerShdw>
                </a:effectLst>
                <a:latin typeface="Open Sans"/>
              </a:rPr>
              <a:t> &amp; YOLOv5:</a:t>
            </a:r>
            <a:r>
              <a:rPr sz="2000" b="0" i="0" u="none" dirty="0">
                <a:solidFill>
                  <a:srgbClr val="2C3E50"/>
                </a:solidFill>
                <a:effectLst>
                  <a:outerShdw blurRad="38100" dist="38100" dir="2700000" algn="tl">
                    <a:srgbClr val="000000">
                      <a:alpha val="43137"/>
                    </a:srgbClr>
                  </a:outerShdw>
                </a:effectLst>
                <a:latin typeface="Open Sans"/>
              </a:rPr>
              <a:t> </a:t>
            </a:r>
            <a:r>
              <a:rPr lang="en-US" sz="2000" b="0" i="0" u="none" dirty="0">
                <a:solidFill>
                  <a:srgbClr val="2C3E50"/>
                </a:solidFill>
                <a:effectLst>
                  <a:outerShdw blurRad="38100" dist="38100" dir="2700000" algn="tl">
                    <a:srgbClr val="000000">
                      <a:alpha val="43137"/>
                    </a:srgbClr>
                  </a:outerShdw>
                </a:effectLst>
                <a:latin typeface="Open Sans"/>
              </a:rPr>
              <a:t>Train</a:t>
            </a:r>
            <a:r>
              <a:rPr sz="2000" b="0" i="0" u="none" dirty="0">
                <a:solidFill>
                  <a:srgbClr val="2C3E50"/>
                </a:solidFill>
                <a:effectLst>
                  <a:outerShdw blurRad="38100" dist="38100" dir="2700000" algn="tl">
                    <a:srgbClr val="000000">
                      <a:alpha val="43137"/>
                    </a:srgbClr>
                  </a:outerShdw>
                </a:effectLst>
                <a:latin typeface="Open Sans"/>
              </a:rPr>
              <a:t> AI </a:t>
            </a:r>
            <a:r>
              <a:rPr sz="2000" b="0" i="0" u="none" dirty="0" err="1">
                <a:solidFill>
                  <a:srgbClr val="2C3E50"/>
                </a:solidFill>
                <a:effectLst>
                  <a:outerShdw blurRad="38100" dist="38100" dir="2700000" algn="tl">
                    <a:srgbClr val="000000">
                      <a:alpha val="43137"/>
                    </a:srgbClr>
                  </a:outerShdw>
                </a:effectLst>
                <a:latin typeface="Open Sans"/>
              </a:rPr>
              <a:t>thực</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hiện</a:t>
            </a:r>
            <a:r>
              <a:rPr sz="2000" b="0" i="0" u="none" dirty="0">
                <a:solidFill>
                  <a:srgbClr val="2C3E50"/>
                </a:solidFill>
                <a:effectLst>
                  <a:outerShdw blurRad="38100" dist="38100" dir="2700000" algn="tl">
                    <a:srgbClr val="000000">
                      <a:alpha val="43137"/>
                    </a:srgbClr>
                  </a:outerShdw>
                </a:effectLst>
                <a:latin typeface="Open Sans"/>
              </a:rPr>
              <a:t> object detection.</a:t>
            </a:r>
            <a:r>
              <a:rPr sz="2000" dirty="0">
                <a:effectLst>
                  <a:outerShdw blurRad="38100" dist="38100" dir="2700000" algn="tl">
                    <a:srgbClr val="000000">
                      <a:alpha val="43137"/>
                    </a:srgbClr>
                  </a:outerShdw>
                </a:effectLst>
              </a:rPr>
              <a:t>
</a:t>
            </a:r>
            <a:r>
              <a:rPr sz="2000" b="1" i="0" u="none" dirty="0">
                <a:solidFill>
                  <a:srgbClr val="2C3E50"/>
                </a:solidFill>
                <a:effectLst>
                  <a:outerShdw blurRad="38100" dist="38100" dir="2700000" algn="tl">
                    <a:srgbClr val="000000">
                      <a:alpha val="43137"/>
                    </a:srgbClr>
                  </a:outerShdw>
                </a:effectLst>
                <a:latin typeface="Open Sans"/>
              </a:rPr>
              <a:t>OpenCV:</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Xử</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lý</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hình</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ảnh</a:t>
            </a:r>
            <a:r>
              <a:rPr sz="2000" b="0" i="0" u="none" dirty="0">
                <a:solidFill>
                  <a:srgbClr val="2C3E50"/>
                </a:solidFill>
                <a:effectLst>
                  <a:outerShdw blurRad="38100" dist="38100" dir="2700000" algn="tl">
                    <a:srgbClr val="000000">
                      <a:alpha val="43137"/>
                    </a:srgbClr>
                  </a:outerShdw>
                </a:effectLst>
                <a:latin typeface="Open Sans"/>
              </a:rPr>
              <a:t>, ma </a:t>
            </a:r>
            <a:r>
              <a:rPr sz="2000" b="0" i="0" u="none" dirty="0" err="1">
                <a:solidFill>
                  <a:srgbClr val="2C3E50"/>
                </a:solidFill>
                <a:effectLst>
                  <a:outerShdw blurRad="38100" dist="38100" dir="2700000" algn="tl">
                    <a:srgbClr val="000000">
                      <a:alpha val="43137"/>
                    </a:srgbClr>
                  </a:outerShdw>
                </a:effectLst>
                <a:latin typeface="Open Sans"/>
              </a:rPr>
              <a:t>trận</a:t>
            </a:r>
            <a:r>
              <a:rPr lang="en-US" sz="2000" dirty="0">
                <a:solidFill>
                  <a:srgbClr val="2C3E50"/>
                </a:solidFill>
                <a:effectLst>
                  <a:outerShdw blurRad="38100" dist="38100" dir="2700000" algn="tl">
                    <a:srgbClr val="000000">
                      <a:alpha val="43137"/>
                    </a:srgbClr>
                  </a:outerShdw>
                </a:effectLst>
                <a:latin typeface="Open Sans"/>
              </a:rPr>
              <a:t>,</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vẽ</a:t>
            </a:r>
            <a:r>
              <a:rPr sz="2000" b="0" i="0" u="none" dirty="0">
                <a:solidFill>
                  <a:srgbClr val="2C3E50"/>
                </a:solidFill>
                <a:effectLst>
                  <a:outerShdw blurRad="38100" dist="38100" dir="2700000" algn="tl">
                    <a:srgbClr val="000000">
                      <a:alpha val="43137"/>
                    </a:srgbClr>
                  </a:outerShdw>
                </a:effectLst>
                <a:latin typeface="Open Sans"/>
              </a:rPr>
              <a:t> bounding box.</a:t>
            </a:r>
          </a:p>
        </p:txBody>
      </p:sp>
      <p:pic>
        <p:nvPicPr>
          <p:cNvPr id="15" name="Picture 14" descr="image.png"/>
          <p:cNvPicPr>
            <a:picLocks noChangeAspect="1"/>
          </p:cNvPicPr>
          <p:nvPr/>
        </p:nvPicPr>
        <p:blipFill>
          <a:blip r:embed="rId7"/>
          <a:stretch>
            <a:fillRect/>
          </a:stretch>
        </p:blipFill>
        <p:spPr>
          <a:xfrm>
            <a:off x="9493299" y="2152650"/>
            <a:ext cx="762000" cy="762000"/>
          </a:xfrm>
          <a:prstGeom prst="rect">
            <a:avLst/>
          </a:prstGeom>
        </p:spPr>
      </p:pic>
      <p:sp>
        <p:nvSpPr>
          <p:cNvPr id="16" name="TextBox 15"/>
          <p:cNvSpPr txBox="1"/>
          <p:nvPr/>
        </p:nvSpPr>
        <p:spPr>
          <a:xfrm>
            <a:off x="8247207" y="3105149"/>
            <a:ext cx="3373144" cy="369332"/>
          </a:xfrm>
          <a:prstGeom prst="rect">
            <a:avLst/>
          </a:prstGeom>
          <a:noFill/>
        </p:spPr>
        <p:txBody>
          <a:bodyPr wrap="square" lIns="0" tIns="0" rIns="0" bIns="0" anchor="t">
            <a:spAutoFit/>
          </a:bodyPr>
          <a:lstStyle/>
          <a:p>
            <a:pPr algn="ctr"/>
            <a:r>
              <a:rPr sz="2400" b="1" i="0" u="none" dirty="0" err="1">
                <a:solidFill>
                  <a:srgbClr val="004494"/>
                </a:solidFill>
                <a:effectLst>
                  <a:outerShdw blurRad="38100" dist="38100" dir="2700000" algn="tl">
                    <a:srgbClr val="000000">
                      <a:alpha val="43137"/>
                    </a:srgbClr>
                  </a:outerShdw>
                </a:effectLst>
                <a:latin typeface="Montserrat"/>
              </a:rPr>
              <a:t>Kiến</a:t>
            </a:r>
            <a:r>
              <a:rPr sz="2400" b="1" i="0" u="none" dirty="0">
                <a:solidFill>
                  <a:srgbClr val="004494"/>
                </a:solidFill>
                <a:effectLst>
                  <a:outerShdw blurRad="38100" dist="38100" dir="2700000" algn="tl">
                    <a:srgbClr val="000000">
                      <a:alpha val="43137"/>
                    </a:srgbClr>
                  </a:outerShdw>
                </a:effectLst>
                <a:latin typeface="Montserrat"/>
              </a:rPr>
              <a:t> </a:t>
            </a:r>
            <a:r>
              <a:rPr sz="2400" b="1" i="0" u="none" dirty="0" err="1">
                <a:solidFill>
                  <a:srgbClr val="004494"/>
                </a:solidFill>
                <a:effectLst>
                  <a:outerShdw blurRad="38100" dist="38100" dir="2700000" algn="tl">
                    <a:srgbClr val="000000">
                      <a:alpha val="43137"/>
                    </a:srgbClr>
                  </a:outerShdw>
                </a:effectLst>
                <a:latin typeface="Montserrat"/>
              </a:rPr>
              <a:t>trúc</a:t>
            </a:r>
            <a:r>
              <a:rPr sz="2400" b="1" i="0" u="none" dirty="0">
                <a:solidFill>
                  <a:srgbClr val="004494"/>
                </a:solidFill>
                <a:effectLst>
                  <a:outerShdw blurRad="38100" dist="38100" dir="2700000" algn="tl">
                    <a:srgbClr val="000000">
                      <a:alpha val="43137"/>
                    </a:srgbClr>
                  </a:outerShdw>
                </a:effectLst>
                <a:latin typeface="Montserrat"/>
              </a:rPr>
              <a:t> </a:t>
            </a:r>
            <a:r>
              <a:rPr sz="2400" b="1" i="0" u="none" dirty="0" err="1">
                <a:solidFill>
                  <a:srgbClr val="004494"/>
                </a:solidFill>
                <a:effectLst>
                  <a:outerShdw blurRad="38100" dist="38100" dir="2700000" algn="tl">
                    <a:srgbClr val="000000">
                      <a:alpha val="43137"/>
                    </a:srgbClr>
                  </a:outerShdw>
                </a:effectLst>
                <a:latin typeface="Montserrat"/>
              </a:rPr>
              <a:t>Dịch</a:t>
            </a:r>
            <a:r>
              <a:rPr sz="2400" b="1" i="0" u="none" dirty="0">
                <a:solidFill>
                  <a:srgbClr val="004494"/>
                </a:solidFill>
                <a:effectLst>
                  <a:outerShdw blurRad="38100" dist="38100" dir="2700000" algn="tl">
                    <a:srgbClr val="000000">
                      <a:alpha val="43137"/>
                    </a:srgbClr>
                  </a:outerShdw>
                </a:effectLst>
                <a:latin typeface="Montserrat"/>
              </a:rPr>
              <a:t> </a:t>
            </a:r>
            <a:r>
              <a:rPr sz="2400" b="1" i="0" u="none" dirty="0" err="1">
                <a:solidFill>
                  <a:srgbClr val="004494"/>
                </a:solidFill>
                <a:effectLst>
                  <a:outerShdw blurRad="38100" dist="38100" dir="2700000" algn="tl">
                    <a:srgbClr val="000000">
                      <a:alpha val="43137"/>
                    </a:srgbClr>
                  </a:outerShdw>
                </a:effectLst>
                <a:latin typeface="Montserrat"/>
              </a:rPr>
              <a:t>vụ</a:t>
            </a:r>
            <a:endParaRPr sz="2400" b="1" i="0" u="none" dirty="0">
              <a:solidFill>
                <a:srgbClr val="004494"/>
              </a:solidFill>
              <a:effectLst>
                <a:outerShdw blurRad="38100" dist="38100" dir="2700000" algn="tl">
                  <a:srgbClr val="000000">
                    <a:alpha val="43137"/>
                  </a:srgbClr>
                </a:outerShdw>
              </a:effectLst>
              <a:latin typeface="Montserrat"/>
            </a:endParaRPr>
          </a:p>
        </p:txBody>
      </p:sp>
      <p:sp>
        <p:nvSpPr>
          <p:cNvPr id="17" name="TextBox 16"/>
          <p:cNvSpPr txBox="1"/>
          <p:nvPr/>
        </p:nvSpPr>
        <p:spPr>
          <a:xfrm>
            <a:off x="8247355" y="3571875"/>
            <a:ext cx="3373145" cy="825034"/>
          </a:xfrm>
          <a:prstGeom prst="rect">
            <a:avLst/>
          </a:prstGeom>
          <a:noFill/>
        </p:spPr>
        <p:txBody>
          <a:bodyPr wrap="square" lIns="0" tIns="0" rIns="0" bIns="0" anchor="t">
            <a:spAutoFit/>
          </a:bodyPr>
          <a:lstStyle/>
          <a:p>
            <a:pPr algn="ctr">
              <a:lnSpc>
                <a:spcPct val="114000"/>
              </a:lnSpc>
            </a:pPr>
            <a:r>
              <a:rPr sz="1600" b="1" i="0" u="none" dirty="0" err="1">
                <a:solidFill>
                  <a:srgbClr val="2C3E50"/>
                </a:solidFill>
                <a:effectLst>
                  <a:outerShdw blurRad="38100" dist="38100" dir="2700000" algn="tl">
                    <a:srgbClr val="000000">
                      <a:alpha val="43137"/>
                    </a:srgbClr>
                  </a:outerShdw>
                </a:effectLst>
                <a:latin typeface="Open Sans"/>
              </a:rPr>
              <a:t>FastAPI</a:t>
            </a:r>
            <a:r>
              <a:rPr sz="1600" b="1" i="0" u="none" dirty="0">
                <a:solidFill>
                  <a:srgbClr val="2C3E50"/>
                </a:solidFill>
                <a:effectLst>
                  <a:outerShdw blurRad="38100" dist="38100" dir="2700000" algn="tl">
                    <a:srgbClr val="000000">
                      <a:alpha val="43137"/>
                    </a:srgbClr>
                  </a:outerShdw>
                </a:effectLst>
                <a:latin typeface="Open Sans"/>
              </a:rPr>
              <a:t>:</a:t>
            </a:r>
            <a:r>
              <a:rPr sz="1600" b="0" i="0" u="none" dirty="0">
                <a:solidFill>
                  <a:srgbClr val="2C3E50"/>
                </a:solidFill>
                <a:effectLst>
                  <a:outerShdw blurRad="38100" dist="38100" dir="2700000" algn="tl">
                    <a:srgbClr val="000000">
                      <a:alpha val="43137"/>
                    </a:srgbClr>
                  </a:outerShdw>
                </a:effectLst>
                <a:latin typeface="Open Sans"/>
              </a:rPr>
              <a:t> </a:t>
            </a:r>
            <a:r>
              <a:rPr sz="1600" b="0" i="0" u="none" dirty="0" err="1">
                <a:solidFill>
                  <a:srgbClr val="2C3E50"/>
                </a:solidFill>
                <a:effectLst>
                  <a:outerShdw blurRad="38100" dist="38100" dir="2700000" algn="tl">
                    <a:srgbClr val="000000">
                      <a:alpha val="43137"/>
                    </a:srgbClr>
                  </a:outerShdw>
                </a:effectLst>
                <a:latin typeface="Open Sans"/>
              </a:rPr>
              <a:t>Xây</a:t>
            </a:r>
            <a:r>
              <a:rPr sz="1600" b="0" i="0" u="none" dirty="0">
                <a:solidFill>
                  <a:srgbClr val="2C3E50"/>
                </a:solidFill>
                <a:effectLst>
                  <a:outerShdw blurRad="38100" dist="38100" dir="2700000" algn="tl">
                    <a:srgbClr val="000000">
                      <a:alpha val="43137"/>
                    </a:srgbClr>
                  </a:outerShdw>
                </a:effectLst>
                <a:latin typeface="Open Sans"/>
              </a:rPr>
              <a:t> </a:t>
            </a:r>
            <a:r>
              <a:rPr sz="1600" b="0" i="0" u="none" dirty="0" err="1">
                <a:solidFill>
                  <a:srgbClr val="2C3E50"/>
                </a:solidFill>
                <a:effectLst>
                  <a:outerShdw blurRad="38100" dist="38100" dir="2700000" algn="tl">
                    <a:srgbClr val="000000">
                      <a:alpha val="43137"/>
                    </a:srgbClr>
                  </a:outerShdw>
                </a:effectLst>
                <a:latin typeface="Open Sans"/>
              </a:rPr>
              <a:t>dựng</a:t>
            </a:r>
            <a:r>
              <a:rPr sz="1600" b="0" i="0" u="none" dirty="0">
                <a:solidFill>
                  <a:srgbClr val="2C3E50"/>
                </a:solidFill>
                <a:effectLst>
                  <a:outerShdw blurRad="38100" dist="38100" dir="2700000" algn="tl">
                    <a:srgbClr val="000000">
                      <a:alpha val="43137"/>
                    </a:srgbClr>
                  </a:outerShdw>
                </a:effectLst>
                <a:latin typeface="Open Sans"/>
              </a:rPr>
              <a:t> REST API</a:t>
            </a:r>
            <a:r>
              <a:rPr lang="en-US" sz="1600" b="0" i="0" u="none" dirty="0">
                <a:solidFill>
                  <a:srgbClr val="2C3E50"/>
                </a:solidFill>
                <a:effectLst>
                  <a:outerShdw blurRad="38100" dist="38100" dir="2700000" algn="tl">
                    <a:srgbClr val="000000">
                      <a:alpha val="43137"/>
                    </a:srgbClr>
                  </a:outerShdw>
                </a:effectLst>
                <a:latin typeface="Open Sans"/>
              </a:rPr>
              <a:t>.</a:t>
            </a:r>
            <a:r>
              <a:rPr sz="1600" dirty="0">
                <a:effectLst>
                  <a:outerShdw blurRad="38100" dist="38100" dir="2700000" algn="tl">
                    <a:srgbClr val="000000">
                      <a:alpha val="43137"/>
                    </a:srgbClr>
                  </a:outerShdw>
                </a:effectLst>
              </a:rPr>
              <a:t>
</a:t>
            </a:r>
            <a:r>
              <a:rPr sz="1600" b="1" i="0" u="none" dirty="0" err="1">
                <a:solidFill>
                  <a:srgbClr val="2C3E50"/>
                </a:solidFill>
                <a:effectLst>
                  <a:outerShdw blurRad="38100" dist="38100" dir="2700000" algn="tl">
                    <a:srgbClr val="000000">
                      <a:alpha val="43137"/>
                    </a:srgbClr>
                  </a:outerShdw>
                </a:effectLst>
                <a:latin typeface="Open Sans"/>
              </a:rPr>
              <a:t>ngrok</a:t>
            </a:r>
            <a:r>
              <a:rPr sz="1600" b="1" i="0" u="none" dirty="0">
                <a:solidFill>
                  <a:srgbClr val="2C3E50"/>
                </a:solidFill>
                <a:effectLst>
                  <a:outerShdw blurRad="38100" dist="38100" dir="2700000" algn="tl">
                    <a:srgbClr val="000000">
                      <a:alpha val="43137"/>
                    </a:srgbClr>
                  </a:outerShdw>
                </a:effectLst>
                <a:latin typeface="Open Sans"/>
              </a:rPr>
              <a:t>:</a:t>
            </a:r>
            <a:r>
              <a:rPr sz="1600" b="0" i="0" u="none" dirty="0">
                <a:solidFill>
                  <a:srgbClr val="2C3E50"/>
                </a:solidFill>
                <a:effectLst>
                  <a:outerShdw blurRad="38100" dist="38100" dir="2700000" algn="tl">
                    <a:srgbClr val="000000">
                      <a:alpha val="43137"/>
                    </a:srgbClr>
                  </a:outerShdw>
                </a:effectLst>
                <a:latin typeface="Open Sans"/>
              </a:rPr>
              <a:t> P</a:t>
            </a:r>
            <a:r>
              <a:rPr lang="en-US" sz="1600" b="0" i="0" u="none" dirty="0">
                <a:solidFill>
                  <a:srgbClr val="2C3E50"/>
                </a:solidFill>
                <a:effectLst>
                  <a:outerShdw blurRad="38100" dist="38100" dir="2700000" algn="tl">
                    <a:srgbClr val="000000">
                      <a:alpha val="43137"/>
                    </a:srgbClr>
                  </a:outerShdw>
                </a:effectLst>
                <a:latin typeface="Open Sans"/>
              </a:rPr>
              <a:t>ublic website.</a:t>
            </a:r>
            <a:r>
              <a:rPr sz="1600" dirty="0">
                <a:effectLst>
                  <a:outerShdw blurRad="38100" dist="38100" dir="2700000" algn="tl">
                    <a:srgbClr val="000000">
                      <a:alpha val="43137"/>
                    </a:srgbClr>
                  </a:outerShdw>
                </a:effectLst>
              </a:rPr>
              <a:t>
</a:t>
            </a:r>
            <a:r>
              <a:rPr sz="1600" b="1" i="0" u="none" dirty="0" err="1">
                <a:solidFill>
                  <a:srgbClr val="2C3E50"/>
                </a:solidFill>
                <a:effectLst>
                  <a:outerShdw blurRad="38100" dist="38100" dir="2700000" algn="tl">
                    <a:srgbClr val="000000">
                      <a:alpha val="43137"/>
                    </a:srgbClr>
                  </a:outerShdw>
                </a:effectLst>
                <a:latin typeface="Open Sans"/>
              </a:rPr>
              <a:t>Streamlit</a:t>
            </a:r>
            <a:r>
              <a:rPr sz="1600" b="1" i="0" u="none" dirty="0">
                <a:solidFill>
                  <a:srgbClr val="2C3E50"/>
                </a:solidFill>
                <a:effectLst>
                  <a:outerShdw blurRad="38100" dist="38100" dir="2700000" algn="tl">
                    <a:srgbClr val="000000">
                      <a:alpha val="43137"/>
                    </a:srgbClr>
                  </a:outerShdw>
                </a:effectLst>
                <a:latin typeface="Open Sans"/>
              </a:rPr>
              <a:t>:</a:t>
            </a:r>
            <a:r>
              <a:rPr sz="1600" b="0" i="0" u="none" dirty="0">
                <a:solidFill>
                  <a:srgbClr val="2C3E50"/>
                </a:solidFill>
                <a:effectLst>
                  <a:outerShdw blurRad="38100" dist="38100" dir="2700000" algn="tl">
                    <a:srgbClr val="000000">
                      <a:alpha val="43137"/>
                    </a:srgbClr>
                  </a:outerShdw>
                </a:effectLst>
                <a:latin typeface="Open Sans"/>
              </a:rPr>
              <a:t> Giao </a:t>
            </a:r>
            <a:r>
              <a:rPr sz="1600" b="0" i="0" u="none" dirty="0" err="1">
                <a:solidFill>
                  <a:srgbClr val="2C3E50"/>
                </a:solidFill>
                <a:effectLst>
                  <a:outerShdw blurRad="38100" dist="38100" dir="2700000" algn="tl">
                    <a:srgbClr val="000000">
                      <a:alpha val="43137"/>
                    </a:srgbClr>
                  </a:outerShdw>
                </a:effectLst>
                <a:latin typeface="Open Sans"/>
              </a:rPr>
              <a:t>diện</a:t>
            </a:r>
            <a:r>
              <a:rPr sz="1600" b="0" i="0" u="none" dirty="0">
                <a:solidFill>
                  <a:srgbClr val="2C3E50"/>
                </a:solidFill>
                <a:effectLst>
                  <a:outerShdw blurRad="38100" dist="38100" dir="2700000" algn="tl">
                    <a:srgbClr val="000000">
                      <a:alpha val="43137"/>
                    </a:srgbClr>
                  </a:outerShdw>
                </a:effectLst>
                <a:latin typeface="Open Sans"/>
              </a:rPr>
              <a:t> Frontend</a:t>
            </a:r>
            <a:r>
              <a:rPr lang="en-US" sz="1600" b="0" i="0" u="none" dirty="0">
                <a:solidFill>
                  <a:srgbClr val="2C3E50"/>
                </a:solidFill>
                <a:effectLst>
                  <a:outerShdw blurRad="38100" dist="38100" dir="2700000" algn="tl">
                    <a:srgbClr val="000000">
                      <a:alpha val="43137"/>
                    </a:srgbClr>
                  </a:outerShdw>
                </a:effectLst>
                <a:latin typeface="Open Sans"/>
              </a:rPr>
              <a:t>.</a:t>
            </a:r>
            <a:endParaRPr sz="1600" b="0" i="0" u="none" dirty="0">
              <a:solidFill>
                <a:srgbClr val="2C3E50"/>
              </a:solidFill>
              <a:effectLst>
                <a:outerShdw blurRad="38100" dist="38100" dir="2700000" algn="tl">
                  <a:srgbClr val="000000">
                    <a:alpha val="43137"/>
                  </a:srgbClr>
                </a:outerShdw>
              </a:effectLst>
              <a:latin typeface="Open Sans"/>
            </a:endParaRPr>
          </a:p>
        </p:txBody>
      </p:sp>
      <p:pic>
        <p:nvPicPr>
          <p:cNvPr id="18" name="Picture 17" descr="image.png"/>
          <p:cNvPicPr>
            <a:picLocks noChangeAspect="1"/>
          </p:cNvPicPr>
          <p:nvPr/>
        </p:nvPicPr>
        <p:blipFill>
          <a:blip r:embed="rId8"/>
          <a:stretch>
            <a:fillRect/>
          </a:stretch>
        </p:blipFill>
        <p:spPr>
          <a:xfrm>
            <a:off x="2146250" y="2362200"/>
            <a:ext cx="342900" cy="342900"/>
          </a:xfrm>
          <a:prstGeom prst="rect">
            <a:avLst/>
          </a:prstGeom>
        </p:spPr>
      </p:pic>
      <p:pic>
        <p:nvPicPr>
          <p:cNvPr id="19" name="Picture 18" descr="image.png"/>
          <p:cNvPicPr>
            <a:picLocks noChangeAspect="1"/>
          </p:cNvPicPr>
          <p:nvPr/>
        </p:nvPicPr>
        <p:blipFill>
          <a:blip r:embed="rId9"/>
          <a:stretch>
            <a:fillRect/>
          </a:stretch>
        </p:blipFill>
        <p:spPr>
          <a:xfrm>
            <a:off x="5924550" y="2362200"/>
            <a:ext cx="342900" cy="342900"/>
          </a:xfrm>
          <a:prstGeom prst="rect">
            <a:avLst/>
          </a:prstGeom>
        </p:spPr>
      </p:pic>
      <p:pic>
        <p:nvPicPr>
          <p:cNvPr id="20" name="Picture 19" descr="image.png"/>
          <p:cNvPicPr>
            <a:picLocks noChangeAspect="1"/>
          </p:cNvPicPr>
          <p:nvPr/>
        </p:nvPicPr>
        <p:blipFill>
          <a:blip r:embed="rId10"/>
          <a:stretch>
            <a:fillRect/>
          </a:stretch>
        </p:blipFill>
        <p:spPr>
          <a:xfrm>
            <a:off x="9659987" y="2362200"/>
            <a:ext cx="428625" cy="3429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7B4FA43-8FB3-BC23-85DC-403137C290B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CED8054-F10A-60B5-1CB8-DECA36D3674E}"/>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A8B5D106-A843-34BB-71CB-CC6123AA1653}"/>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6B8D2C0B-6C58-77E7-2198-E7A89229FAE9}"/>
              </a:ext>
            </a:extLst>
          </p:cNvPr>
          <p:cNvSpPr txBox="1"/>
          <p:nvPr/>
        </p:nvSpPr>
        <p:spPr>
          <a:xfrm>
            <a:off x="714375" y="647700"/>
            <a:ext cx="11451431" cy="495300"/>
          </a:xfrm>
          <a:prstGeom prst="rect">
            <a:avLst/>
          </a:prstGeom>
          <a:noFill/>
        </p:spPr>
        <p:txBody>
          <a:bodyPr wrap="square" lIns="0" tIns="0" rIns="0" bIns="0" anchor="t">
            <a:spAutoFit/>
          </a:bodyPr>
          <a:lstStyle/>
          <a:p>
            <a:pPr algn="l"/>
            <a:r>
              <a:rPr lang="vi-VN" sz="3150" b="1" i="0" u="none" dirty="0">
                <a:solidFill>
                  <a:srgbClr val="0056B3"/>
                </a:solidFill>
                <a:effectLst>
                  <a:outerShdw blurRad="38100" dist="38100" dir="2700000" algn="tl">
                    <a:srgbClr val="000000">
                      <a:alpha val="43137"/>
                    </a:srgbClr>
                  </a:outerShdw>
                </a:effectLst>
                <a:latin typeface="Montserrat"/>
              </a:rPr>
              <a:t>REST API</a:t>
            </a:r>
            <a:endParaRPr sz="3150" b="1" i="0" u="none" dirty="0">
              <a:solidFill>
                <a:srgbClr val="0056B3"/>
              </a:solidFill>
              <a:effectLst>
                <a:outerShdw blurRad="38100" dist="38100" dir="2700000" algn="tl">
                  <a:srgbClr val="000000">
                    <a:alpha val="43137"/>
                  </a:srgbClr>
                </a:outerShdw>
              </a:effectLst>
              <a:latin typeface="Montserrat"/>
            </a:endParaRPr>
          </a:p>
        </p:txBody>
      </p:sp>
      <p:sp>
        <p:nvSpPr>
          <p:cNvPr id="6" name="Rectangle 5">
            <a:extLst>
              <a:ext uri="{FF2B5EF4-FFF2-40B4-BE49-F238E27FC236}">
                <a16:creationId xmlns:a16="http://schemas.microsoft.com/office/drawing/2014/main" id="{6DC6D44C-8CD9-6F21-0505-0EB62E86E097}"/>
              </a:ext>
            </a:extLst>
          </p:cNvPr>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AA0CC629-4345-3CAB-3FDE-9252B5DD021F}"/>
              </a:ext>
            </a:extLst>
          </p:cNvPr>
          <p:cNvSpPr txBox="1"/>
          <p:nvPr/>
        </p:nvSpPr>
        <p:spPr>
          <a:xfrm>
            <a:off x="562418" y="2178850"/>
            <a:ext cx="11067164" cy="2500300"/>
          </a:xfrm>
          <a:prstGeom prst="rect">
            <a:avLst/>
          </a:prstGeom>
          <a:noFill/>
        </p:spPr>
        <p:txBody>
          <a:bodyPr wrap="square" lIns="0" tIns="0" rIns="0" bIns="0" anchor="t">
            <a:spAutoFit/>
          </a:bodyPr>
          <a:lstStyle/>
          <a:p>
            <a:pPr marL="342900" indent="-342900" algn="l">
              <a:lnSpc>
                <a:spcPct val="114000"/>
              </a:lnSpc>
              <a:buFont typeface="Wingdings" panose="05000000000000000000" pitchFamily="2" charset="2"/>
              <a:buChar char="q"/>
            </a:pPr>
            <a:r>
              <a:rPr lang="en-US" sz="2400" i="0" u="none" dirty="0" err="1">
                <a:solidFill>
                  <a:srgbClr val="2C3E50"/>
                </a:solidFill>
                <a:effectLst>
                  <a:outerShdw blurRad="38100" dist="38100" dir="2700000" algn="tl">
                    <a:srgbClr val="000000">
                      <a:alpha val="43137"/>
                    </a:srgbClr>
                  </a:outerShdw>
                </a:effectLst>
                <a:latin typeface="Open Sans"/>
              </a:rPr>
              <a:t>Là</a:t>
            </a:r>
            <a:r>
              <a:rPr lang="en-US" sz="2400" i="0" u="none" dirty="0">
                <a:solidFill>
                  <a:srgbClr val="2C3E50"/>
                </a:solidFill>
                <a:effectLst>
                  <a:outerShdw blurRad="38100" dist="38100" dir="2700000" algn="tl">
                    <a:srgbClr val="000000">
                      <a:alpha val="43137"/>
                    </a:srgbClr>
                  </a:outerShdw>
                </a:effectLst>
                <a:latin typeface="Open Sans"/>
              </a:rPr>
              <a:t> </a:t>
            </a:r>
            <a:r>
              <a:rPr lang="vi-VN" sz="2400" i="0" u="none" dirty="0">
                <a:solidFill>
                  <a:srgbClr val="2C3E50"/>
                </a:solidFill>
                <a:effectLst>
                  <a:outerShdw blurRad="38100" dist="38100" dir="2700000" algn="tl">
                    <a:srgbClr val="000000">
                      <a:alpha val="43137"/>
                    </a:srgbClr>
                  </a:outerShdw>
                </a:effectLst>
                <a:latin typeface="Open Sans"/>
              </a:rPr>
              <a:t>một dạng API được thiết kế dựa trên các nguyên tắc của REST</a:t>
            </a:r>
            <a:br>
              <a:rPr lang="en-US" sz="2400" dirty="0">
                <a:solidFill>
                  <a:srgbClr val="2C3E50"/>
                </a:solidFill>
                <a:effectLst>
                  <a:outerShdw blurRad="38100" dist="38100" dir="2700000" algn="tl">
                    <a:srgbClr val="000000">
                      <a:alpha val="43137"/>
                    </a:srgbClr>
                  </a:outerShdw>
                </a:effectLst>
                <a:latin typeface="Open Sans"/>
              </a:rPr>
            </a:br>
            <a:r>
              <a:rPr lang="vi-VN" sz="2400" i="0" u="none" dirty="0">
                <a:solidFill>
                  <a:srgbClr val="2C3E50"/>
                </a:solidFill>
                <a:effectLst>
                  <a:outerShdw blurRad="38100" dist="38100" dir="2700000" algn="tl">
                    <a:srgbClr val="000000">
                      <a:alpha val="43137"/>
                    </a:srgbClr>
                  </a:outerShdw>
                </a:effectLst>
                <a:latin typeface="Open Sans"/>
              </a:rPr>
              <a:t>(Representational State Transfer)</a:t>
            </a:r>
            <a:endParaRPr lang="en-US" sz="2400" i="0" u="none" dirty="0">
              <a:solidFill>
                <a:srgbClr val="2C3E50"/>
              </a:solidFill>
              <a:effectLst>
                <a:outerShdw blurRad="38100" dist="38100" dir="2700000" algn="tl">
                  <a:srgbClr val="000000">
                    <a:alpha val="43137"/>
                  </a:srgbClr>
                </a:outerShdw>
              </a:effectLst>
              <a:latin typeface="Open Sans"/>
            </a:endParaRPr>
          </a:p>
          <a:p>
            <a:pPr marL="342900" indent="-342900" algn="l">
              <a:lnSpc>
                <a:spcPct val="114000"/>
              </a:lnSpc>
              <a:buFont typeface="Wingdings" panose="05000000000000000000" pitchFamily="2" charset="2"/>
              <a:buChar char="q"/>
            </a:pPr>
            <a:r>
              <a:rPr lang="vi-VN" sz="2400" i="0" u="none" dirty="0">
                <a:solidFill>
                  <a:srgbClr val="2C3E50"/>
                </a:solidFill>
                <a:effectLst>
                  <a:outerShdw blurRad="38100" dist="38100" dir="2700000" algn="tl">
                    <a:srgbClr val="000000">
                      <a:alpha val="43137"/>
                    </a:srgbClr>
                  </a:outerShdw>
                </a:effectLst>
                <a:latin typeface="Open Sans"/>
              </a:rPr>
              <a:t>REST là một kiến trúc phần mềm dùng để xây dựng các hệ thống phân tán</a:t>
            </a:r>
            <a:endParaRPr lang="en-US" sz="2400" i="0" u="none" dirty="0">
              <a:solidFill>
                <a:srgbClr val="2C3E50"/>
              </a:solidFill>
              <a:effectLst>
                <a:outerShdw blurRad="38100" dist="38100" dir="2700000" algn="tl">
                  <a:srgbClr val="000000">
                    <a:alpha val="43137"/>
                  </a:srgbClr>
                </a:outerShdw>
              </a:effectLst>
              <a:latin typeface="Open Sans"/>
            </a:endParaRPr>
          </a:p>
          <a:p>
            <a:pPr marL="800100" lvl="1" indent="-342900">
              <a:lnSpc>
                <a:spcPct val="114000"/>
              </a:lnSpc>
              <a:buFont typeface="Wingdings" panose="05000000000000000000" pitchFamily="2" charset="2"/>
              <a:buChar char="q"/>
            </a:pPr>
            <a:r>
              <a:rPr lang="en-US" sz="2400" i="0" u="none" dirty="0">
                <a:solidFill>
                  <a:srgbClr val="2C3E50"/>
                </a:solidFill>
                <a:effectLst>
                  <a:outerShdw blurRad="38100" dist="38100" dir="2700000" algn="tl">
                    <a:srgbClr val="000000">
                      <a:alpha val="43137"/>
                    </a:srgbClr>
                  </a:outerShdw>
                </a:effectLst>
                <a:latin typeface="Open Sans"/>
              </a:rPr>
              <a:t>C</a:t>
            </a:r>
            <a:r>
              <a:rPr lang="vi-VN" sz="2400" i="0" u="none" dirty="0">
                <a:solidFill>
                  <a:srgbClr val="2C3E50"/>
                </a:solidFill>
                <a:effectLst>
                  <a:outerShdw blurRad="38100" dist="38100" dir="2700000" algn="tl">
                    <a:srgbClr val="000000">
                      <a:alpha val="43137"/>
                    </a:srgbClr>
                  </a:outerShdw>
                </a:effectLst>
                <a:latin typeface="Open Sans"/>
              </a:rPr>
              <a:t>ác thành phần của hệ thống giao tiếp qua các giao thức web như HTTP</a:t>
            </a:r>
            <a:endParaRPr lang="en-US" sz="2400" i="0" u="none" dirty="0">
              <a:solidFill>
                <a:srgbClr val="2C3E50"/>
              </a:solidFill>
              <a:effectLst>
                <a:outerShdw blurRad="38100" dist="38100" dir="2700000" algn="tl">
                  <a:srgbClr val="000000">
                    <a:alpha val="43137"/>
                  </a:srgbClr>
                </a:outerShdw>
              </a:effectLst>
              <a:latin typeface="Open Sans"/>
            </a:endParaRPr>
          </a:p>
          <a:p>
            <a:pPr marL="342900" indent="-342900" algn="l">
              <a:lnSpc>
                <a:spcPct val="114000"/>
              </a:lnSpc>
              <a:buFont typeface="Wingdings" panose="05000000000000000000" pitchFamily="2" charset="2"/>
              <a:buChar char="q"/>
            </a:pPr>
            <a:r>
              <a:rPr lang="en-US" sz="2400" i="0" u="none" dirty="0">
                <a:solidFill>
                  <a:srgbClr val="2C3E50"/>
                </a:solidFill>
                <a:effectLst>
                  <a:outerShdw blurRad="38100" dist="38100" dir="2700000" algn="tl">
                    <a:srgbClr val="000000">
                      <a:alpha val="43137"/>
                    </a:srgbClr>
                  </a:outerShdw>
                </a:effectLst>
                <a:latin typeface="Open Sans"/>
              </a:rPr>
              <a:t>Đ</a:t>
            </a:r>
            <a:r>
              <a:rPr lang="vi-VN" sz="2400" i="0" u="none" dirty="0">
                <a:solidFill>
                  <a:srgbClr val="2C3E50"/>
                </a:solidFill>
                <a:effectLst>
                  <a:outerShdw blurRad="38100" dist="38100" dir="2700000" algn="tl">
                    <a:srgbClr val="000000">
                      <a:alpha val="43137"/>
                    </a:srgbClr>
                  </a:outerShdw>
                </a:effectLst>
                <a:latin typeface="Open Sans"/>
              </a:rPr>
              <a:t>óng vai trò quan trọng</a:t>
            </a:r>
            <a:r>
              <a:rPr lang="en-US" sz="2400" i="0" u="none" dirty="0">
                <a:solidFill>
                  <a:srgbClr val="2C3E50"/>
                </a:solidFill>
                <a:effectLst>
                  <a:outerShdw blurRad="38100" dist="38100" dir="2700000" algn="tl">
                    <a:srgbClr val="000000">
                      <a:alpha val="43137"/>
                    </a:srgbClr>
                  </a:outerShdw>
                </a:effectLst>
                <a:latin typeface="Open Sans"/>
              </a:rPr>
              <a:t>, </a:t>
            </a:r>
            <a:r>
              <a:rPr lang="vi-VN" sz="2400" i="0" u="none" dirty="0">
                <a:solidFill>
                  <a:srgbClr val="2C3E50"/>
                </a:solidFill>
                <a:effectLst>
                  <a:outerShdw blurRad="38100" dist="38100" dir="2700000" algn="tl">
                    <a:srgbClr val="000000">
                      <a:alpha val="43137"/>
                    </a:srgbClr>
                  </a:outerShdw>
                </a:effectLst>
                <a:latin typeface="Open Sans"/>
              </a:rPr>
              <a:t>hỗ trợ giao tiếp giữa các ứng dụng </a:t>
            </a:r>
            <a:r>
              <a:rPr lang="en-US" sz="2400" i="0" u="none" dirty="0">
                <a:solidFill>
                  <a:srgbClr val="2C3E50"/>
                </a:solidFill>
                <a:effectLst>
                  <a:outerShdw blurRad="38100" dist="38100" dir="2700000" algn="tl">
                    <a:srgbClr val="000000">
                      <a:alpha val="43137"/>
                    </a:srgbClr>
                  </a:outerShdw>
                </a:effectLst>
                <a:latin typeface="Open Sans"/>
              </a:rPr>
              <a:t>&amp;</a:t>
            </a:r>
            <a:r>
              <a:rPr lang="vi-VN" sz="2400" i="0" u="none" dirty="0">
                <a:solidFill>
                  <a:srgbClr val="2C3E50"/>
                </a:solidFill>
                <a:effectLst>
                  <a:outerShdw blurRad="38100" dist="38100" dir="2700000" algn="tl">
                    <a:srgbClr val="000000">
                      <a:alpha val="43137"/>
                    </a:srgbClr>
                  </a:outerShdw>
                </a:effectLst>
                <a:latin typeface="Open Sans"/>
              </a:rPr>
              <a:t> dịch vụ trên Internet</a:t>
            </a:r>
            <a:endParaRPr sz="2400" i="0" u="none" dirty="0">
              <a:solidFill>
                <a:srgbClr val="2C3E50"/>
              </a:solidFill>
              <a:effectLst>
                <a:outerShdw blurRad="38100" dist="38100" dir="2700000" algn="tl">
                  <a:srgbClr val="000000">
                    <a:alpha val="43137"/>
                  </a:srgbClr>
                </a:outerShdw>
              </a:effectLst>
              <a:latin typeface="Open Sans"/>
            </a:endParaRPr>
          </a:p>
        </p:txBody>
      </p:sp>
    </p:spTree>
    <p:extLst>
      <p:ext uri="{BB962C8B-B14F-4D97-AF65-F5344CB8AC3E}">
        <p14:creationId xmlns:p14="http://schemas.microsoft.com/office/powerpoint/2010/main" val="1164869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46AC9-3A71-8171-D40B-D4D55E3FC3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771E59C-1A4A-C4BB-D180-6B5E792A6C7C}"/>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096DA892-98C5-6392-A33F-D3E0383959F6}"/>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7C9B0293-715A-9A46-AADB-D29AF686A2BE}"/>
              </a:ext>
            </a:extLst>
          </p:cNvPr>
          <p:cNvSpPr txBox="1"/>
          <p:nvPr/>
        </p:nvSpPr>
        <p:spPr>
          <a:xfrm>
            <a:off x="714375" y="647700"/>
            <a:ext cx="11451431" cy="495300"/>
          </a:xfrm>
          <a:prstGeom prst="rect">
            <a:avLst/>
          </a:prstGeom>
          <a:noFill/>
        </p:spPr>
        <p:txBody>
          <a:bodyPr wrap="square" lIns="0" tIns="0" rIns="0" bIns="0" anchor="t">
            <a:spAutoFit/>
          </a:bodyPr>
          <a:lstStyle/>
          <a:p>
            <a:pPr algn="l"/>
            <a:r>
              <a:rPr lang="vi-VN" sz="3150" b="1" i="0" u="none" dirty="0">
                <a:solidFill>
                  <a:srgbClr val="0056B3"/>
                </a:solidFill>
                <a:effectLst>
                  <a:outerShdw blurRad="38100" dist="38100" dir="2700000" algn="tl">
                    <a:srgbClr val="000000">
                      <a:alpha val="43137"/>
                    </a:srgbClr>
                  </a:outerShdw>
                </a:effectLst>
                <a:latin typeface="Montserrat"/>
              </a:rPr>
              <a:t>REST API</a:t>
            </a:r>
            <a:endParaRPr sz="3150" b="1" i="0" u="none" dirty="0">
              <a:solidFill>
                <a:srgbClr val="0056B3"/>
              </a:solidFill>
              <a:effectLst>
                <a:outerShdw blurRad="38100" dist="38100" dir="2700000" algn="tl">
                  <a:srgbClr val="000000">
                    <a:alpha val="43137"/>
                  </a:srgbClr>
                </a:outerShdw>
              </a:effectLst>
              <a:latin typeface="Montserrat"/>
            </a:endParaRPr>
          </a:p>
        </p:txBody>
      </p:sp>
      <p:sp>
        <p:nvSpPr>
          <p:cNvPr id="6" name="Rectangle 5">
            <a:extLst>
              <a:ext uri="{FF2B5EF4-FFF2-40B4-BE49-F238E27FC236}">
                <a16:creationId xmlns:a16="http://schemas.microsoft.com/office/drawing/2014/main" id="{AB63AFC7-3731-51B0-BE35-3A6E8A79BD28}"/>
              </a:ext>
            </a:extLst>
          </p:cNvPr>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191BF1DE-943D-D86F-A57B-22DA82E037C4}"/>
              </a:ext>
            </a:extLst>
          </p:cNvPr>
          <p:cNvSpPr txBox="1"/>
          <p:nvPr/>
        </p:nvSpPr>
        <p:spPr>
          <a:xfrm>
            <a:off x="26194" y="1530410"/>
            <a:ext cx="4942811" cy="3763338"/>
          </a:xfrm>
          <a:prstGeom prst="rect">
            <a:avLst/>
          </a:prstGeom>
          <a:noFill/>
        </p:spPr>
        <p:txBody>
          <a:bodyPr wrap="square" lIns="0" tIns="0" rIns="0" bIns="0" anchor="t">
            <a:spAutoFit/>
          </a:bodyPr>
          <a:lstStyle/>
          <a:p>
            <a:pPr marL="342900" indent="-342900" algn="l">
              <a:lnSpc>
                <a:spcPct val="114000"/>
              </a:lnSpc>
              <a:buFont typeface="Wingdings" panose="05000000000000000000" pitchFamily="2" charset="2"/>
              <a:buChar char="q"/>
            </a:pPr>
            <a:r>
              <a:rPr lang="en-US" sz="2400" i="0" u="none" dirty="0">
                <a:solidFill>
                  <a:srgbClr val="2C3E50"/>
                </a:solidFill>
                <a:effectLst>
                  <a:outerShdw blurRad="38100" dist="38100" dir="2700000" algn="tl">
                    <a:srgbClr val="000000">
                      <a:alpha val="43137"/>
                    </a:srgbClr>
                  </a:outerShdw>
                </a:effectLst>
                <a:latin typeface="Open Sans"/>
              </a:rPr>
              <a:t>S</a:t>
            </a:r>
            <a:r>
              <a:rPr lang="vi-VN" sz="2400" i="0" u="none" dirty="0">
                <a:solidFill>
                  <a:srgbClr val="2C3E50"/>
                </a:solidFill>
                <a:effectLst>
                  <a:outerShdw blurRad="38100" dist="38100" dir="2700000" algn="tl">
                    <a:srgbClr val="000000">
                      <a:alpha val="43137"/>
                    </a:srgbClr>
                  </a:outerShdw>
                </a:effectLst>
                <a:latin typeface="Open Sans"/>
              </a:rPr>
              <a:t>ử dụng các phương thức HTTP như GET, POST, PUT, DELETE để thực hiện các thao tác CRUD (Create, Read, Update, Delete) trên tài nguyên</a:t>
            </a:r>
            <a:endParaRPr lang="en-US" sz="2400" i="0" u="none" dirty="0">
              <a:solidFill>
                <a:srgbClr val="2C3E50"/>
              </a:solidFill>
              <a:effectLst>
                <a:outerShdw blurRad="38100" dist="38100" dir="2700000" algn="tl">
                  <a:srgbClr val="000000">
                    <a:alpha val="43137"/>
                  </a:srgbClr>
                </a:outerShdw>
              </a:effectLst>
              <a:latin typeface="Open Sans"/>
            </a:endParaRPr>
          </a:p>
          <a:p>
            <a:pPr marL="342900" indent="-342900" algn="l">
              <a:lnSpc>
                <a:spcPct val="114000"/>
              </a:lnSpc>
              <a:buFont typeface="Wingdings" panose="05000000000000000000" pitchFamily="2" charset="2"/>
              <a:buChar char="q"/>
            </a:pPr>
            <a:r>
              <a:rPr lang="vi-VN" sz="2400" i="0" u="none" dirty="0">
                <a:solidFill>
                  <a:srgbClr val="2C3E50"/>
                </a:solidFill>
                <a:effectLst>
                  <a:outerShdw blurRad="38100" dist="38100" dir="2700000" algn="tl">
                    <a:srgbClr val="000000">
                      <a:alpha val="43137"/>
                    </a:srgbClr>
                  </a:outerShdw>
                </a:effectLst>
                <a:latin typeface="Open Sans"/>
              </a:rPr>
              <a:t>Mỗi tài nguyên được định danh bằng một URI, và các thao tác được thực hiện thông qua các yêu cầu HTTP tương ứng</a:t>
            </a:r>
            <a:endParaRPr sz="2400" i="0" u="none" dirty="0">
              <a:solidFill>
                <a:srgbClr val="2C3E50"/>
              </a:solidFill>
              <a:effectLst>
                <a:outerShdw blurRad="38100" dist="38100" dir="2700000" algn="tl">
                  <a:srgbClr val="000000">
                    <a:alpha val="43137"/>
                  </a:srgbClr>
                </a:outerShdw>
              </a:effectLst>
              <a:latin typeface="Open Sans"/>
            </a:endParaRPr>
          </a:p>
        </p:txBody>
      </p:sp>
      <p:pic>
        <p:nvPicPr>
          <p:cNvPr id="7" name="Picture 6" descr="Tìm Hiểu RESTful API và Các Tiêu Chuẩn Viết API Hiệu Quả">
            <a:extLst>
              <a:ext uri="{FF2B5EF4-FFF2-40B4-BE49-F238E27FC236}">
                <a16:creationId xmlns:a16="http://schemas.microsoft.com/office/drawing/2014/main" id="{736C8704-34C8-4324-F4A1-05DFF3C85A22}"/>
              </a:ext>
            </a:extLst>
          </p:cNvPr>
          <p:cNvPicPr>
            <a:picLocks noChangeAspect="1"/>
          </p:cNvPicPr>
          <p:nvPr/>
        </p:nvPicPr>
        <p:blipFill>
          <a:blip r:embed="rId2"/>
          <a:srcRect l="5849" t="21800" r="8970" b="3468"/>
          <a:stretch>
            <a:fillRect/>
          </a:stretch>
        </p:blipFill>
        <p:spPr>
          <a:xfrm>
            <a:off x="4969005" y="1530410"/>
            <a:ext cx="7164177" cy="3954169"/>
          </a:xfrm>
          <a:prstGeom prst="rect">
            <a:avLst/>
          </a:prstGeom>
        </p:spPr>
      </p:pic>
    </p:spTree>
    <p:extLst>
      <p:ext uri="{BB962C8B-B14F-4D97-AF65-F5344CB8AC3E}">
        <p14:creationId xmlns:p14="http://schemas.microsoft.com/office/powerpoint/2010/main" val="2739765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35B61-F1F9-9E6E-F819-414740A012C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494E803-D13B-15BF-B57A-22CC05F41C9B}"/>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A02EFFDC-9BBA-3D43-1654-77DD70A2D32A}"/>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D531B7A-5304-FAC6-6D76-2C275D46D1A5}"/>
              </a:ext>
            </a:extLst>
          </p:cNvPr>
          <p:cNvSpPr txBox="1"/>
          <p:nvPr/>
        </p:nvSpPr>
        <p:spPr>
          <a:xfrm>
            <a:off x="714375" y="647700"/>
            <a:ext cx="11451431" cy="495300"/>
          </a:xfrm>
          <a:prstGeom prst="rect">
            <a:avLst/>
          </a:prstGeom>
          <a:noFill/>
        </p:spPr>
        <p:txBody>
          <a:bodyPr wrap="square" lIns="0" tIns="0" rIns="0" bIns="0" anchor="t">
            <a:spAutoFit/>
          </a:bodyPr>
          <a:lstStyle/>
          <a:p>
            <a:pPr algn="l"/>
            <a:r>
              <a:rPr lang="vi-VN" sz="3150" b="1" i="0" u="none" dirty="0">
                <a:solidFill>
                  <a:srgbClr val="0056B3"/>
                </a:solidFill>
                <a:effectLst>
                  <a:outerShdw blurRad="38100" dist="38100" dir="2700000" algn="tl">
                    <a:srgbClr val="000000">
                      <a:alpha val="43137"/>
                    </a:srgbClr>
                  </a:outerShdw>
                </a:effectLst>
                <a:latin typeface="Montserrat"/>
              </a:rPr>
              <a:t>REST API</a:t>
            </a:r>
            <a:endParaRPr sz="3150" b="1" i="0" u="none" dirty="0">
              <a:solidFill>
                <a:srgbClr val="0056B3"/>
              </a:solidFill>
              <a:effectLst>
                <a:outerShdw blurRad="38100" dist="38100" dir="2700000" algn="tl">
                  <a:srgbClr val="000000">
                    <a:alpha val="43137"/>
                  </a:srgbClr>
                </a:outerShdw>
              </a:effectLst>
              <a:latin typeface="Montserrat"/>
            </a:endParaRPr>
          </a:p>
        </p:txBody>
      </p:sp>
      <p:sp>
        <p:nvSpPr>
          <p:cNvPr id="6" name="Rectangle 5">
            <a:extLst>
              <a:ext uri="{FF2B5EF4-FFF2-40B4-BE49-F238E27FC236}">
                <a16:creationId xmlns:a16="http://schemas.microsoft.com/office/drawing/2014/main" id="{A8F31B57-F5BF-9C4D-68FE-E137CAE9F200}"/>
              </a:ext>
            </a:extLst>
          </p:cNvPr>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26986831-8F73-F5E5-406B-17D4279B9440}"/>
              </a:ext>
            </a:extLst>
          </p:cNvPr>
          <p:cNvSpPr txBox="1"/>
          <p:nvPr/>
        </p:nvSpPr>
        <p:spPr>
          <a:xfrm>
            <a:off x="562418" y="1968344"/>
            <a:ext cx="11067164" cy="2500300"/>
          </a:xfrm>
          <a:prstGeom prst="rect">
            <a:avLst/>
          </a:prstGeom>
          <a:noFill/>
        </p:spPr>
        <p:txBody>
          <a:bodyPr wrap="square" lIns="0" tIns="0" rIns="0" bIns="0" anchor="t">
            <a:spAutoFit/>
          </a:bodyPr>
          <a:lstStyle/>
          <a:p>
            <a:pPr marL="342900" indent="-342900" algn="l">
              <a:lnSpc>
                <a:spcPct val="114000"/>
              </a:lnSpc>
              <a:buFont typeface="Wingdings" panose="05000000000000000000" pitchFamily="2" charset="2"/>
              <a:buChar char="q"/>
            </a:pPr>
            <a:r>
              <a:rPr lang="en-US" sz="2400" i="0" u="none" dirty="0">
                <a:solidFill>
                  <a:srgbClr val="2C3E50"/>
                </a:solidFill>
                <a:effectLst>
                  <a:outerShdw blurRad="38100" dist="38100" dir="2700000" algn="tl">
                    <a:srgbClr val="000000">
                      <a:alpha val="43137"/>
                    </a:srgbClr>
                  </a:outerShdw>
                </a:effectLst>
                <a:latin typeface="Open Sans"/>
              </a:rPr>
              <a:t>L</a:t>
            </a:r>
            <a:r>
              <a:rPr lang="vi-VN" sz="2400" i="0" u="none" dirty="0">
                <a:solidFill>
                  <a:srgbClr val="2C3E50"/>
                </a:solidFill>
                <a:effectLst>
                  <a:outerShdw blurRad="38100" dist="38100" dir="2700000" algn="tl">
                    <a:srgbClr val="000000">
                      <a:alpha val="43137"/>
                    </a:srgbClr>
                  </a:outerShdw>
                </a:effectLst>
                <a:latin typeface="Open Sans"/>
              </a:rPr>
              <a:t>inh hoạt và đơn giản trong thiết kế, giúp cho việc tích hợp hay tương tác giữa các hệ thống trở nên dễ dàng hơn</a:t>
            </a:r>
            <a:endParaRPr lang="en-US" sz="2400" i="0" u="none" dirty="0">
              <a:solidFill>
                <a:srgbClr val="2C3E50"/>
              </a:solidFill>
              <a:effectLst>
                <a:outerShdw blurRad="38100" dist="38100" dir="2700000" algn="tl">
                  <a:srgbClr val="000000">
                    <a:alpha val="43137"/>
                  </a:srgbClr>
                </a:outerShdw>
              </a:effectLst>
              <a:latin typeface="Open Sans"/>
            </a:endParaRPr>
          </a:p>
          <a:p>
            <a:pPr marL="342900" indent="-342900" algn="l">
              <a:lnSpc>
                <a:spcPct val="114000"/>
              </a:lnSpc>
              <a:buFont typeface="Wingdings" panose="05000000000000000000" pitchFamily="2" charset="2"/>
              <a:buChar char="q"/>
            </a:pPr>
            <a:r>
              <a:rPr lang="en-US" sz="2400" dirty="0" err="1">
                <a:solidFill>
                  <a:srgbClr val="2C3E50"/>
                </a:solidFill>
                <a:effectLst>
                  <a:outerShdw blurRad="38100" dist="38100" dir="2700000" algn="tl">
                    <a:srgbClr val="000000">
                      <a:alpha val="43137"/>
                    </a:srgbClr>
                  </a:outerShdw>
                </a:effectLst>
                <a:latin typeface="Open Sans"/>
              </a:rPr>
              <a:t>Tập</a:t>
            </a:r>
            <a:r>
              <a:rPr lang="en-US" sz="2400" dirty="0">
                <a:solidFill>
                  <a:srgbClr val="2C3E50"/>
                </a:solidFill>
                <a:effectLst>
                  <a:outerShdw blurRad="38100" dist="38100" dir="2700000" algn="tl">
                    <a:srgbClr val="000000">
                      <a:alpha val="43137"/>
                    </a:srgbClr>
                  </a:outerShdw>
                </a:effectLst>
                <a:latin typeface="Open Sans"/>
              </a:rPr>
              <a:t> </a:t>
            </a:r>
            <a:r>
              <a:rPr lang="vi-VN" sz="2400" i="0" u="none" dirty="0">
                <a:solidFill>
                  <a:srgbClr val="2C3E50"/>
                </a:solidFill>
                <a:effectLst>
                  <a:outerShdw blurRad="38100" dist="38100" dir="2700000" algn="tl">
                    <a:srgbClr val="000000">
                      <a:alpha val="43137"/>
                    </a:srgbClr>
                  </a:outerShdw>
                </a:effectLst>
                <a:latin typeface="Open Sans"/>
              </a:rPr>
              <a:t>trung vào việc quản lý các tài nguyên của hệ thống</a:t>
            </a:r>
            <a:endParaRPr lang="en-US" sz="2400" i="0" u="none" dirty="0">
              <a:solidFill>
                <a:srgbClr val="2C3E50"/>
              </a:solidFill>
              <a:effectLst>
                <a:outerShdw blurRad="38100" dist="38100" dir="2700000" algn="tl">
                  <a:srgbClr val="000000">
                    <a:alpha val="43137"/>
                  </a:srgbClr>
                </a:outerShdw>
              </a:effectLst>
              <a:latin typeface="Open Sans"/>
            </a:endParaRPr>
          </a:p>
          <a:p>
            <a:pPr marL="342900" indent="-342900" algn="l">
              <a:lnSpc>
                <a:spcPct val="114000"/>
              </a:lnSpc>
              <a:buFont typeface="Wingdings" panose="05000000000000000000" pitchFamily="2" charset="2"/>
              <a:buChar char="q"/>
            </a:pPr>
            <a:r>
              <a:rPr lang="en-US" sz="2400" i="0" u="none" dirty="0">
                <a:solidFill>
                  <a:srgbClr val="2C3E50"/>
                </a:solidFill>
                <a:effectLst>
                  <a:outerShdw blurRad="38100" dist="38100" dir="2700000" algn="tl">
                    <a:srgbClr val="000000">
                      <a:alpha val="43137"/>
                    </a:srgbClr>
                  </a:outerShdw>
                </a:effectLst>
                <a:latin typeface="Open Sans"/>
              </a:rPr>
              <a:t>T</a:t>
            </a:r>
            <a:r>
              <a:rPr lang="vi-VN" sz="2400" i="0" u="none" dirty="0">
                <a:solidFill>
                  <a:srgbClr val="2C3E50"/>
                </a:solidFill>
                <a:effectLst>
                  <a:outerShdw blurRad="38100" dist="38100" dir="2700000" algn="tl">
                    <a:srgbClr val="000000">
                      <a:alpha val="43137"/>
                    </a:srgbClr>
                  </a:outerShdw>
                </a:effectLst>
                <a:latin typeface="Open Sans"/>
              </a:rPr>
              <a:t>húc đẩy tái sử dụng </a:t>
            </a:r>
            <a:r>
              <a:rPr lang="en-US" sz="2400" i="0" u="none" dirty="0">
                <a:solidFill>
                  <a:srgbClr val="2C3E50"/>
                </a:solidFill>
                <a:effectLst>
                  <a:outerShdw blurRad="38100" dist="38100" dir="2700000" algn="tl">
                    <a:srgbClr val="000000">
                      <a:alpha val="43137"/>
                    </a:srgbClr>
                  </a:outerShdw>
                </a:effectLst>
                <a:latin typeface="Open Sans"/>
              </a:rPr>
              <a:t>code</a:t>
            </a:r>
            <a:r>
              <a:rPr lang="vi-VN" sz="2400" i="0" u="none" dirty="0">
                <a:solidFill>
                  <a:srgbClr val="2C3E50"/>
                </a:solidFill>
                <a:effectLst>
                  <a:outerShdw blurRad="38100" dist="38100" dir="2700000" algn="tl">
                    <a:srgbClr val="000000">
                      <a:alpha val="43137"/>
                    </a:srgbClr>
                  </a:outerShdw>
                </a:effectLst>
                <a:latin typeface="Open Sans"/>
              </a:rPr>
              <a:t>, tạo ra các ứng dụng có khả năng mở rộng tốt</a:t>
            </a:r>
            <a:endParaRPr lang="en-US" sz="2400" i="0" u="none" dirty="0">
              <a:solidFill>
                <a:srgbClr val="2C3E50"/>
              </a:solidFill>
              <a:effectLst>
                <a:outerShdw blurRad="38100" dist="38100" dir="2700000" algn="tl">
                  <a:srgbClr val="000000">
                    <a:alpha val="43137"/>
                  </a:srgbClr>
                </a:outerShdw>
              </a:effectLst>
              <a:latin typeface="Open Sans"/>
            </a:endParaRPr>
          </a:p>
          <a:p>
            <a:pPr marL="342900" indent="-342900" algn="l">
              <a:lnSpc>
                <a:spcPct val="114000"/>
              </a:lnSpc>
              <a:buFont typeface="Wingdings" panose="05000000000000000000" pitchFamily="2" charset="2"/>
              <a:buChar char="q"/>
            </a:pPr>
            <a:r>
              <a:rPr lang="en-US" sz="2400" i="0" u="none" dirty="0">
                <a:solidFill>
                  <a:srgbClr val="2C3E50"/>
                </a:solidFill>
                <a:effectLst>
                  <a:outerShdw blurRad="38100" dist="38100" dir="2700000" algn="tl">
                    <a:srgbClr val="000000">
                      <a:alpha val="43137"/>
                    </a:srgbClr>
                  </a:outerShdw>
                </a:effectLst>
                <a:latin typeface="Open Sans"/>
              </a:rPr>
              <a:t>T</a:t>
            </a:r>
            <a:r>
              <a:rPr lang="vi-VN" sz="2400" i="0" u="none" dirty="0">
                <a:solidFill>
                  <a:srgbClr val="2C3E50"/>
                </a:solidFill>
                <a:effectLst>
                  <a:outerShdw blurRad="38100" dist="38100" dir="2700000" algn="tl">
                    <a:srgbClr val="000000">
                      <a:alpha val="43137"/>
                    </a:srgbClr>
                  </a:outerShdw>
                </a:effectLst>
                <a:latin typeface="Open Sans"/>
              </a:rPr>
              <a:t>ương thích với nhiều loại thiết bị và nền tảng khác nhau, bao gồm cả máy tính, thiết bị di động</a:t>
            </a:r>
            <a:endParaRPr sz="2400" i="0" u="none" dirty="0">
              <a:solidFill>
                <a:srgbClr val="2C3E50"/>
              </a:solidFill>
              <a:effectLst>
                <a:outerShdw blurRad="38100" dist="38100" dir="2700000" algn="tl">
                  <a:srgbClr val="000000">
                    <a:alpha val="43137"/>
                  </a:srgbClr>
                </a:outerShdw>
              </a:effectLst>
              <a:latin typeface="Open Sans"/>
            </a:endParaRPr>
          </a:p>
        </p:txBody>
      </p:sp>
    </p:spTree>
    <p:extLst>
      <p:ext uri="{BB962C8B-B14F-4D97-AF65-F5344CB8AC3E}">
        <p14:creationId xmlns:p14="http://schemas.microsoft.com/office/powerpoint/2010/main" val="220308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4DED31C-5628-362F-5CF4-39B59F4E2B7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AD39B15-A3C0-F475-28F6-E25CFD476B88}"/>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3350023F-6EA4-CD90-3C0A-13ED2CCEE1F5}"/>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6102D992-A2CA-72FE-6B88-004BC88C0693}"/>
              </a:ext>
            </a:extLst>
          </p:cNvPr>
          <p:cNvSpPr txBox="1"/>
          <p:nvPr/>
        </p:nvSpPr>
        <p:spPr>
          <a:xfrm>
            <a:off x="714375" y="647700"/>
            <a:ext cx="11451431" cy="495300"/>
          </a:xfrm>
          <a:prstGeom prst="rect">
            <a:avLst/>
          </a:prstGeom>
          <a:noFill/>
        </p:spPr>
        <p:txBody>
          <a:bodyPr wrap="square" lIns="0" tIns="0" rIns="0" bIns="0" anchor="t">
            <a:spAutoFit/>
          </a:bodyPr>
          <a:lstStyle/>
          <a:p>
            <a:pPr algn="l"/>
            <a:r>
              <a:rPr lang="vi-VN" sz="3150" b="1" i="0" u="none" dirty="0">
                <a:solidFill>
                  <a:srgbClr val="0056B3"/>
                </a:solidFill>
                <a:latin typeface="Montserrat"/>
              </a:rPr>
              <a:t>FastAPI</a:t>
            </a:r>
            <a:endParaRPr sz="3150" b="1" i="0" u="none" dirty="0">
              <a:solidFill>
                <a:srgbClr val="0056B3"/>
              </a:solidFill>
              <a:latin typeface="Montserrat"/>
            </a:endParaRPr>
          </a:p>
        </p:txBody>
      </p:sp>
      <p:sp>
        <p:nvSpPr>
          <p:cNvPr id="6" name="Rectangle 5">
            <a:extLst>
              <a:ext uri="{FF2B5EF4-FFF2-40B4-BE49-F238E27FC236}">
                <a16:creationId xmlns:a16="http://schemas.microsoft.com/office/drawing/2014/main" id="{B867C6B7-452E-BD8F-5A07-01A56A522028}"/>
              </a:ext>
            </a:extLst>
          </p:cNvPr>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a:extLst>
              <a:ext uri="{FF2B5EF4-FFF2-40B4-BE49-F238E27FC236}">
                <a16:creationId xmlns:a16="http://schemas.microsoft.com/office/drawing/2014/main" id="{2247E394-08BC-A1FC-207D-2EDB83D7C16F}"/>
              </a:ext>
            </a:extLst>
          </p:cNvPr>
          <p:cNvPicPr>
            <a:picLocks noChangeAspect="1"/>
          </p:cNvPicPr>
          <p:nvPr/>
        </p:nvPicPr>
        <p:blipFill>
          <a:blip r:embed="rId2">
            <a:extLst>
              <a:ext uri="{837473B0-CC2E-450A-ABE3-18F120FF3D39}">
                <a1611:picAttrSrcUrl xmlns:a1611="http://schemas.microsoft.com/office/drawing/2016/11/main" r:id="rId3"/>
              </a:ext>
            </a:extLst>
          </a:blip>
          <a:srcRect l="11000" t="22806" r="9563" b="28833"/>
          <a:stretch>
            <a:fillRect/>
          </a:stretch>
        </p:blipFill>
        <p:spPr>
          <a:xfrm>
            <a:off x="6425166" y="2855728"/>
            <a:ext cx="5195334" cy="1146545"/>
          </a:xfrm>
          <a:prstGeom prst="rect">
            <a:avLst/>
          </a:prstGeom>
        </p:spPr>
      </p:pic>
      <p:sp>
        <p:nvSpPr>
          <p:cNvPr id="8" name="TextBox 7">
            <a:extLst>
              <a:ext uri="{FF2B5EF4-FFF2-40B4-BE49-F238E27FC236}">
                <a16:creationId xmlns:a16="http://schemas.microsoft.com/office/drawing/2014/main" id="{BFA98F2E-B96C-B9C2-AA4F-8274E66424DB}"/>
              </a:ext>
            </a:extLst>
          </p:cNvPr>
          <p:cNvSpPr txBox="1"/>
          <p:nvPr/>
        </p:nvSpPr>
        <p:spPr>
          <a:xfrm>
            <a:off x="571500" y="1757838"/>
            <a:ext cx="5533582" cy="3342325"/>
          </a:xfrm>
          <a:prstGeom prst="rect">
            <a:avLst/>
          </a:prstGeom>
          <a:noFill/>
        </p:spPr>
        <p:txBody>
          <a:bodyPr wrap="square" lIns="0" tIns="0" rIns="0" bIns="0" anchor="t">
            <a:spAutoFit/>
          </a:bodyPr>
          <a:lstStyle/>
          <a:p>
            <a:pPr marL="342900" indent="-342900" algn="l">
              <a:lnSpc>
                <a:spcPct val="114000"/>
              </a:lnSpc>
              <a:buFont typeface="Wingdings" panose="05000000000000000000" pitchFamily="2" charset="2"/>
              <a:buChar char="q"/>
            </a:pPr>
            <a:r>
              <a:rPr lang="en-US" sz="2400" dirty="0">
                <a:solidFill>
                  <a:srgbClr val="2C3E50"/>
                </a:solidFill>
                <a:effectLst>
                  <a:outerShdw blurRad="38100" dist="38100" dir="2700000" algn="tl">
                    <a:srgbClr val="000000">
                      <a:alpha val="43137"/>
                    </a:srgbClr>
                  </a:outerShdw>
                </a:effectLst>
                <a:latin typeface="Open Sans"/>
              </a:rPr>
              <a:t>F</a:t>
            </a:r>
            <a:r>
              <a:rPr lang="vi-VN" sz="2400" i="0" u="none" dirty="0">
                <a:solidFill>
                  <a:srgbClr val="2C3E50"/>
                </a:solidFill>
                <a:effectLst>
                  <a:outerShdw blurRad="38100" dist="38100" dir="2700000" algn="tl">
                    <a:srgbClr val="000000">
                      <a:alpha val="43137"/>
                    </a:srgbClr>
                  </a:outerShdw>
                </a:effectLst>
                <a:latin typeface="Open Sans"/>
              </a:rPr>
              <a:t>ramework web hiệu suất cao cho Python, chạy trên máy chủ web, được thiết kế để xây dựng các API nhanh chóng và mạnh mẽ</a:t>
            </a:r>
            <a:endParaRPr lang="en-US" sz="2400" i="0" u="none" dirty="0">
              <a:solidFill>
                <a:srgbClr val="2C3E50"/>
              </a:solidFill>
              <a:effectLst>
                <a:outerShdw blurRad="38100" dist="38100" dir="2700000" algn="tl">
                  <a:srgbClr val="000000">
                    <a:alpha val="43137"/>
                  </a:srgbClr>
                </a:outerShdw>
              </a:effectLst>
              <a:latin typeface="Open Sans"/>
            </a:endParaRPr>
          </a:p>
          <a:p>
            <a:pPr marL="342900" indent="-342900" algn="l">
              <a:lnSpc>
                <a:spcPct val="114000"/>
              </a:lnSpc>
              <a:buFont typeface="Wingdings" panose="05000000000000000000" pitchFamily="2" charset="2"/>
              <a:buChar char="q"/>
            </a:pPr>
            <a:r>
              <a:rPr lang="en-US" sz="2400" dirty="0">
                <a:solidFill>
                  <a:srgbClr val="2C3E50"/>
                </a:solidFill>
                <a:effectLst>
                  <a:outerShdw blurRad="38100" dist="38100" dir="2700000" algn="tl">
                    <a:srgbClr val="000000">
                      <a:alpha val="43137"/>
                    </a:srgbClr>
                  </a:outerShdw>
                </a:effectLst>
                <a:latin typeface="Open Sans"/>
              </a:rPr>
              <a:t>K</a:t>
            </a:r>
            <a:r>
              <a:rPr lang="vi-VN" sz="2400" i="0" u="none" dirty="0">
                <a:solidFill>
                  <a:srgbClr val="2C3E50"/>
                </a:solidFill>
                <a:effectLst>
                  <a:outerShdw blurRad="38100" dist="38100" dir="2700000" algn="tl">
                    <a:srgbClr val="000000">
                      <a:alpha val="43137"/>
                    </a:srgbClr>
                  </a:outerShdw>
                </a:effectLst>
                <a:latin typeface="Open Sans"/>
              </a:rPr>
              <a:t>ết hợp sức mạnh của Python với các tính năng hiện đại trong phát triển web để cung cấp hiệu suất tốt và tài liệu API tự động</a:t>
            </a:r>
            <a:endParaRPr sz="2400" i="0" u="none" dirty="0">
              <a:solidFill>
                <a:srgbClr val="2C3E50"/>
              </a:solidFill>
              <a:effectLst>
                <a:outerShdw blurRad="38100" dist="38100" dir="2700000" algn="tl">
                  <a:srgbClr val="000000">
                    <a:alpha val="43137"/>
                  </a:srgbClr>
                </a:outerShdw>
              </a:effectLst>
              <a:latin typeface="Open Sans"/>
            </a:endParaRPr>
          </a:p>
        </p:txBody>
      </p:sp>
    </p:spTree>
    <p:extLst>
      <p:ext uri="{BB962C8B-B14F-4D97-AF65-F5344CB8AC3E}">
        <p14:creationId xmlns:p14="http://schemas.microsoft.com/office/powerpoint/2010/main" val="2231721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66F22-D943-3524-20D6-98DAC0ABD47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21D7F0-880D-5E9A-19BD-AF1608AF50A1}"/>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F79332D2-ECAE-96DC-C6CF-E66963F8AB3B}"/>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C6B67266-1971-7971-DFDA-80BD19CC11C7}"/>
              </a:ext>
            </a:extLst>
          </p:cNvPr>
          <p:cNvSpPr txBox="1"/>
          <p:nvPr/>
        </p:nvSpPr>
        <p:spPr>
          <a:xfrm>
            <a:off x="714375" y="647700"/>
            <a:ext cx="11451431" cy="495300"/>
          </a:xfrm>
          <a:prstGeom prst="rect">
            <a:avLst/>
          </a:prstGeom>
          <a:noFill/>
        </p:spPr>
        <p:txBody>
          <a:bodyPr wrap="square" lIns="0" tIns="0" rIns="0" bIns="0" anchor="t">
            <a:spAutoFit/>
          </a:bodyPr>
          <a:lstStyle/>
          <a:p>
            <a:pPr algn="l"/>
            <a:r>
              <a:rPr lang="vi-VN" sz="3150" b="1" i="0" u="none" dirty="0">
                <a:solidFill>
                  <a:srgbClr val="0056B3"/>
                </a:solidFill>
                <a:latin typeface="Montserrat"/>
              </a:rPr>
              <a:t>FastAPI</a:t>
            </a:r>
            <a:endParaRPr sz="3150" b="1" i="0" u="none" dirty="0">
              <a:solidFill>
                <a:srgbClr val="0056B3"/>
              </a:solidFill>
              <a:latin typeface="Montserrat"/>
            </a:endParaRPr>
          </a:p>
        </p:txBody>
      </p:sp>
      <p:sp>
        <p:nvSpPr>
          <p:cNvPr id="6" name="Rectangle 5">
            <a:extLst>
              <a:ext uri="{FF2B5EF4-FFF2-40B4-BE49-F238E27FC236}">
                <a16:creationId xmlns:a16="http://schemas.microsoft.com/office/drawing/2014/main" id="{AF1188BC-01E5-F2B8-22FC-79894F4AA7BA}"/>
              </a:ext>
            </a:extLst>
          </p:cNvPr>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a:extLst>
              <a:ext uri="{FF2B5EF4-FFF2-40B4-BE49-F238E27FC236}">
                <a16:creationId xmlns:a16="http://schemas.microsoft.com/office/drawing/2014/main" id="{38FF8695-C8AD-9BF8-2D0C-FC02FE6D3419}"/>
              </a:ext>
            </a:extLst>
          </p:cNvPr>
          <p:cNvPicPr>
            <a:picLocks noChangeAspect="1"/>
          </p:cNvPicPr>
          <p:nvPr/>
        </p:nvPicPr>
        <p:blipFill>
          <a:blip r:embed="rId2">
            <a:extLst>
              <a:ext uri="{837473B0-CC2E-450A-ABE3-18F120FF3D39}">
                <a1611:picAttrSrcUrl xmlns:a1611="http://schemas.microsoft.com/office/drawing/2016/11/main" r:id="rId3"/>
              </a:ext>
            </a:extLst>
          </a:blip>
          <a:srcRect l="11000" t="22806" r="9563" b="28833"/>
          <a:stretch>
            <a:fillRect/>
          </a:stretch>
        </p:blipFill>
        <p:spPr>
          <a:xfrm>
            <a:off x="6869851" y="191487"/>
            <a:ext cx="5195334" cy="1146545"/>
          </a:xfrm>
          <a:prstGeom prst="rect">
            <a:avLst/>
          </a:prstGeom>
        </p:spPr>
      </p:pic>
      <p:sp>
        <p:nvSpPr>
          <p:cNvPr id="8" name="TextBox 7">
            <a:extLst>
              <a:ext uri="{FF2B5EF4-FFF2-40B4-BE49-F238E27FC236}">
                <a16:creationId xmlns:a16="http://schemas.microsoft.com/office/drawing/2014/main" id="{265B119C-B1D7-3C86-3F94-51289E72F240}"/>
              </a:ext>
            </a:extLst>
          </p:cNvPr>
          <p:cNvSpPr txBox="1"/>
          <p:nvPr/>
        </p:nvSpPr>
        <p:spPr>
          <a:xfrm>
            <a:off x="565740" y="1453319"/>
            <a:ext cx="11060519" cy="4926926"/>
          </a:xfrm>
          <a:prstGeom prst="rect">
            <a:avLst/>
          </a:prstGeom>
          <a:noFill/>
        </p:spPr>
        <p:txBody>
          <a:bodyPr wrap="square" lIns="0" tIns="0" rIns="0" bIns="0" anchor="t">
            <a:spAutoFit/>
          </a:bodyPr>
          <a:lstStyle/>
          <a:p>
            <a:pPr marL="342900" indent="-342900" algn="l">
              <a:lnSpc>
                <a:spcPct val="150000"/>
              </a:lnSpc>
              <a:buFont typeface="Wingdings" panose="05000000000000000000" pitchFamily="2" charset="2"/>
              <a:buChar char="q"/>
            </a:pPr>
            <a:r>
              <a:rPr lang="en-US" sz="2400" dirty="0">
                <a:solidFill>
                  <a:srgbClr val="2C3E50"/>
                </a:solidFill>
                <a:effectLst>
                  <a:outerShdw blurRad="38100" dist="38100" dir="2700000" algn="tl">
                    <a:srgbClr val="000000">
                      <a:alpha val="43137"/>
                    </a:srgbClr>
                  </a:outerShdw>
                </a:effectLst>
                <a:latin typeface="Open Sans"/>
              </a:rPr>
              <a:t>C</a:t>
            </a:r>
            <a:r>
              <a:rPr lang="vi-VN" sz="2400" dirty="0">
                <a:solidFill>
                  <a:srgbClr val="2C3E50"/>
                </a:solidFill>
                <a:effectLst>
                  <a:outerShdw blurRad="38100" dist="38100" dir="2700000" algn="tl">
                    <a:srgbClr val="000000">
                      <a:alpha val="43137"/>
                    </a:srgbClr>
                  </a:outerShdw>
                </a:effectLst>
                <a:latin typeface="Open Sans"/>
              </a:rPr>
              <a:t>ho phép sử dụng khả năng bất đồng bộ của Python để xử lý các yêu cầu đồng thời với hiệu suất cao</a:t>
            </a:r>
          </a:p>
          <a:p>
            <a:pPr marL="342900" indent="-342900" algn="l">
              <a:lnSpc>
                <a:spcPct val="150000"/>
              </a:lnSpc>
              <a:buFont typeface="Wingdings" panose="05000000000000000000" pitchFamily="2" charset="2"/>
              <a:buChar char="q"/>
            </a:pPr>
            <a:r>
              <a:rPr lang="en-US" sz="2400" dirty="0">
                <a:solidFill>
                  <a:srgbClr val="2C3E50"/>
                </a:solidFill>
                <a:effectLst>
                  <a:outerShdw blurRad="38100" dist="38100" dir="2700000" algn="tl">
                    <a:srgbClr val="000000">
                      <a:alpha val="43137"/>
                    </a:srgbClr>
                  </a:outerShdw>
                </a:effectLst>
                <a:latin typeface="Open Sans"/>
              </a:rPr>
              <a:t>T</a:t>
            </a:r>
            <a:r>
              <a:rPr lang="vi-VN" sz="2400" dirty="0">
                <a:solidFill>
                  <a:srgbClr val="2C3E50"/>
                </a:solidFill>
                <a:effectLst>
                  <a:outerShdw blurRad="38100" dist="38100" dir="2700000" algn="tl">
                    <a:srgbClr val="000000">
                      <a:alpha val="43137"/>
                    </a:srgbClr>
                  </a:outerShdw>
                </a:effectLst>
                <a:latin typeface="Open Sans"/>
              </a:rPr>
              <a:t>ự động tạo tài liệu API dựa trên các chú thích kiểu Python và OpenAPI</a:t>
            </a:r>
            <a:r>
              <a:rPr lang="en-US" sz="2400" dirty="0">
                <a:solidFill>
                  <a:srgbClr val="2C3E50"/>
                </a:solidFill>
                <a:effectLst>
                  <a:outerShdw blurRad="38100" dist="38100" dir="2700000" algn="tl">
                    <a:srgbClr val="000000">
                      <a:alpha val="43137"/>
                    </a:srgbClr>
                  </a:outerShdw>
                </a:effectLst>
                <a:latin typeface="Open Sans"/>
              </a:rPr>
              <a:t>, </a:t>
            </a:r>
            <a:r>
              <a:rPr lang="vi-VN" sz="2400" dirty="0">
                <a:solidFill>
                  <a:srgbClr val="2C3E50"/>
                </a:solidFill>
                <a:effectLst>
                  <a:outerShdw blurRad="38100" dist="38100" dir="2700000" algn="tl">
                    <a:srgbClr val="000000">
                      <a:alpha val="43137"/>
                    </a:srgbClr>
                  </a:outerShdw>
                </a:effectLst>
                <a:latin typeface="Open Sans"/>
              </a:rPr>
              <a:t>cung cấp giao diện Swagger UI tương tác để </a:t>
            </a:r>
            <a:r>
              <a:rPr lang="en-US" sz="2400" dirty="0">
                <a:solidFill>
                  <a:srgbClr val="2C3E50"/>
                </a:solidFill>
                <a:effectLst>
                  <a:outerShdw blurRad="38100" dist="38100" dir="2700000" algn="tl">
                    <a:srgbClr val="000000">
                      <a:alpha val="43137"/>
                    </a:srgbClr>
                  </a:outerShdw>
                </a:effectLst>
                <a:latin typeface="Open Sans"/>
              </a:rPr>
              <a:t>t</a:t>
            </a:r>
            <a:r>
              <a:rPr lang="vi-VN" sz="2400" dirty="0">
                <a:solidFill>
                  <a:srgbClr val="2C3E50"/>
                </a:solidFill>
                <a:effectLst>
                  <a:outerShdw blurRad="38100" dist="38100" dir="2700000" algn="tl">
                    <a:srgbClr val="000000">
                      <a:alpha val="43137"/>
                    </a:srgbClr>
                  </a:outerShdw>
                </a:effectLst>
                <a:latin typeface="Open Sans"/>
              </a:rPr>
              <a:t>hử nghiệm các API dễ dàng</a:t>
            </a:r>
          </a:p>
          <a:p>
            <a:pPr marL="342900" indent="-342900" algn="l">
              <a:lnSpc>
                <a:spcPct val="150000"/>
              </a:lnSpc>
              <a:buFont typeface="Wingdings" panose="05000000000000000000" pitchFamily="2" charset="2"/>
              <a:buChar char="q"/>
            </a:pPr>
            <a:r>
              <a:rPr lang="en-US" sz="2400" dirty="0">
                <a:solidFill>
                  <a:srgbClr val="2C3E50"/>
                </a:solidFill>
                <a:effectLst>
                  <a:outerShdw blurRad="38100" dist="38100" dir="2700000" algn="tl">
                    <a:srgbClr val="000000">
                      <a:alpha val="43137"/>
                    </a:srgbClr>
                  </a:outerShdw>
                </a:effectLst>
                <a:latin typeface="Open Sans"/>
              </a:rPr>
              <a:t>C</a:t>
            </a:r>
            <a:r>
              <a:rPr lang="vi-VN" sz="2400" dirty="0">
                <a:solidFill>
                  <a:srgbClr val="2C3E50"/>
                </a:solidFill>
                <a:effectLst>
                  <a:outerShdw blurRad="38100" dist="38100" dir="2700000" algn="tl">
                    <a:srgbClr val="000000">
                      <a:alpha val="43137"/>
                    </a:srgbClr>
                  </a:outerShdw>
                </a:effectLst>
                <a:latin typeface="Open Sans"/>
              </a:rPr>
              <a:t>ho phép xác định kiểu dữ liệu và kiểm tra dữ liệu tự động, giúp bảo đảm dữ liệu được gửi và nhận qua API là hợp lệ</a:t>
            </a:r>
          </a:p>
          <a:p>
            <a:pPr marL="342900" indent="-342900" algn="l">
              <a:lnSpc>
                <a:spcPct val="150000"/>
              </a:lnSpc>
              <a:buFont typeface="Wingdings" panose="05000000000000000000" pitchFamily="2" charset="2"/>
              <a:buChar char="q"/>
            </a:pPr>
            <a:r>
              <a:rPr lang="en-US" sz="2400" dirty="0">
                <a:solidFill>
                  <a:srgbClr val="2C3E50"/>
                </a:solidFill>
                <a:effectLst>
                  <a:outerShdw blurRad="38100" dist="38100" dir="2700000" algn="tl">
                    <a:srgbClr val="000000">
                      <a:alpha val="43137"/>
                    </a:srgbClr>
                  </a:outerShdw>
                </a:effectLst>
                <a:latin typeface="Open Sans"/>
              </a:rPr>
              <a:t>H</a:t>
            </a:r>
            <a:r>
              <a:rPr lang="vi-VN" sz="2400" dirty="0">
                <a:solidFill>
                  <a:srgbClr val="2C3E50"/>
                </a:solidFill>
                <a:effectLst>
                  <a:outerShdw blurRad="38100" dist="38100" dir="2700000" algn="tl">
                    <a:srgbClr val="000000">
                      <a:alpha val="43137"/>
                    </a:srgbClr>
                  </a:outerShdw>
                </a:effectLst>
                <a:latin typeface="Open Sans"/>
              </a:rPr>
              <a:t>ỗ trợ hoàn toàn lập trình bất đồng bộ, cho phép xử lý các hoạt động I/O-bound một cách hiệu quả</a:t>
            </a:r>
          </a:p>
          <a:p>
            <a:pPr marL="342900" indent="-342900" algn="l">
              <a:lnSpc>
                <a:spcPct val="150000"/>
              </a:lnSpc>
              <a:buFont typeface="Wingdings" panose="05000000000000000000" pitchFamily="2" charset="2"/>
              <a:buChar char="q"/>
            </a:pPr>
            <a:r>
              <a:rPr lang="en-US" sz="2400" dirty="0">
                <a:solidFill>
                  <a:srgbClr val="2C3E50"/>
                </a:solidFill>
                <a:effectLst>
                  <a:outerShdw blurRad="38100" dist="38100" dir="2700000" algn="tl">
                    <a:srgbClr val="000000">
                      <a:alpha val="43137"/>
                    </a:srgbClr>
                  </a:outerShdw>
                </a:effectLst>
                <a:latin typeface="Open Sans"/>
              </a:rPr>
              <a:t>T</a:t>
            </a:r>
            <a:r>
              <a:rPr lang="vi-VN" sz="2400" dirty="0">
                <a:solidFill>
                  <a:srgbClr val="2C3E50"/>
                </a:solidFill>
                <a:effectLst>
                  <a:outerShdw blurRad="38100" dist="38100" dir="2700000" algn="tl">
                    <a:srgbClr val="000000">
                      <a:alpha val="43137"/>
                    </a:srgbClr>
                  </a:outerShdw>
                </a:effectLst>
                <a:latin typeface="Open Sans"/>
              </a:rPr>
              <a:t>ích hợp dễ dàng với các thư viện </a:t>
            </a:r>
            <a:r>
              <a:rPr lang="en-US" sz="2400" dirty="0">
                <a:solidFill>
                  <a:srgbClr val="2C3E50"/>
                </a:solidFill>
                <a:effectLst>
                  <a:outerShdw blurRad="38100" dist="38100" dir="2700000" algn="tl">
                    <a:srgbClr val="000000">
                      <a:alpha val="43137"/>
                    </a:srgbClr>
                  </a:outerShdw>
                </a:effectLst>
                <a:latin typeface="Open Sans"/>
              </a:rPr>
              <a:t>&amp;</a:t>
            </a:r>
            <a:r>
              <a:rPr lang="vi-VN" sz="2400" dirty="0">
                <a:solidFill>
                  <a:srgbClr val="2C3E50"/>
                </a:solidFill>
                <a:effectLst>
                  <a:outerShdw blurRad="38100" dist="38100" dir="2700000" algn="tl">
                    <a:srgbClr val="000000">
                      <a:alpha val="43137"/>
                    </a:srgbClr>
                  </a:outerShdw>
                </a:effectLst>
                <a:latin typeface="Open Sans"/>
              </a:rPr>
              <a:t> framework khác của Python</a:t>
            </a:r>
            <a:endParaRPr sz="2400" i="0" u="none" dirty="0">
              <a:solidFill>
                <a:srgbClr val="2C3E50"/>
              </a:solidFill>
              <a:effectLst>
                <a:outerShdw blurRad="38100" dist="38100" dir="2700000" algn="tl">
                  <a:srgbClr val="000000">
                    <a:alpha val="43137"/>
                  </a:srgbClr>
                </a:outerShdw>
              </a:effectLst>
              <a:latin typeface="Open Sans"/>
            </a:endParaRPr>
          </a:p>
        </p:txBody>
      </p:sp>
    </p:spTree>
    <p:extLst>
      <p:ext uri="{BB962C8B-B14F-4D97-AF65-F5344CB8AC3E}">
        <p14:creationId xmlns:p14="http://schemas.microsoft.com/office/powerpoint/2010/main" val="1994097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2265F-7593-B1B6-2BC5-FD8438794C4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6EA028A-C297-D4A7-7D2D-1ACEAF233017}"/>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EAED685-1040-2D7C-492D-DDD96205B70E}"/>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F2B4E1F-99B0-D3F2-6795-BD20B9A7C8BE}"/>
              </a:ext>
            </a:extLst>
          </p:cNvPr>
          <p:cNvSpPr txBox="1"/>
          <p:nvPr/>
        </p:nvSpPr>
        <p:spPr>
          <a:xfrm>
            <a:off x="967563" y="2646016"/>
            <a:ext cx="10292316" cy="738664"/>
          </a:xfrm>
          <a:prstGeom prst="rect">
            <a:avLst/>
          </a:prstGeom>
          <a:noFill/>
        </p:spPr>
        <p:txBody>
          <a:bodyPr wrap="square" lIns="0" tIns="0" rIns="0" bIns="0" anchor="t">
            <a:spAutoFit/>
          </a:bodyPr>
          <a:lstStyle/>
          <a:p>
            <a:pPr algn="ctr"/>
            <a:r>
              <a:rPr lang="en-US" sz="4800" b="1" dirty="0" err="1">
                <a:solidFill>
                  <a:srgbClr val="0056B3"/>
                </a:solidFill>
                <a:effectLst>
                  <a:outerShdw blurRad="38100" dist="38100" dir="2700000" algn="tl">
                    <a:srgbClr val="000000">
                      <a:alpha val="43137"/>
                    </a:srgbClr>
                  </a:outerShdw>
                </a:effectLst>
                <a:latin typeface="Montserrat"/>
              </a:rPr>
              <a:t>Quá</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trình</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xây</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dựng</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hệ</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thống</a:t>
            </a:r>
            <a:endParaRPr lang="en-US" sz="4800" b="1" dirty="0">
              <a:solidFill>
                <a:srgbClr val="0056B3"/>
              </a:solidFill>
              <a:effectLst>
                <a:outerShdw blurRad="38100" dist="38100" dir="2700000" algn="tl">
                  <a:srgbClr val="000000">
                    <a:alpha val="43137"/>
                  </a:srgbClr>
                </a:outerShdw>
              </a:effectLst>
              <a:latin typeface="Montserrat"/>
            </a:endParaRPr>
          </a:p>
        </p:txBody>
      </p:sp>
      <p:sp>
        <p:nvSpPr>
          <p:cNvPr id="5" name="Rectangle 4">
            <a:extLst>
              <a:ext uri="{FF2B5EF4-FFF2-40B4-BE49-F238E27FC236}">
                <a16:creationId xmlns:a16="http://schemas.microsoft.com/office/drawing/2014/main" id="{A7A41A67-1825-53CB-AC49-636750581333}"/>
              </a:ext>
            </a:extLst>
          </p:cNvPr>
          <p:cNvSpPr/>
          <p:nvPr/>
        </p:nvSpPr>
        <p:spPr>
          <a:xfrm>
            <a:off x="5524500" y="3517552"/>
            <a:ext cx="1143000" cy="5715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68510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4375" y="647700"/>
            <a:ext cx="11451431" cy="495300"/>
          </a:xfrm>
          <a:prstGeom prst="rect">
            <a:avLst/>
          </a:prstGeom>
          <a:noFill/>
        </p:spPr>
        <p:txBody>
          <a:bodyPr wrap="square" lIns="0" tIns="0" rIns="0" bIns="0" anchor="t">
            <a:spAutoFit/>
          </a:bodyPr>
          <a:lstStyle/>
          <a:p>
            <a:pPr algn="l"/>
            <a:r>
              <a:rPr sz="3150" b="1" i="0" u="none" dirty="0" err="1">
                <a:solidFill>
                  <a:srgbClr val="0056B3"/>
                </a:solidFill>
                <a:effectLst>
                  <a:outerShdw blurRad="38100" dist="38100" dir="2700000" algn="tl">
                    <a:srgbClr val="000000">
                      <a:alpha val="43137"/>
                    </a:srgbClr>
                  </a:outerShdw>
                </a:effectLst>
                <a:latin typeface="Montserrat"/>
              </a:rPr>
              <a:t>Bài</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toán</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nhận</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biết</a:t>
            </a:r>
            <a:r>
              <a:rPr sz="3150" b="1" i="0" u="none" dirty="0">
                <a:solidFill>
                  <a:srgbClr val="0056B3"/>
                </a:solidFill>
                <a:effectLst>
                  <a:outerShdw blurRad="38100" dist="38100" dir="2700000" algn="tl">
                    <a:srgbClr val="000000">
                      <a:alpha val="43137"/>
                    </a:srgbClr>
                  </a:outerShdw>
                </a:effectLst>
                <a:latin typeface="Montserrat"/>
              </a:rPr>
              <a:t> </a:t>
            </a:r>
            <a:r>
              <a:rPr lang="en-US" sz="3150" b="1" dirty="0" err="1">
                <a:solidFill>
                  <a:srgbClr val="0056B3"/>
                </a:solidFill>
                <a:effectLst>
                  <a:outerShdw blurRad="38100" dist="38100" dir="2700000" algn="tl">
                    <a:srgbClr val="000000">
                      <a:alpha val="43137"/>
                    </a:srgbClr>
                  </a:outerShdw>
                </a:effectLst>
                <a:latin typeface="Montserrat"/>
              </a:rPr>
              <a:t>c</a:t>
            </a:r>
            <a:r>
              <a:rPr sz="3150" b="1" i="0" u="none" dirty="0" err="1">
                <a:solidFill>
                  <a:srgbClr val="0056B3"/>
                </a:solidFill>
                <a:effectLst>
                  <a:outerShdw blurRad="38100" dist="38100" dir="2700000" algn="tl">
                    <a:srgbClr val="000000">
                      <a:alpha val="43137"/>
                    </a:srgbClr>
                  </a:outerShdw>
                </a:effectLst>
                <a:latin typeface="Montserrat"/>
              </a:rPr>
              <a:t>ờ</a:t>
            </a:r>
            <a:r>
              <a:rPr sz="3150" b="1" i="0" u="none" dirty="0">
                <a:solidFill>
                  <a:srgbClr val="0056B3"/>
                </a:solidFill>
                <a:effectLst>
                  <a:outerShdw blurRad="38100" dist="38100" dir="2700000" algn="tl">
                    <a:srgbClr val="000000">
                      <a:alpha val="43137"/>
                    </a:srgbClr>
                  </a:outerShdw>
                </a:effectLst>
                <a:latin typeface="Montserrat"/>
              </a:rPr>
              <a:t> Shogi</a:t>
            </a:r>
          </a:p>
        </p:txBody>
      </p:sp>
      <p:sp>
        <p:nvSpPr>
          <p:cNvPr id="6" name="Rectangle 5"/>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hogi – Wikipedia tiếng Việt">
            <a:extLst>
              <a:ext uri="{FF2B5EF4-FFF2-40B4-BE49-F238E27FC236}">
                <a16:creationId xmlns:a16="http://schemas.microsoft.com/office/drawing/2014/main" id="{07060E9A-708C-476D-C7DB-651ED012AC9F}"/>
              </a:ext>
            </a:extLst>
          </p:cNvPr>
          <p:cNvPicPr>
            <a:picLocks noChangeAspect="1"/>
          </p:cNvPicPr>
          <p:nvPr/>
        </p:nvPicPr>
        <p:blipFill>
          <a:blip r:embed="rId2"/>
          <a:stretch>
            <a:fillRect/>
          </a:stretch>
        </p:blipFill>
        <p:spPr>
          <a:xfrm>
            <a:off x="6768529" y="1648586"/>
            <a:ext cx="5175621" cy="3560827"/>
          </a:xfrm>
          <a:prstGeom prst="rect">
            <a:avLst/>
          </a:prstGeom>
          <a:ln>
            <a:noFill/>
          </a:ln>
          <a:effectLst>
            <a:outerShdw blurRad="292100" dist="139700" dir="2700000" algn="tl" rotWithShape="0">
              <a:srgbClr val="333333">
                <a:alpha val="65000"/>
              </a:srgbClr>
            </a:outerShdw>
          </a:effectLst>
        </p:spPr>
      </p:pic>
      <p:sp>
        <p:nvSpPr>
          <p:cNvPr id="16" name="TextBox 15">
            <a:extLst>
              <a:ext uri="{FF2B5EF4-FFF2-40B4-BE49-F238E27FC236}">
                <a16:creationId xmlns:a16="http://schemas.microsoft.com/office/drawing/2014/main" id="{977378E0-6A2A-E55E-EF39-A02ABBFF4091}"/>
              </a:ext>
            </a:extLst>
          </p:cNvPr>
          <p:cNvSpPr txBox="1"/>
          <p:nvPr/>
        </p:nvSpPr>
        <p:spPr>
          <a:xfrm>
            <a:off x="565740" y="1453319"/>
            <a:ext cx="6037079" cy="3264933"/>
          </a:xfrm>
          <a:prstGeom prst="rect">
            <a:avLst/>
          </a:prstGeom>
          <a:noFill/>
        </p:spPr>
        <p:txBody>
          <a:bodyPr wrap="square" lIns="0" tIns="0" rIns="0" bIns="0" anchor="t">
            <a:spAutoFit/>
          </a:bodyPr>
          <a:lstStyle/>
          <a:p>
            <a:pPr marL="342900" indent="-342900" algn="l">
              <a:lnSpc>
                <a:spcPct val="150000"/>
              </a:lnSpc>
              <a:buFont typeface="Wingdings" panose="05000000000000000000" pitchFamily="2" charset="2"/>
              <a:buChar char="q"/>
            </a:pPr>
            <a:r>
              <a:rPr lang="en-US" sz="2400" dirty="0" err="1">
                <a:solidFill>
                  <a:srgbClr val="2C3E50"/>
                </a:solidFill>
                <a:effectLst>
                  <a:outerShdw blurRad="38100" dist="38100" dir="2700000" algn="tl">
                    <a:srgbClr val="000000">
                      <a:alpha val="43137"/>
                    </a:srgbClr>
                  </a:outerShdw>
                </a:effectLst>
                <a:latin typeface="Open Sans"/>
              </a:rPr>
              <a:t>Chứng</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minh</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tính</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có</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thể</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mở</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rộng</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của</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hệ</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thống</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thông</a:t>
            </a:r>
            <a:r>
              <a:rPr lang="en-US" sz="2400" dirty="0">
                <a:solidFill>
                  <a:srgbClr val="2C3E50"/>
                </a:solidFill>
                <a:effectLst>
                  <a:outerShdw blurRad="38100" dist="38100" dir="2700000" algn="tl">
                    <a:srgbClr val="000000">
                      <a:alpha val="43137"/>
                    </a:srgbClr>
                  </a:outerShdw>
                </a:effectLst>
                <a:latin typeface="Open Sans"/>
              </a:rPr>
              <a:t> qua </a:t>
            </a:r>
            <a:r>
              <a:rPr lang="en-US" sz="2400" dirty="0" err="1">
                <a:solidFill>
                  <a:srgbClr val="2C3E50"/>
                </a:solidFill>
                <a:effectLst>
                  <a:outerShdw blurRad="38100" dist="38100" dir="2700000" algn="tl">
                    <a:srgbClr val="000000">
                      <a:alpha val="43137"/>
                    </a:srgbClr>
                  </a:outerShdw>
                </a:effectLst>
                <a:latin typeface="Open Sans"/>
              </a:rPr>
              <a:t>một</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tập</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dữ</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liệu</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mang</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tính</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đặc</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thù</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cao</a:t>
            </a:r>
            <a:endParaRPr lang="en-US" sz="2400" dirty="0">
              <a:solidFill>
                <a:srgbClr val="2C3E50"/>
              </a:solidFill>
              <a:effectLst>
                <a:outerShdw blurRad="38100" dist="38100" dir="2700000" algn="tl">
                  <a:srgbClr val="000000">
                    <a:alpha val="43137"/>
                  </a:srgbClr>
                </a:outerShdw>
              </a:effectLst>
              <a:latin typeface="Open Sans"/>
            </a:endParaRPr>
          </a:p>
          <a:p>
            <a:pPr marL="342900" indent="-342900" algn="l">
              <a:lnSpc>
                <a:spcPct val="150000"/>
              </a:lnSpc>
              <a:buFont typeface="Wingdings" panose="05000000000000000000" pitchFamily="2" charset="2"/>
              <a:buChar char="q"/>
            </a:pPr>
            <a:r>
              <a:rPr lang="vi-VN" sz="2400" i="0" u="none" dirty="0">
                <a:solidFill>
                  <a:srgbClr val="2C3E50"/>
                </a:solidFill>
                <a:effectLst>
                  <a:outerShdw blurRad="38100" dist="38100" dir="2700000" algn="tl">
                    <a:srgbClr val="000000">
                      <a:alpha val="43137"/>
                    </a:srgbClr>
                  </a:outerShdw>
                </a:effectLst>
                <a:latin typeface="Open Sans"/>
              </a:rPr>
              <a:t>Yêu cầu mô hình giữ độ ổn định trước các biến thiên phức tạp về góc quay camera và cường độ chiếu sáng thực tế</a:t>
            </a:r>
            <a:endParaRPr sz="2400" i="0" u="none" dirty="0">
              <a:solidFill>
                <a:srgbClr val="2C3E50"/>
              </a:solidFill>
              <a:effectLst>
                <a:outerShdw blurRad="38100" dist="38100" dir="2700000" algn="tl">
                  <a:srgbClr val="000000">
                    <a:alpha val="43137"/>
                  </a:srgbClr>
                </a:outerShdw>
              </a:effectLst>
              <a:latin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2400300"/>
            <a:ext cx="5286375" cy="2933700"/>
          </a:xfrm>
          <a:prstGeom prst="rect">
            <a:avLst/>
          </a:prstGeom>
        </p:spPr>
      </p:pic>
      <p:pic>
        <p:nvPicPr>
          <p:cNvPr id="3" name="Picture 2" descr="image.png"/>
          <p:cNvPicPr>
            <a:picLocks noChangeAspect="1"/>
          </p:cNvPicPr>
          <p:nvPr/>
        </p:nvPicPr>
        <p:blipFill>
          <a:blip r:embed="rId3"/>
          <a:stretch>
            <a:fillRect/>
          </a:stretch>
        </p:blipFill>
        <p:spPr>
          <a:xfrm>
            <a:off x="6334125" y="2400300"/>
            <a:ext cx="5286375" cy="2933700"/>
          </a:xfrm>
          <a:prstGeom prst="rect">
            <a:avLst/>
          </a:prstGeom>
        </p:spPr>
      </p:pic>
      <p:sp>
        <p:nvSpPr>
          <p:cNvPr id="4" name="Rectangle 3"/>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4375" y="647700"/>
            <a:ext cx="11451431" cy="495300"/>
          </a:xfrm>
          <a:prstGeom prst="rect">
            <a:avLst/>
          </a:prstGeom>
          <a:noFill/>
        </p:spPr>
        <p:txBody>
          <a:bodyPr wrap="square" lIns="0" tIns="0" rIns="0" bIns="0" anchor="t">
            <a:spAutoFit/>
          </a:bodyPr>
          <a:lstStyle/>
          <a:p>
            <a:pPr algn="l"/>
            <a:r>
              <a:rPr sz="3150" b="1" i="0" u="none" dirty="0" err="1">
                <a:solidFill>
                  <a:srgbClr val="0056B3"/>
                </a:solidFill>
                <a:effectLst>
                  <a:outerShdw blurRad="38100" dist="38100" dir="2700000" algn="tl">
                    <a:srgbClr val="000000">
                      <a:alpha val="43137"/>
                    </a:srgbClr>
                  </a:outerShdw>
                </a:effectLst>
                <a:latin typeface="Montserrat"/>
              </a:rPr>
              <a:t>Tại</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sao</a:t>
            </a:r>
            <a:r>
              <a:rPr sz="3150" b="1" i="0" u="none" dirty="0">
                <a:solidFill>
                  <a:srgbClr val="0056B3"/>
                </a:solidFill>
                <a:effectLst>
                  <a:outerShdw blurRad="38100" dist="38100" dir="2700000" algn="tl">
                    <a:srgbClr val="000000">
                      <a:alpha val="43137"/>
                    </a:srgbClr>
                  </a:outerShdw>
                </a:effectLst>
                <a:latin typeface="Montserrat"/>
              </a:rPr>
              <a:t> </a:t>
            </a:r>
            <a:r>
              <a:rPr lang="en-US" sz="3150" b="1" i="0" u="none" dirty="0" err="1">
                <a:solidFill>
                  <a:srgbClr val="0056B3"/>
                </a:solidFill>
                <a:effectLst>
                  <a:outerShdw blurRad="38100" dist="38100" dir="2700000" algn="tl">
                    <a:srgbClr val="000000">
                      <a:alpha val="43137"/>
                    </a:srgbClr>
                  </a:outerShdw>
                </a:effectLst>
                <a:latin typeface="Montserrat"/>
              </a:rPr>
              <a:t>nhận</a:t>
            </a:r>
            <a:r>
              <a:rPr lang="en-US" sz="3150" b="1" i="0" u="none" dirty="0">
                <a:solidFill>
                  <a:srgbClr val="0056B3"/>
                </a:solidFill>
                <a:effectLst>
                  <a:outerShdw blurRad="38100" dist="38100" dir="2700000" algn="tl">
                    <a:srgbClr val="000000">
                      <a:alpha val="43137"/>
                    </a:srgbClr>
                  </a:outerShdw>
                </a:effectLst>
                <a:latin typeface="Montserrat"/>
              </a:rPr>
              <a:t> </a:t>
            </a:r>
            <a:r>
              <a:rPr lang="en-US" sz="3150" b="1" i="0" u="none" dirty="0" err="1">
                <a:solidFill>
                  <a:srgbClr val="0056B3"/>
                </a:solidFill>
                <a:effectLst>
                  <a:outerShdw blurRad="38100" dist="38100" dir="2700000" algn="tl">
                    <a:srgbClr val="000000">
                      <a:alpha val="43137"/>
                    </a:srgbClr>
                  </a:outerShdw>
                </a:effectLst>
                <a:latin typeface="Montserrat"/>
              </a:rPr>
              <a:t>biết</a:t>
            </a:r>
            <a:r>
              <a:rPr lang="en-US" sz="3150" b="1" i="0" u="none" dirty="0">
                <a:solidFill>
                  <a:srgbClr val="0056B3"/>
                </a:solidFill>
                <a:effectLst>
                  <a:outerShdw blurRad="38100" dist="38100" dir="2700000" algn="tl">
                    <a:srgbClr val="000000">
                      <a:alpha val="43137"/>
                    </a:srgbClr>
                  </a:outerShdw>
                </a:effectLst>
                <a:latin typeface="Montserrat"/>
              </a:rPr>
              <a:t> </a:t>
            </a:r>
            <a:r>
              <a:rPr lang="en-US" sz="3150" b="1" i="0" u="none" dirty="0" err="1">
                <a:solidFill>
                  <a:srgbClr val="0056B3"/>
                </a:solidFill>
                <a:effectLst>
                  <a:outerShdw blurRad="38100" dist="38100" dir="2700000" algn="tl">
                    <a:srgbClr val="000000">
                      <a:alpha val="43137"/>
                    </a:srgbClr>
                  </a:outerShdw>
                </a:effectLst>
                <a:latin typeface="Montserrat"/>
              </a:rPr>
              <a:t>cờ</a:t>
            </a:r>
            <a:r>
              <a:rPr lang="en-US" sz="3150" b="1" i="0" u="none" dirty="0">
                <a:solidFill>
                  <a:srgbClr val="0056B3"/>
                </a:solidFill>
                <a:effectLst>
                  <a:outerShdw blurRad="38100" dist="38100" dir="2700000" algn="tl">
                    <a:srgbClr val="000000">
                      <a:alpha val="43137"/>
                    </a:srgbClr>
                  </a:outerShdw>
                </a:effectLst>
                <a:latin typeface="Montserrat"/>
              </a:rPr>
              <a:t> Shogi</a:t>
            </a:r>
            <a:r>
              <a:rPr sz="3150" b="1" i="0" u="none" dirty="0">
                <a:solidFill>
                  <a:srgbClr val="0056B3"/>
                </a:solidFill>
                <a:effectLst>
                  <a:outerShdw blurRad="38100" dist="38100" dir="2700000" algn="tl">
                    <a:srgbClr val="000000">
                      <a:alpha val="43137"/>
                    </a:srgbClr>
                  </a:outerShdw>
                </a:effectLst>
                <a:latin typeface="Montserrat"/>
              </a:rPr>
              <a:t>?</a:t>
            </a:r>
          </a:p>
        </p:txBody>
      </p:sp>
      <p:sp>
        <p:nvSpPr>
          <p:cNvPr id="7" name="Rectangle 6"/>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52500" y="2819400"/>
            <a:ext cx="4750593" cy="369332"/>
          </a:xfrm>
          <a:prstGeom prst="rect">
            <a:avLst/>
          </a:prstGeom>
          <a:noFill/>
        </p:spPr>
        <p:txBody>
          <a:bodyPr wrap="square" lIns="266700" tIns="0" rIns="0" bIns="0" anchor="t">
            <a:spAutoFit/>
          </a:bodyPr>
          <a:lstStyle/>
          <a:p>
            <a:pPr algn="l"/>
            <a:r>
              <a:rPr sz="2400" b="1" i="0" u="none" dirty="0" err="1">
                <a:solidFill>
                  <a:srgbClr val="004494"/>
                </a:solidFill>
                <a:effectLst>
                  <a:outerShdw blurRad="38100" dist="38100" dir="2700000" algn="tl">
                    <a:srgbClr val="000000">
                      <a:alpha val="43137"/>
                    </a:srgbClr>
                  </a:outerShdw>
                </a:effectLst>
                <a:latin typeface="Montserrat"/>
              </a:rPr>
              <a:t>Đặc</a:t>
            </a:r>
            <a:r>
              <a:rPr sz="2400" b="1" i="0" u="none" dirty="0">
                <a:solidFill>
                  <a:srgbClr val="004494"/>
                </a:solidFill>
                <a:effectLst>
                  <a:outerShdw blurRad="38100" dist="38100" dir="2700000" algn="tl">
                    <a:srgbClr val="000000">
                      <a:alpha val="43137"/>
                    </a:srgbClr>
                  </a:outerShdw>
                </a:effectLst>
                <a:latin typeface="Montserrat"/>
              </a:rPr>
              <a:t> </a:t>
            </a:r>
            <a:r>
              <a:rPr sz="2400" b="1" i="0" u="none" dirty="0" err="1">
                <a:solidFill>
                  <a:srgbClr val="004494"/>
                </a:solidFill>
                <a:effectLst>
                  <a:outerShdw blurRad="38100" dist="38100" dir="2700000" algn="tl">
                    <a:srgbClr val="000000">
                      <a:alpha val="43137"/>
                    </a:srgbClr>
                  </a:outerShdw>
                </a:effectLst>
                <a:latin typeface="Montserrat"/>
              </a:rPr>
              <a:t>thù</a:t>
            </a:r>
            <a:r>
              <a:rPr sz="2400" b="1" i="0" u="none" dirty="0">
                <a:solidFill>
                  <a:srgbClr val="004494"/>
                </a:solidFill>
                <a:effectLst>
                  <a:outerShdw blurRad="38100" dist="38100" dir="2700000" algn="tl">
                    <a:srgbClr val="000000">
                      <a:alpha val="43137"/>
                    </a:srgbClr>
                  </a:outerShdw>
                </a:effectLst>
                <a:latin typeface="Montserrat"/>
              </a:rPr>
              <a:t> </a:t>
            </a:r>
            <a:r>
              <a:rPr sz="2400" b="1" i="0" u="none" dirty="0" err="1">
                <a:solidFill>
                  <a:srgbClr val="004494"/>
                </a:solidFill>
                <a:effectLst>
                  <a:outerShdw blurRad="38100" dist="38100" dir="2700000" algn="tl">
                    <a:srgbClr val="000000">
                      <a:alpha val="43137"/>
                    </a:srgbClr>
                  </a:outerShdw>
                </a:effectLst>
                <a:latin typeface="Montserrat"/>
              </a:rPr>
              <a:t>của</a:t>
            </a:r>
            <a:r>
              <a:rPr sz="2400" b="1" i="0" u="none" dirty="0">
                <a:solidFill>
                  <a:srgbClr val="004494"/>
                </a:solidFill>
                <a:effectLst>
                  <a:outerShdw blurRad="38100" dist="38100" dir="2700000" algn="tl">
                    <a:srgbClr val="000000">
                      <a:alpha val="43137"/>
                    </a:srgbClr>
                  </a:outerShdw>
                </a:effectLst>
                <a:latin typeface="Montserrat"/>
              </a:rPr>
              <a:t> </a:t>
            </a:r>
            <a:r>
              <a:rPr sz="2400" b="1" i="0" u="none" dirty="0" err="1">
                <a:solidFill>
                  <a:srgbClr val="004494"/>
                </a:solidFill>
                <a:effectLst>
                  <a:outerShdw blurRad="38100" dist="38100" dir="2700000" algn="tl">
                    <a:srgbClr val="000000">
                      <a:alpha val="43137"/>
                    </a:srgbClr>
                  </a:outerShdw>
                </a:effectLst>
                <a:latin typeface="Montserrat"/>
              </a:rPr>
              <a:t>đối</a:t>
            </a:r>
            <a:r>
              <a:rPr sz="2400" b="1" i="0" u="none" dirty="0">
                <a:solidFill>
                  <a:srgbClr val="004494"/>
                </a:solidFill>
                <a:effectLst>
                  <a:outerShdw blurRad="38100" dist="38100" dir="2700000" algn="tl">
                    <a:srgbClr val="000000">
                      <a:alpha val="43137"/>
                    </a:srgbClr>
                  </a:outerShdw>
                </a:effectLst>
                <a:latin typeface="Montserrat"/>
              </a:rPr>
              <a:t> </a:t>
            </a:r>
            <a:r>
              <a:rPr sz="2400" b="1" i="0" u="none" dirty="0" err="1">
                <a:solidFill>
                  <a:srgbClr val="004494"/>
                </a:solidFill>
                <a:effectLst>
                  <a:outerShdw blurRad="38100" dist="38100" dir="2700000" algn="tl">
                    <a:srgbClr val="000000">
                      <a:alpha val="43137"/>
                    </a:srgbClr>
                  </a:outerShdw>
                </a:effectLst>
                <a:latin typeface="Montserrat"/>
              </a:rPr>
              <a:t>tượng</a:t>
            </a:r>
            <a:endParaRPr sz="2400" b="1" i="0" u="none" dirty="0">
              <a:solidFill>
                <a:srgbClr val="004494"/>
              </a:solidFill>
              <a:effectLst>
                <a:outerShdw blurRad="38100" dist="38100" dir="2700000" algn="tl">
                  <a:srgbClr val="000000">
                    <a:alpha val="43137"/>
                  </a:srgbClr>
                </a:outerShdw>
              </a:effectLst>
              <a:latin typeface="Montserrat"/>
            </a:endParaRPr>
          </a:p>
        </p:txBody>
      </p:sp>
      <p:sp>
        <p:nvSpPr>
          <p:cNvPr id="9" name="TextBox 8"/>
          <p:cNvSpPr txBox="1"/>
          <p:nvPr/>
        </p:nvSpPr>
        <p:spPr>
          <a:xfrm>
            <a:off x="952500" y="3286125"/>
            <a:ext cx="4524375" cy="615553"/>
          </a:xfrm>
          <a:prstGeom prst="rect">
            <a:avLst/>
          </a:prstGeom>
          <a:noFill/>
        </p:spPr>
        <p:txBody>
          <a:bodyPr wrap="square" lIns="0" tIns="0" rIns="0" bIns="0" anchor="t">
            <a:spAutoFit/>
          </a:bodyPr>
          <a:lstStyle/>
          <a:p>
            <a:pPr>
              <a:lnSpc>
                <a:spcPts val="2400"/>
              </a:lnSpc>
            </a:pPr>
            <a:r>
              <a:rPr lang="en-US" sz="20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Các </a:t>
            </a:r>
            <a:r>
              <a:rPr lang="en-US" sz="20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đối</a:t>
            </a:r>
            <a:r>
              <a:rPr lang="en-US" sz="20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0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tượng</a:t>
            </a:r>
            <a:r>
              <a:rPr lang="en-US" sz="20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0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đồng</a:t>
            </a:r>
            <a:r>
              <a:rPr lang="en-US" sz="20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0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nhất</a:t>
            </a:r>
            <a:r>
              <a:rPr lang="en-US" sz="20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0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tuyệt</a:t>
            </a:r>
            <a:r>
              <a:rPr lang="en-US" sz="20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0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đối</a:t>
            </a:r>
            <a:r>
              <a:rPr lang="en-US" sz="20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0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về</a:t>
            </a:r>
            <a:r>
              <a:rPr lang="en-US" sz="20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0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cấu</a:t>
            </a:r>
            <a:r>
              <a:rPr lang="en-US" sz="20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0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trúc</a:t>
            </a:r>
            <a:r>
              <a:rPr lang="en-US" sz="20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0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đa</a:t>
            </a:r>
            <a:r>
              <a:rPr lang="en-US" sz="2000" dirty="0">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 </a:t>
            </a:r>
            <a:r>
              <a:rPr lang="en-US" sz="2000" dirty="0" err="1">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giác</a:t>
            </a:r>
            <a:endParaRPr sz="2000" b="0" i="0" u="none" dirty="0">
              <a:solidFill>
                <a:srgbClr val="2C3E50"/>
              </a:solidFill>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p:cNvSpPr txBox="1"/>
          <p:nvPr/>
        </p:nvSpPr>
        <p:spPr>
          <a:xfrm>
            <a:off x="6715125" y="2819400"/>
            <a:ext cx="4750593" cy="369332"/>
          </a:xfrm>
          <a:prstGeom prst="rect">
            <a:avLst/>
          </a:prstGeom>
          <a:noFill/>
        </p:spPr>
        <p:txBody>
          <a:bodyPr wrap="square" lIns="238125" tIns="0" rIns="0" bIns="0" anchor="t">
            <a:spAutoFit/>
          </a:bodyPr>
          <a:lstStyle/>
          <a:p>
            <a:pPr algn="l"/>
            <a:r>
              <a:rPr sz="2400" b="1" i="0" u="none" dirty="0" err="1">
                <a:solidFill>
                  <a:srgbClr val="004494"/>
                </a:solidFill>
                <a:effectLst>
                  <a:outerShdw blurRad="38100" dist="38100" dir="2700000" algn="tl">
                    <a:srgbClr val="000000">
                      <a:alpha val="43137"/>
                    </a:srgbClr>
                  </a:outerShdw>
                </a:effectLst>
                <a:latin typeface="Montserrat"/>
              </a:rPr>
              <a:t>Mật</a:t>
            </a:r>
            <a:r>
              <a:rPr sz="2400" b="1" i="0" u="none" dirty="0">
                <a:solidFill>
                  <a:srgbClr val="004494"/>
                </a:solidFill>
                <a:effectLst>
                  <a:outerShdw blurRad="38100" dist="38100" dir="2700000" algn="tl">
                    <a:srgbClr val="000000">
                      <a:alpha val="43137"/>
                    </a:srgbClr>
                  </a:outerShdw>
                </a:effectLst>
                <a:latin typeface="Montserrat"/>
              </a:rPr>
              <a:t> </a:t>
            </a:r>
            <a:r>
              <a:rPr sz="2400" b="1" i="0" u="none" dirty="0" err="1">
                <a:solidFill>
                  <a:srgbClr val="004494"/>
                </a:solidFill>
                <a:effectLst>
                  <a:outerShdw blurRad="38100" dist="38100" dir="2700000" algn="tl">
                    <a:srgbClr val="000000">
                      <a:alpha val="43137"/>
                    </a:srgbClr>
                  </a:outerShdw>
                </a:effectLst>
                <a:latin typeface="Montserrat"/>
              </a:rPr>
              <a:t>độ</a:t>
            </a:r>
            <a:r>
              <a:rPr sz="2400" b="1" i="0" u="none" dirty="0">
                <a:solidFill>
                  <a:srgbClr val="004494"/>
                </a:solidFill>
                <a:effectLst>
                  <a:outerShdw blurRad="38100" dist="38100" dir="2700000" algn="tl">
                    <a:srgbClr val="000000">
                      <a:alpha val="43137"/>
                    </a:srgbClr>
                  </a:outerShdw>
                </a:effectLst>
                <a:latin typeface="Montserrat"/>
              </a:rPr>
              <a:t> &amp; </a:t>
            </a:r>
            <a:r>
              <a:rPr lang="en-US" sz="2400" b="1" dirty="0" err="1">
                <a:solidFill>
                  <a:srgbClr val="004494"/>
                </a:solidFill>
                <a:effectLst>
                  <a:outerShdw blurRad="38100" dist="38100" dir="2700000" algn="tl">
                    <a:srgbClr val="000000">
                      <a:alpha val="43137"/>
                    </a:srgbClr>
                  </a:outerShdw>
                </a:effectLst>
                <a:latin typeface="Montserrat"/>
              </a:rPr>
              <a:t>k</a:t>
            </a:r>
            <a:r>
              <a:rPr sz="2400" b="1" i="0" u="none" dirty="0" err="1">
                <a:solidFill>
                  <a:srgbClr val="004494"/>
                </a:solidFill>
                <a:effectLst>
                  <a:outerShdw blurRad="38100" dist="38100" dir="2700000" algn="tl">
                    <a:srgbClr val="000000">
                      <a:alpha val="43137"/>
                    </a:srgbClr>
                  </a:outerShdw>
                </a:effectLst>
                <a:latin typeface="Montserrat"/>
              </a:rPr>
              <a:t>ích</a:t>
            </a:r>
            <a:r>
              <a:rPr sz="2400" b="1" i="0" u="none" dirty="0">
                <a:solidFill>
                  <a:srgbClr val="004494"/>
                </a:solidFill>
                <a:effectLst>
                  <a:outerShdw blurRad="38100" dist="38100" dir="2700000" algn="tl">
                    <a:srgbClr val="000000">
                      <a:alpha val="43137"/>
                    </a:srgbClr>
                  </a:outerShdw>
                </a:effectLst>
                <a:latin typeface="Montserrat"/>
              </a:rPr>
              <a:t> </a:t>
            </a:r>
            <a:r>
              <a:rPr sz="2400" b="1" i="0" u="none" dirty="0" err="1">
                <a:solidFill>
                  <a:srgbClr val="004494"/>
                </a:solidFill>
                <a:effectLst>
                  <a:outerShdw blurRad="38100" dist="38100" dir="2700000" algn="tl">
                    <a:srgbClr val="000000">
                      <a:alpha val="43137"/>
                    </a:srgbClr>
                  </a:outerShdw>
                </a:effectLst>
                <a:latin typeface="Montserrat"/>
              </a:rPr>
              <a:t>thước</a:t>
            </a:r>
            <a:endParaRPr sz="2400" b="1" i="0" u="none" dirty="0">
              <a:solidFill>
                <a:srgbClr val="004494"/>
              </a:solidFill>
              <a:effectLst>
                <a:outerShdw blurRad="38100" dist="38100" dir="2700000" algn="tl">
                  <a:srgbClr val="000000">
                    <a:alpha val="43137"/>
                  </a:srgbClr>
                </a:outerShdw>
              </a:effectLst>
              <a:latin typeface="Montserrat"/>
            </a:endParaRPr>
          </a:p>
        </p:txBody>
      </p:sp>
      <p:sp>
        <p:nvSpPr>
          <p:cNvPr id="11" name="TextBox 10"/>
          <p:cNvSpPr txBox="1"/>
          <p:nvPr/>
        </p:nvSpPr>
        <p:spPr>
          <a:xfrm>
            <a:off x="6715125" y="3286125"/>
            <a:ext cx="4524375" cy="2259145"/>
          </a:xfrm>
          <a:prstGeom prst="rect">
            <a:avLst/>
          </a:prstGeom>
          <a:noFill/>
        </p:spPr>
        <p:txBody>
          <a:bodyPr wrap="square" lIns="0" tIns="0" rIns="0" bIns="0" anchor="t">
            <a:spAutoFit/>
          </a:bodyPr>
          <a:lstStyle/>
          <a:p>
            <a:pPr algn="l">
              <a:lnSpc>
                <a:spcPct val="150000"/>
              </a:lnSpc>
            </a:pPr>
            <a:r>
              <a:rPr sz="2000" b="0" i="0" u="none" dirty="0">
                <a:solidFill>
                  <a:srgbClr val="2C3E50"/>
                </a:solidFill>
                <a:effectLst>
                  <a:outerShdw blurRad="38100" dist="38100" dir="2700000" algn="tl">
                    <a:srgbClr val="000000">
                      <a:alpha val="43137"/>
                    </a:srgbClr>
                  </a:outerShdw>
                </a:effectLst>
                <a:latin typeface="Open Sans"/>
              </a:rPr>
              <a:t>Trong </a:t>
            </a:r>
            <a:r>
              <a:rPr lang="en-US" sz="2000" dirty="0">
                <a:solidFill>
                  <a:srgbClr val="2C3E50"/>
                </a:solidFill>
                <a:effectLst>
                  <a:outerShdw blurRad="38100" dist="38100" dir="2700000" algn="tl">
                    <a:srgbClr val="000000">
                      <a:alpha val="43137"/>
                    </a:srgbClr>
                  </a:outerShdw>
                </a:effectLst>
                <a:latin typeface="Open Sans"/>
              </a:rPr>
              <a:t>1</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ván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đấu</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có</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sự</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xuất</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hiện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dày</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đặc</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của</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các</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đối</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tượng</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nhỏ</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liền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kề</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nhau</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trên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một</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bàn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cờ</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giới</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hạn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Đây</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là</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bài</a:t>
            </a:r>
            <a:r>
              <a:rPr sz="2000" b="0" i="0" u="none" dirty="0">
                <a:solidFill>
                  <a:srgbClr val="2C3E50"/>
                </a:solidFill>
                <a:effectLst>
                  <a:outerShdw blurRad="38100" dist="38100" dir="2700000" algn="tl">
                    <a:srgbClr val="000000">
                      <a:alpha val="43137"/>
                    </a:srgbClr>
                  </a:outerShdw>
                </a:effectLst>
                <a:latin typeface="Open Sans"/>
              </a:rPr>
              <a:t> test </a:t>
            </a:r>
            <a:r>
              <a:rPr sz="2000" b="0" i="0" u="none" dirty="0" err="1">
                <a:solidFill>
                  <a:srgbClr val="2C3E50"/>
                </a:solidFill>
                <a:effectLst>
                  <a:outerShdw blurRad="38100" dist="38100" dir="2700000" algn="tl">
                    <a:srgbClr val="000000">
                      <a:alpha val="43137"/>
                    </a:srgbClr>
                  </a:outerShdw>
                </a:effectLst>
                <a:latin typeface="Open Sans"/>
              </a:rPr>
              <a:t>hoàn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hảo</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cho</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khả</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năng</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phát</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hiện</a:t>
            </a:r>
            <a:r>
              <a:rPr sz="2000" b="0" i="0" u="none" dirty="0">
                <a:solidFill>
                  <a:srgbClr val="2C3E50"/>
                </a:solidFill>
                <a:effectLst>
                  <a:outerShdw blurRad="38100" dist="38100" dir="2700000" algn="tl">
                    <a:srgbClr val="000000">
                      <a:alpha val="43137"/>
                    </a:srgbClr>
                  </a:outerShdw>
                </a:effectLst>
                <a:latin typeface="Open Sans"/>
              </a:rPr>
              <a:t> </a:t>
            </a:r>
            <a:r>
              <a:rPr lang="en-US" sz="2000" dirty="0" err="1">
                <a:solidFill>
                  <a:srgbClr val="2C3E50"/>
                </a:solidFill>
                <a:effectLst>
                  <a:outerShdw blurRad="38100" dist="38100" dir="2700000" algn="tl">
                    <a:srgbClr val="000000">
                      <a:alpha val="43137"/>
                    </a:srgbClr>
                  </a:outerShdw>
                </a:effectLst>
                <a:latin typeface="Open Sans"/>
              </a:rPr>
              <a:t>đối</a:t>
            </a:r>
            <a:r>
              <a:rPr lang="en-US" sz="2000" dirty="0">
                <a:solidFill>
                  <a:srgbClr val="2C3E50"/>
                </a:solidFill>
                <a:effectLst>
                  <a:outerShdw blurRad="38100" dist="38100" dir="2700000" algn="tl">
                    <a:srgbClr val="000000">
                      <a:alpha val="43137"/>
                    </a:srgbClr>
                  </a:outerShdw>
                </a:effectLst>
                <a:latin typeface="Open Sans"/>
              </a:rPr>
              <a:t> </a:t>
            </a:r>
            <a:r>
              <a:rPr lang="en-US" sz="2000" dirty="0" err="1">
                <a:solidFill>
                  <a:srgbClr val="2C3E50"/>
                </a:solidFill>
                <a:effectLst>
                  <a:outerShdw blurRad="38100" dist="38100" dir="2700000" algn="tl">
                    <a:srgbClr val="000000">
                      <a:alpha val="43137"/>
                    </a:srgbClr>
                  </a:outerShdw>
                </a:effectLst>
                <a:latin typeface="Open Sans"/>
              </a:rPr>
              <a:t>tượng</a:t>
            </a:r>
            <a:r>
              <a:rPr lang="en-US" sz="2000" dirty="0">
                <a:solidFill>
                  <a:srgbClr val="2C3E50"/>
                </a:solidFill>
                <a:effectLst>
                  <a:outerShdw blurRad="38100" dist="38100" dir="2700000" algn="tl">
                    <a:srgbClr val="000000">
                      <a:alpha val="43137"/>
                    </a:srgbClr>
                  </a:outerShdw>
                </a:effectLst>
                <a:latin typeface="Open Sans"/>
              </a:rPr>
              <a:t> </a:t>
            </a:r>
            <a:r>
              <a:rPr lang="en-US" sz="2000" dirty="0" err="1">
                <a:solidFill>
                  <a:srgbClr val="2C3E50"/>
                </a:solidFill>
                <a:effectLst>
                  <a:outerShdw blurRad="38100" dist="38100" dir="2700000" algn="tl">
                    <a:srgbClr val="000000">
                      <a:alpha val="43137"/>
                    </a:srgbClr>
                  </a:outerShdw>
                </a:effectLst>
                <a:latin typeface="Open Sans"/>
              </a:rPr>
              <a:t>nhỏ</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của</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hệ</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thống</a:t>
            </a:r>
            <a:r>
              <a:rPr sz="2000" b="0" i="0" u="none" dirty="0">
                <a:solidFill>
                  <a:srgbClr val="2C3E50"/>
                </a:solidFill>
                <a:effectLst>
                  <a:outerShdw blurRad="38100" dist="38100" dir="2700000" algn="tl">
                    <a:srgbClr val="000000">
                      <a:alpha val="43137"/>
                    </a:srgbClr>
                  </a:outerShdw>
                </a:effectLst>
                <a:latin typeface="Open Sans"/>
              </a:rPr>
              <a:t>.</a:t>
            </a:r>
          </a:p>
        </p:txBody>
      </p:sp>
      <p:pic>
        <p:nvPicPr>
          <p:cNvPr id="12" name="Picture 11" descr="image.png"/>
          <p:cNvPicPr>
            <a:picLocks noChangeAspect="1"/>
          </p:cNvPicPr>
          <p:nvPr/>
        </p:nvPicPr>
        <p:blipFill>
          <a:blip r:embed="rId4"/>
          <a:stretch>
            <a:fillRect/>
          </a:stretch>
        </p:blipFill>
        <p:spPr>
          <a:xfrm>
            <a:off x="741759" y="2847975"/>
            <a:ext cx="266700" cy="266700"/>
          </a:xfrm>
          <a:prstGeom prst="rect">
            <a:avLst/>
          </a:prstGeom>
        </p:spPr>
      </p:pic>
      <p:pic>
        <p:nvPicPr>
          <p:cNvPr id="13" name="Picture 12" descr="image.png"/>
          <p:cNvPicPr>
            <a:picLocks noChangeAspect="1"/>
          </p:cNvPicPr>
          <p:nvPr/>
        </p:nvPicPr>
        <p:blipFill>
          <a:blip r:embed="rId5"/>
          <a:stretch>
            <a:fillRect/>
          </a:stretch>
        </p:blipFill>
        <p:spPr>
          <a:xfrm>
            <a:off x="6560343" y="2847975"/>
            <a:ext cx="238125" cy="2667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4375" y="647700"/>
            <a:ext cx="11451431" cy="495300"/>
          </a:xfrm>
          <a:prstGeom prst="rect">
            <a:avLst/>
          </a:prstGeom>
          <a:noFill/>
        </p:spPr>
        <p:txBody>
          <a:bodyPr wrap="square" lIns="0" tIns="0" rIns="0" bIns="0" anchor="t">
            <a:spAutoFit/>
          </a:bodyPr>
          <a:lstStyle/>
          <a:p>
            <a:pPr algn="l"/>
            <a:r>
              <a:rPr sz="3150" b="1" i="0" u="none" dirty="0" err="1">
                <a:solidFill>
                  <a:srgbClr val="0056B3"/>
                </a:solidFill>
                <a:effectLst>
                  <a:outerShdw blurRad="38100" dist="38100" dir="2700000" algn="tl">
                    <a:srgbClr val="000000">
                      <a:alpha val="43137"/>
                    </a:srgbClr>
                  </a:outerShdw>
                </a:effectLst>
                <a:latin typeface="Montserrat"/>
              </a:rPr>
              <a:t>Khả</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năng</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mở</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rộn</a:t>
            </a:r>
            <a:r>
              <a:rPr lang="en-US" sz="3150" b="1" i="0" u="none" dirty="0" err="1">
                <a:solidFill>
                  <a:srgbClr val="0056B3"/>
                </a:solidFill>
                <a:effectLst>
                  <a:outerShdw blurRad="38100" dist="38100" dir="2700000" algn="tl">
                    <a:srgbClr val="000000">
                      <a:alpha val="43137"/>
                    </a:srgbClr>
                  </a:outerShdw>
                </a:effectLst>
                <a:latin typeface="Montserrat"/>
              </a:rPr>
              <a:t>g</a:t>
            </a:r>
            <a:endParaRPr sz="3150" b="1" i="0" u="none" dirty="0">
              <a:solidFill>
                <a:srgbClr val="0056B3"/>
              </a:solidFill>
              <a:effectLst>
                <a:outerShdw blurRad="38100" dist="38100" dir="2700000" algn="tl">
                  <a:srgbClr val="000000">
                    <a:alpha val="43137"/>
                  </a:srgbClr>
                </a:outerShdw>
              </a:effectLst>
              <a:latin typeface="Montserrat"/>
            </a:endParaRPr>
          </a:p>
        </p:txBody>
      </p:sp>
      <p:sp>
        <p:nvSpPr>
          <p:cNvPr id="6" name="Rectangle 5"/>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4375" y="647700"/>
            <a:ext cx="11451431" cy="495300"/>
          </a:xfrm>
          <a:prstGeom prst="rect">
            <a:avLst/>
          </a:prstGeom>
          <a:noFill/>
        </p:spPr>
        <p:txBody>
          <a:bodyPr wrap="square" lIns="0" tIns="0" rIns="0" bIns="0" anchor="t">
            <a:spAutoFit/>
          </a:bodyPr>
          <a:lstStyle/>
          <a:p>
            <a:pPr algn="l"/>
            <a:r>
              <a:rPr sz="3150" b="1" i="0" u="none" dirty="0" err="1">
                <a:solidFill>
                  <a:srgbClr val="0056B3"/>
                </a:solidFill>
                <a:effectLst>
                  <a:outerShdw blurRad="38100" dist="38100" dir="2700000" algn="tl">
                    <a:srgbClr val="000000">
                      <a:alpha val="43137"/>
                    </a:srgbClr>
                  </a:outerShdw>
                </a:effectLst>
                <a:latin typeface="Montserrat"/>
              </a:rPr>
              <a:t>Tổng</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quan</a:t>
            </a:r>
            <a:r>
              <a:rPr sz="3150" b="1" i="0" u="none" dirty="0">
                <a:solidFill>
                  <a:srgbClr val="0056B3"/>
                </a:solidFill>
                <a:effectLst>
                  <a:outerShdw blurRad="38100" dist="38100" dir="2700000" algn="tl">
                    <a:srgbClr val="000000">
                      <a:alpha val="43137"/>
                    </a:srgbClr>
                  </a:outerShdw>
                </a:effectLst>
                <a:latin typeface="Montserrat"/>
              </a:rPr>
              <a:t> </a:t>
            </a:r>
            <a:r>
              <a:rPr lang="en-US" sz="3150" b="1" i="0" u="none" dirty="0" err="1">
                <a:solidFill>
                  <a:srgbClr val="0056B3"/>
                </a:solidFill>
                <a:effectLst>
                  <a:outerShdw blurRad="38100" dist="38100" dir="2700000" algn="tl">
                    <a:srgbClr val="000000">
                      <a:alpha val="43137"/>
                    </a:srgbClr>
                  </a:outerShdw>
                </a:effectLst>
                <a:latin typeface="Montserrat"/>
              </a:rPr>
              <a:t>quá</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trình</a:t>
            </a:r>
            <a:r>
              <a:rPr sz="3150" b="1" i="0" u="none" dirty="0">
                <a:solidFill>
                  <a:srgbClr val="0056B3"/>
                </a:solidFill>
                <a:effectLst>
                  <a:outerShdw blurRad="38100" dist="38100" dir="2700000" algn="tl">
                    <a:srgbClr val="000000">
                      <a:alpha val="43137"/>
                    </a:srgbClr>
                  </a:outerShdw>
                </a:effectLst>
                <a:latin typeface="Montserrat"/>
              </a:rPr>
              <a:t> </a:t>
            </a:r>
            <a:r>
              <a:rPr lang="en-US" sz="3150" b="1" i="0" u="none" dirty="0" err="1">
                <a:solidFill>
                  <a:srgbClr val="0056B3"/>
                </a:solidFill>
                <a:effectLst>
                  <a:outerShdw blurRad="38100" dist="38100" dir="2700000" algn="tl">
                    <a:srgbClr val="000000">
                      <a:alpha val="43137"/>
                    </a:srgbClr>
                  </a:outerShdw>
                </a:effectLst>
                <a:latin typeface="Montserrat"/>
              </a:rPr>
              <a:t>t</a:t>
            </a:r>
            <a:r>
              <a:rPr sz="3150" b="1" i="0" u="none" dirty="0" err="1">
                <a:solidFill>
                  <a:srgbClr val="0056B3"/>
                </a:solidFill>
                <a:effectLst>
                  <a:outerShdw blurRad="38100" dist="38100" dir="2700000" algn="tl">
                    <a:srgbClr val="000000">
                      <a:alpha val="43137"/>
                    </a:srgbClr>
                  </a:outerShdw>
                </a:effectLst>
                <a:latin typeface="Montserrat"/>
              </a:rPr>
              <a:t>hực</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hiện</a:t>
            </a:r>
            <a:endParaRPr sz="3150" b="1" i="0" u="none" dirty="0">
              <a:solidFill>
                <a:srgbClr val="0056B3"/>
              </a:solidFill>
              <a:effectLst>
                <a:outerShdw blurRad="38100" dist="38100" dir="2700000" algn="tl">
                  <a:srgbClr val="000000">
                    <a:alpha val="43137"/>
                  </a:srgbClr>
                </a:outerShdw>
              </a:effectLst>
              <a:latin typeface="Montserrat"/>
            </a:endParaRPr>
          </a:p>
        </p:txBody>
      </p:sp>
      <p:sp>
        <p:nvSpPr>
          <p:cNvPr id="5" name="Rectangle 4"/>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71500" y="3189982"/>
            <a:ext cx="11049000" cy="381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1419225" y="2951857"/>
            <a:ext cx="514350" cy="514350"/>
          </a:xfrm>
          <a:prstGeom prst="rect">
            <a:avLst/>
          </a:prstGeom>
        </p:spPr>
      </p:pic>
      <p:sp>
        <p:nvSpPr>
          <p:cNvPr id="8" name="TextBox 7"/>
          <p:cNvSpPr txBox="1"/>
          <p:nvPr/>
        </p:nvSpPr>
        <p:spPr>
          <a:xfrm>
            <a:off x="516254" y="3656707"/>
            <a:ext cx="2320290" cy="369332"/>
          </a:xfrm>
          <a:prstGeom prst="rect">
            <a:avLst/>
          </a:prstGeom>
          <a:noFill/>
        </p:spPr>
        <p:txBody>
          <a:bodyPr wrap="square" lIns="0" tIns="0" rIns="0" bIns="0" anchor="t">
            <a:spAutoFit/>
          </a:bodyPr>
          <a:lstStyle/>
          <a:p>
            <a:pPr algn="ctr"/>
            <a:r>
              <a:rPr sz="2400" b="1" i="0" u="none" dirty="0" err="1">
                <a:solidFill>
                  <a:srgbClr val="004494"/>
                </a:solidFill>
                <a:latin typeface="Montserrat"/>
              </a:rPr>
              <a:t>Bước</a:t>
            </a:r>
            <a:r>
              <a:rPr sz="2400" b="1" i="0" u="none" dirty="0">
                <a:solidFill>
                  <a:srgbClr val="004494"/>
                </a:solidFill>
                <a:latin typeface="Montserrat"/>
              </a:rPr>
              <a:t> 1</a:t>
            </a:r>
          </a:p>
        </p:txBody>
      </p:sp>
      <p:sp>
        <p:nvSpPr>
          <p:cNvPr id="9" name="TextBox 8"/>
          <p:cNvSpPr txBox="1"/>
          <p:nvPr/>
        </p:nvSpPr>
        <p:spPr>
          <a:xfrm>
            <a:off x="571500" y="4056757"/>
            <a:ext cx="2209800" cy="874150"/>
          </a:xfrm>
          <a:prstGeom prst="rect">
            <a:avLst/>
          </a:prstGeom>
          <a:noFill/>
        </p:spPr>
        <p:txBody>
          <a:bodyPr wrap="square" lIns="0" tIns="0" rIns="0" bIns="0" anchor="t">
            <a:spAutoFit/>
          </a:bodyPr>
          <a:lstStyle/>
          <a:p>
            <a:pPr algn="ctr">
              <a:lnSpc>
                <a:spcPct val="150000"/>
              </a:lnSpc>
            </a:pPr>
            <a:r>
              <a:rPr sz="2000" b="0" i="0" u="none" dirty="0">
                <a:solidFill>
                  <a:srgbClr val="2C3E50"/>
                </a:solidFill>
                <a:latin typeface="Open Sans"/>
              </a:rPr>
              <a:t>Thu </a:t>
            </a:r>
            <a:r>
              <a:rPr sz="2000" b="0" i="0" u="none" dirty="0" err="1">
                <a:solidFill>
                  <a:srgbClr val="2C3E50"/>
                </a:solidFill>
                <a:latin typeface="Open Sans"/>
              </a:rPr>
              <a:t>thập</a:t>
            </a:r>
            <a:r>
              <a:rPr sz="2000" b="0" i="0" u="none" dirty="0">
                <a:solidFill>
                  <a:srgbClr val="2C3E50"/>
                </a:solidFill>
                <a:latin typeface="Open Sans"/>
              </a:rPr>
              <a:t> &amp;</a:t>
            </a:r>
            <a:r>
              <a:rPr sz="2000" dirty="0"/>
              <a:t>
</a:t>
            </a:r>
            <a:r>
              <a:rPr sz="2000" b="0" i="0" u="none" dirty="0">
                <a:solidFill>
                  <a:srgbClr val="2C3E50"/>
                </a:solidFill>
                <a:latin typeface="Open Sans"/>
              </a:rPr>
              <a:t> </a:t>
            </a:r>
            <a:r>
              <a:rPr sz="2000" b="0" i="0" u="none" dirty="0" err="1">
                <a:solidFill>
                  <a:srgbClr val="2C3E50"/>
                </a:solidFill>
                <a:latin typeface="Open Sans"/>
              </a:rPr>
              <a:t>Chuẩn</a:t>
            </a:r>
            <a:r>
              <a:rPr sz="2000" b="0" i="0" u="none" dirty="0">
                <a:solidFill>
                  <a:srgbClr val="2C3E50"/>
                </a:solidFill>
                <a:latin typeface="Open Sans"/>
              </a:rPr>
              <a:t> </a:t>
            </a:r>
            <a:r>
              <a:rPr sz="2000" b="0" i="0" u="none" dirty="0" err="1">
                <a:solidFill>
                  <a:srgbClr val="2C3E50"/>
                </a:solidFill>
                <a:latin typeface="Open Sans"/>
              </a:rPr>
              <a:t>bị</a:t>
            </a:r>
            <a:r>
              <a:rPr sz="2000" b="0" i="0" u="none" dirty="0">
                <a:solidFill>
                  <a:srgbClr val="2C3E50"/>
                </a:solidFill>
                <a:latin typeface="Open Sans"/>
              </a:rPr>
              <a:t> Data</a:t>
            </a:r>
          </a:p>
        </p:txBody>
      </p:sp>
      <p:pic>
        <p:nvPicPr>
          <p:cNvPr id="10" name="Picture 9" descr="image.png"/>
          <p:cNvPicPr>
            <a:picLocks noChangeAspect="1"/>
          </p:cNvPicPr>
          <p:nvPr/>
        </p:nvPicPr>
        <p:blipFill>
          <a:blip r:embed="rId2"/>
          <a:stretch>
            <a:fillRect/>
          </a:stretch>
        </p:blipFill>
        <p:spPr>
          <a:xfrm>
            <a:off x="3629025" y="2951857"/>
            <a:ext cx="514350" cy="514350"/>
          </a:xfrm>
          <a:prstGeom prst="rect">
            <a:avLst/>
          </a:prstGeom>
        </p:spPr>
      </p:pic>
      <p:sp>
        <p:nvSpPr>
          <p:cNvPr id="11" name="TextBox 10"/>
          <p:cNvSpPr txBox="1"/>
          <p:nvPr/>
        </p:nvSpPr>
        <p:spPr>
          <a:xfrm>
            <a:off x="2726055" y="3656707"/>
            <a:ext cx="2320290" cy="369332"/>
          </a:xfrm>
          <a:prstGeom prst="rect">
            <a:avLst/>
          </a:prstGeom>
          <a:noFill/>
        </p:spPr>
        <p:txBody>
          <a:bodyPr wrap="square" lIns="0" tIns="0" rIns="0" bIns="0" anchor="t">
            <a:spAutoFit/>
          </a:bodyPr>
          <a:lstStyle/>
          <a:p>
            <a:pPr algn="ctr"/>
            <a:r>
              <a:rPr sz="2400" b="1" i="0" u="none" dirty="0" err="1">
                <a:solidFill>
                  <a:srgbClr val="004494"/>
                </a:solidFill>
                <a:latin typeface="Montserrat"/>
              </a:rPr>
              <a:t>Bước</a:t>
            </a:r>
            <a:r>
              <a:rPr sz="2400" b="1" i="0" u="none" dirty="0">
                <a:solidFill>
                  <a:srgbClr val="004494"/>
                </a:solidFill>
                <a:latin typeface="Montserrat"/>
              </a:rPr>
              <a:t> 2</a:t>
            </a:r>
          </a:p>
        </p:txBody>
      </p:sp>
      <p:sp>
        <p:nvSpPr>
          <p:cNvPr id="12" name="TextBox 11"/>
          <p:cNvSpPr txBox="1"/>
          <p:nvPr/>
        </p:nvSpPr>
        <p:spPr>
          <a:xfrm>
            <a:off x="2781300" y="4056757"/>
            <a:ext cx="2209800" cy="874150"/>
          </a:xfrm>
          <a:prstGeom prst="rect">
            <a:avLst/>
          </a:prstGeom>
          <a:noFill/>
        </p:spPr>
        <p:txBody>
          <a:bodyPr wrap="square" lIns="0" tIns="0" rIns="0" bIns="0" anchor="t">
            <a:spAutoFit/>
          </a:bodyPr>
          <a:lstStyle/>
          <a:p>
            <a:pPr algn="ctr">
              <a:lnSpc>
                <a:spcPct val="150000"/>
              </a:lnSpc>
            </a:pPr>
            <a:r>
              <a:rPr sz="2000" b="0" i="0" u="none" dirty="0" err="1">
                <a:solidFill>
                  <a:srgbClr val="2C3E50"/>
                </a:solidFill>
                <a:latin typeface="Open Sans"/>
              </a:rPr>
              <a:t>Tiền</a:t>
            </a:r>
            <a:r>
              <a:rPr sz="2000" b="0" i="0" u="none" dirty="0">
                <a:solidFill>
                  <a:srgbClr val="2C3E50"/>
                </a:solidFill>
                <a:latin typeface="Open Sans"/>
              </a:rPr>
              <a:t> </a:t>
            </a:r>
            <a:r>
              <a:rPr sz="2000" b="0" i="0" u="none" dirty="0" err="1">
                <a:solidFill>
                  <a:srgbClr val="2C3E50"/>
                </a:solidFill>
                <a:latin typeface="Open Sans"/>
              </a:rPr>
              <a:t>xử</a:t>
            </a:r>
            <a:r>
              <a:rPr sz="2000" b="0" i="0" u="none" dirty="0">
                <a:solidFill>
                  <a:srgbClr val="2C3E50"/>
                </a:solidFill>
                <a:latin typeface="Open Sans"/>
              </a:rPr>
              <a:t> </a:t>
            </a:r>
            <a:r>
              <a:rPr sz="2000" b="0" i="0" u="none" dirty="0" err="1">
                <a:solidFill>
                  <a:srgbClr val="2C3E50"/>
                </a:solidFill>
                <a:latin typeface="Open Sans"/>
              </a:rPr>
              <a:t>lý</a:t>
            </a:r>
            <a:r>
              <a:rPr sz="2000" b="0" i="0" u="none" dirty="0">
                <a:solidFill>
                  <a:srgbClr val="2C3E50"/>
                </a:solidFill>
                <a:latin typeface="Open Sans"/>
              </a:rPr>
              <a:t> &amp;</a:t>
            </a:r>
            <a:r>
              <a:rPr sz="2000" dirty="0"/>
              <a:t>
</a:t>
            </a:r>
            <a:r>
              <a:rPr sz="2000" b="0" i="0" u="none" dirty="0">
                <a:solidFill>
                  <a:srgbClr val="2C3E50"/>
                </a:solidFill>
                <a:latin typeface="Open Sans"/>
              </a:rPr>
              <a:t> </a:t>
            </a:r>
            <a:r>
              <a:rPr sz="2000" b="0" i="0" u="none" dirty="0" err="1">
                <a:solidFill>
                  <a:srgbClr val="2C3E50"/>
                </a:solidFill>
                <a:latin typeface="Open Sans"/>
              </a:rPr>
              <a:t>Cấu</a:t>
            </a:r>
            <a:r>
              <a:rPr sz="2000" b="0" i="0" u="none" dirty="0">
                <a:solidFill>
                  <a:srgbClr val="2C3E50"/>
                </a:solidFill>
                <a:latin typeface="Open Sans"/>
              </a:rPr>
              <a:t> </a:t>
            </a:r>
            <a:r>
              <a:rPr sz="2000" b="0" i="0" u="none" dirty="0" err="1">
                <a:solidFill>
                  <a:srgbClr val="2C3E50"/>
                </a:solidFill>
                <a:latin typeface="Open Sans"/>
              </a:rPr>
              <a:t>hình</a:t>
            </a:r>
            <a:r>
              <a:rPr sz="2000" b="0" i="0" u="none" dirty="0">
                <a:solidFill>
                  <a:srgbClr val="2C3E50"/>
                </a:solidFill>
                <a:latin typeface="Open Sans"/>
              </a:rPr>
              <a:t> Model</a:t>
            </a:r>
          </a:p>
        </p:txBody>
      </p:sp>
      <p:pic>
        <p:nvPicPr>
          <p:cNvPr id="13" name="Picture 12" descr="image.png"/>
          <p:cNvPicPr>
            <a:picLocks noChangeAspect="1"/>
          </p:cNvPicPr>
          <p:nvPr/>
        </p:nvPicPr>
        <p:blipFill>
          <a:blip r:embed="rId2"/>
          <a:stretch>
            <a:fillRect/>
          </a:stretch>
        </p:blipFill>
        <p:spPr>
          <a:xfrm>
            <a:off x="5838825" y="2951857"/>
            <a:ext cx="514350" cy="514350"/>
          </a:xfrm>
          <a:prstGeom prst="rect">
            <a:avLst/>
          </a:prstGeom>
        </p:spPr>
      </p:pic>
      <p:sp>
        <p:nvSpPr>
          <p:cNvPr id="14" name="TextBox 13"/>
          <p:cNvSpPr txBox="1"/>
          <p:nvPr/>
        </p:nvSpPr>
        <p:spPr>
          <a:xfrm>
            <a:off x="4935855" y="3656707"/>
            <a:ext cx="2320290" cy="369332"/>
          </a:xfrm>
          <a:prstGeom prst="rect">
            <a:avLst/>
          </a:prstGeom>
          <a:noFill/>
        </p:spPr>
        <p:txBody>
          <a:bodyPr wrap="square" lIns="0" tIns="0" rIns="0" bIns="0" anchor="t">
            <a:spAutoFit/>
          </a:bodyPr>
          <a:lstStyle/>
          <a:p>
            <a:pPr algn="ctr"/>
            <a:r>
              <a:rPr sz="2400" b="1" i="0" u="none" dirty="0" err="1">
                <a:solidFill>
                  <a:srgbClr val="004494"/>
                </a:solidFill>
                <a:latin typeface="Montserrat"/>
              </a:rPr>
              <a:t>Bước</a:t>
            </a:r>
            <a:r>
              <a:rPr sz="2400" b="1" i="0" u="none" dirty="0">
                <a:solidFill>
                  <a:srgbClr val="004494"/>
                </a:solidFill>
                <a:latin typeface="Montserrat"/>
              </a:rPr>
              <a:t> 3</a:t>
            </a:r>
          </a:p>
        </p:txBody>
      </p:sp>
      <p:sp>
        <p:nvSpPr>
          <p:cNvPr id="15" name="TextBox 14"/>
          <p:cNvSpPr txBox="1"/>
          <p:nvPr/>
        </p:nvSpPr>
        <p:spPr>
          <a:xfrm>
            <a:off x="4991100" y="4056757"/>
            <a:ext cx="2209800" cy="874150"/>
          </a:xfrm>
          <a:prstGeom prst="rect">
            <a:avLst/>
          </a:prstGeom>
          <a:noFill/>
        </p:spPr>
        <p:txBody>
          <a:bodyPr wrap="square" lIns="0" tIns="0" rIns="0" bIns="0" anchor="t">
            <a:spAutoFit/>
          </a:bodyPr>
          <a:lstStyle/>
          <a:p>
            <a:pPr algn="ctr">
              <a:lnSpc>
                <a:spcPct val="150000"/>
              </a:lnSpc>
            </a:pPr>
            <a:r>
              <a:rPr sz="2000" b="0" i="0" u="none" dirty="0" err="1">
                <a:solidFill>
                  <a:srgbClr val="2C3E50"/>
                </a:solidFill>
                <a:latin typeface="Open Sans"/>
              </a:rPr>
              <a:t>Huấn</a:t>
            </a:r>
            <a:r>
              <a:rPr sz="2000" b="0" i="0" u="none" dirty="0">
                <a:solidFill>
                  <a:srgbClr val="2C3E50"/>
                </a:solidFill>
                <a:latin typeface="Open Sans"/>
              </a:rPr>
              <a:t> </a:t>
            </a:r>
            <a:r>
              <a:rPr sz="2000" b="0" i="0" u="none" dirty="0" err="1">
                <a:solidFill>
                  <a:srgbClr val="2C3E50"/>
                </a:solidFill>
                <a:latin typeface="Open Sans"/>
              </a:rPr>
              <a:t>luyện</a:t>
            </a:r>
            <a:r>
              <a:rPr sz="2000" b="0" i="0" u="none" dirty="0">
                <a:solidFill>
                  <a:srgbClr val="2C3E50"/>
                </a:solidFill>
                <a:latin typeface="Open Sans"/>
              </a:rPr>
              <a:t> </a:t>
            </a:r>
            <a:r>
              <a:rPr sz="2000" b="0" i="0" u="none" dirty="0" err="1">
                <a:solidFill>
                  <a:srgbClr val="2C3E50"/>
                </a:solidFill>
                <a:latin typeface="Open Sans"/>
              </a:rPr>
              <a:t>trên</a:t>
            </a:r>
            <a:r>
              <a:rPr sz="2000" dirty="0"/>
              <a:t>
</a:t>
            </a:r>
            <a:r>
              <a:rPr sz="2000" b="0" i="0" u="none" dirty="0">
                <a:solidFill>
                  <a:srgbClr val="2C3E50"/>
                </a:solidFill>
                <a:latin typeface="Open Sans"/>
              </a:rPr>
              <a:t> </a:t>
            </a:r>
            <a:r>
              <a:rPr sz="2000" b="0" i="0" u="none" dirty="0" err="1">
                <a:solidFill>
                  <a:srgbClr val="2C3E50"/>
                </a:solidFill>
                <a:latin typeface="Open Sans"/>
              </a:rPr>
              <a:t>Colab</a:t>
            </a:r>
            <a:r>
              <a:rPr sz="2000" b="0" i="0" u="none" dirty="0">
                <a:solidFill>
                  <a:srgbClr val="2C3E50"/>
                </a:solidFill>
                <a:latin typeface="Open Sans"/>
              </a:rPr>
              <a:t> GPU</a:t>
            </a:r>
          </a:p>
        </p:txBody>
      </p:sp>
      <p:pic>
        <p:nvPicPr>
          <p:cNvPr id="16" name="Picture 15" descr="image.png"/>
          <p:cNvPicPr>
            <a:picLocks noChangeAspect="1"/>
          </p:cNvPicPr>
          <p:nvPr/>
        </p:nvPicPr>
        <p:blipFill>
          <a:blip r:embed="rId2"/>
          <a:stretch>
            <a:fillRect/>
          </a:stretch>
        </p:blipFill>
        <p:spPr>
          <a:xfrm>
            <a:off x="8048625" y="2951857"/>
            <a:ext cx="514350" cy="514350"/>
          </a:xfrm>
          <a:prstGeom prst="rect">
            <a:avLst/>
          </a:prstGeom>
        </p:spPr>
      </p:pic>
      <p:sp>
        <p:nvSpPr>
          <p:cNvPr id="17" name="TextBox 16"/>
          <p:cNvSpPr txBox="1"/>
          <p:nvPr/>
        </p:nvSpPr>
        <p:spPr>
          <a:xfrm>
            <a:off x="7145655" y="3656707"/>
            <a:ext cx="2320290" cy="369332"/>
          </a:xfrm>
          <a:prstGeom prst="rect">
            <a:avLst/>
          </a:prstGeom>
          <a:noFill/>
        </p:spPr>
        <p:txBody>
          <a:bodyPr wrap="square" lIns="0" tIns="0" rIns="0" bIns="0" anchor="t">
            <a:spAutoFit/>
          </a:bodyPr>
          <a:lstStyle/>
          <a:p>
            <a:pPr algn="ctr"/>
            <a:r>
              <a:rPr sz="2400" b="1" i="0" u="none">
                <a:solidFill>
                  <a:srgbClr val="004494"/>
                </a:solidFill>
                <a:latin typeface="Montserrat"/>
              </a:rPr>
              <a:t>Bước 4</a:t>
            </a:r>
          </a:p>
        </p:txBody>
      </p:sp>
      <p:sp>
        <p:nvSpPr>
          <p:cNvPr id="18" name="TextBox 17"/>
          <p:cNvSpPr txBox="1"/>
          <p:nvPr/>
        </p:nvSpPr>
        <p:spPr>
          <a:xfrm>
            <a:off x="7200900" y="4056757"/>
            <a:ext cx="2209800" cy="874150"/>
          </a:xfrm>
          <a:prstGeom prst="rect">
            <a:avLst/>
          </a:prstGeom>
          <a:noFill/>
        </p:spPr>
        <p:txBody>
          <a:bodyPr wrap="square" lIns="0" tIns="0" rIns="0" bIns="0" anchor="t">
            <a:spAutoFit/>
          </a:bodyPr>
          <a:lstStyle/>
          <a:p>
            <a:pPr algn="ctr">
              <a:lnSpc>
                <a:spcPct val="150000"/>
              </a:lnSpc>
            </a:pPr>
            <a:r>
              <a:rPr sz="2000" b="0" i="0" u="none">
                <a:solidFill>
                  <a:srgbClr val="2C3E50"/>
                </a:solidFill>
                <a:latin typeface="Open Sans"/>
              </a:rPr>
              <a:t>Đánh giá &amp;</a:t>
            </a:r>
            <a:r>
              <a:rPr sz="2000"/>
              <a:t>
</a:t>
            </a:r>
            <a:r>
              <a:rPr sz="2000" b="0" i="0" u="none">
                <a:solidFill>
                  <a:srgbClr val="2C3E50"/>
                </a:solidFill>
                <a:latin typeface="Open Sans"/>
              </a:rPr>
              <a:t> Xuất Trọng số</a:t>
            </a:r>
          </a:p>
        </p:txBody>
      </p:sp>
      <p:pic>
        <p:nvPicPr>
          <p:cNvPr id="19" name="Picture 18" descr="image.png"/>
          <p:cNvPicPr>
            <a:picLocks noChangeAspect="1"/>
          </p:cNvPicPr>
          <p:nvPr/>
        </p:nvPicPr>
        <p:blipFill>
          <a:blip r:embed="rId2"/>
          <a:stretch>
            <a:fillRect/>
          </a:stretch>
        </p:blipFill>
        <p:spPr>
          <a:xfrm>
            <a:off x="10258425" y="2951857"/>
            <a:ext cx="514350" cy="514350"/>
          </a:xfrm>
          <a:prstGeom prst="rect">
            <a:avLst/>
          </a:prstGeom>
        </p:spPr>
      </p:pic>
      <p:sp>
        <p:nvSpPr>
          <p:cNvPr id="20" name="TextBox 19"/>
          <p:cNvSpPr txBox="1"/>
          <p:nvPr/>
        </p:nvSpPr>
        <p:spPr>
          <a:xfrm>
            <a:off x="9355455" y="3656707"/>
            <a:ext cx="2320290" cy="369332"/>
          </a:xfrm>
          <a:prstGeom prst="rect">
            <a:avLst/>
          </a:prstGeom>
          <a:noFill/>
        </p:spPr>
        <p:txBody>
          <a:bodyPr wrap="square" lIns="0" tIns="0" rIns="0" bIns="0" anchor="t">
            <a:spAutoFit/>
          </a:bodyPr>
          <a:lstStyle/>
          <a:p>
            <a:pPr algn="ctr"/>
            <a:r>
              <a:rPr sz="2400" b="1" i="0" u="none">
                <a:solidFill>
                  <a:srgbClr val="004494"/>
                </a:solidFill>
                <a:latin typeface="Montserrat"/>
              </a:rPr>
              <a:t>Bước 5</a:t>
            </a:r>
          </a:p>
        </p:txBody>
      </p:sp>
      <p:sp>
        <p:nvSpPr>
          <p:cNvPr id="21" name="TextBox 20"/>
          <p:cNvSpPr txBox="1"/>
          <p:nvPr/>
        </p:nvSpPr>
        <p:spPr>
          <a:xfrm>
            <a:off x="9410700" y="4056757"/>
            <a:ext cx="2209800" cy="874150"/>
          </a:xfrm>
          <a:prstGeom prst="rect">
            <a:avLst/>
          </a:prstGeom>
          <a:noFill/>
        </p:spPr>
        <p:txBody>
          <a:bodyPr wrap="square" lIns="0" tIns="0" rIns="0" bIns="0" anchor="t">
            <a:spAutoFit/>
          </a:bodyPr>
          <a:lstStyle/>
          <a:p>
            <a:pPr algn="ctr">
              <a:lnSpc>
                <a:spcPct val="150000"/>
              </a:lnSpc>
            </a:pPr>
            <a:r>
              <a:rPr sz="2000" b="0" i="0" u="none">
                <a:solidFill>
                  <a:srgbClr val="2C3E50"/>
                </a:solidFill>
                <a:latin typeface="Open Sans"/>
              </a:rPr>
              <a:t>Triển khai</a:t>
            </a:r>
            <a:r>
              <a:rPr sz="2000"/>
              <a:t>
</a:t>
            </a:r>
            <a:r>
              <a:rPr sz="2000" b="0" i="0" u="none">
                <a:solidFill>
                  <a:srgbClr val="2C3E50"/>
                </a:solidFill>
                <a:latin typeface="Open Sans"/>
              </a:rPr>
              <a:t> REST API</a:t>
            </a:r>
          </a:p>
        </p:txBody>
      </p:sp>
      <p:pic>
        <p:nvPicPr>
          <p:cNvPr id="22" name="Picture 21" descr="image.png"/>
          <p:cNvPicPr>
            <a:picLocks noChangeAspect="1"/>
          </p:cNvPicPr>
          <p:nvPr/>
        </p:nvPicPr>
        <p:blipFill>
          <a:blip r:embed="rId3"/>
          <a:stretch>
            <a:fillRect/>
          </a:stretch>
        </p:blipFill>
        <p:spPr>
          <a:xfrm>
            <a:off x="1590675" y="3113782"/>
            <a:ext cx="171450" cy="190500"/>
          </a:xfrm>
          <a:prstGeom prst="rect">
            <a:avLst/>
          </a:prstGeom>
        </p:spPr>
      </p:pic>
      <p:pic>
        <p:nvPicPr>
          <p:cNvPr id="23" name="Picture 22" descr="image.png"/>
          <p:cNvPicPr>
            <a:picLocks noChangeAspect="1"/>
          </p:cNvPicPr>
          <p:nvPr/>
        </p:nvPicPr>
        <p:blipFill>
          <a:blip r:embed="rId4"/>
          <a:stretch>
            <a:fillRect/>
          </a:stretch>
        </p:blipFill>
        <p:spPr>
          <a:xfrm>
            <a:off x="3767137" y="3113782"/>
            <a:ext cx="238125" cy="190500"/>
          </a:xfrm>
          <a:prstGeom prst="rect">
            <a:avLst/>
          </a:prstGeom>
        </p:spPr>
      </p:pic>
      <p:pic>
        <p:nvPicPr>
          <p:cNvPr id="24" name="Picture 23" descr="image.png"/>
          <p:cNvPicPr>
            <a:picLocks noChangeAspect="1"/>
          </p:cNvPicPr>
          <p:nvPr/>
        </p:nvPicPr>
        <p:blipFill>
          <a:blip r:embed="rId5"/>
          <a:stretch>
            <a:fillRect/>
          </a:stretch>
        </p:blipFill>
        <p:spPr>
          <a:xfrm>
            <a:off x="5976937" y="3113782"/>
            <a:ext cx="238125" cy="190500"/>
          </a:xfrm>
          <a:prstGeom prst="rect">
            <a:avLst/>
          </a:prstGeom>
        </p:spPr>
      </p:pic>
      <p:pic>
        <p:nvPicPr>
          <p:cNvPr id="25" name="Picture 24" descr="image.png"/>
          <p:cNvPicPr>
            <a:picLocks noChangeAspect="1"/>
          </p:cNvPicPr>
          <p:nvPr/>
        </p:nvPicPr>
        <p:blipFill>
          <a:blip r:embed="rId6"/>
          <a:stretch>
            <a:fillRect/>
          </a:stretch>
        </p:blipFill>
        <p:spPr>
          <a:xfrm>
            <a:off x="8210550" y="3113782"/>
            <a:ext cx="190500" cy="190500"/>
          </a:xfrm>
          <a:prstGeom prst="rect">
            <a:avLst/>
          </a:prstGeom>
        </p:spPr>
      </p:pic>
      <p:pic>
        <p:nvPicPr>
          <p:cNvPr id="26" name="Picture 25" descr="image.png"/>
          <p:cNvPicPr>
            <a:picLocks noChangeAspect="1"/>
          </p:cNvPicPr>
          <p:nvPr/>
        </p:nvPicPr>
        <p:blipFill>
          <a:blip r:embed="rId7"/>
          <a:stretch>
            <a:fillRect/>
          </a:stretch>
        </p:blipFill>
        <p:spPr>
          <a:xfrm>
            <a:off x="10420350" y="3113782"/>
            <a:ext cx="190500" cy="190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06041" y="658252"/>
            <a:ext cx="5550693" cy="484748"/>
          </a:xfrm>
          <a:prstGeom prst="rect">
            <a:avLst/>
          </a:prstGeom>
          <a:noFill/>
        </p:spPr>
        <p:txBody>
          <a:bodyPr wrap="square" lIns="0" tIns="0" rIns="0" bIns="0" anchor="t">
            <a:spAutoFit/>
          </a:bodyPr>
          <a:lstStyle/>
          <a:p>
            <a:pPr algn="l"/>
            <a:r>
              <a:rPr sz="3150" b="1" i="0" u="none" dirty="0" err="1">
                <a:solidFill>
                  <a:srgbClr val="0056B3"/>
                </a:solidFill>
                <a:latin typeface="Montserrat"/>
              </a:rPr>
              <a:t>Kiến</a:t>
            </a:r>
            <a:r>
              <a:rPr sz="3150" b="1" i="0" u="none" dirty="0">
                <a:solidFill>
                  <a:srgbClr val="0056B3"/>
                </a:solidFill>
                <a:latin typeface="Montserrat"/>
              </a:rPr>
              <a:t> </a:t>
            </a:r>
            <a:r>
              <a:rPr lang="vi-VN" sz="3150" b="1" i="0" u="none" dirty="0">
                <a:solidFill>
                  <a:srgbClr val="0056B3"/>
                </a:solidFill>
                <a:latin typeface="Montserrat"/>
              </a:rPr>
              <a:t>trúc h</a:t>
            </a:r>
            <a:r>
              <a:rPr sz="3150" b="1" i="0" u="none" dirty="0">
                <a:solidFill>
                  <a:srgbClr val="0056B3"/>
                </a:solidFill>
                <a:latin typeface="Montserrat"/>
              </a:rPr>
              <a:t>ệ </a:t>
            </a:r>
            <a:r>
              <a:rPr lang="vi-VN" sz="3150" b="1" i="0" u="none" dirty="0">
                <a:solidFill>
                  <a:srgbClr val="0056B3"/>
                </a:solidFill>
                <a:latin typeface="Montserrat"/>
              </a:rPr>
              <a:t>t</a:t>
            </a:r>
            <a:r>
              <a:rPr sz="3150" b="1" i="0" u="none" dirty="0" err="1">
                <a:solidFill>
                  <a:srgbClr val="0056B3"/>
                </a:solidFill>
                <a:latin typeface="Montserrat"/>
              </a:rPr>
              <a:t>hống</a:t>
            </a:r>
            <a:endParaRPr sz="3150" b="1" i="0" u="none" dirty="0">
              <a:solidFill>
                <a:srgbClr val="0056B3"/>
              </a:solidFill>
              <a:latin typeface="Montserrat"/>
            </a:endParaRPr>
          </a:p>
        </p:txBody>
      </p:sp>
      <p:pic>
        <p:nvPicPr>
          <p:cNvPr id="3" name="Picture 2" descr="image.png"/>
          <p:cNvPicPr>
            <a:picLocks noChangeAspect="1"/>
          </p:cNvPicPr>
          <p:nvPr/>
        </p:nvPicPr>
        <p:blipFill>
          <a:blip r:embed="rId2"/>
          <a:stretch>
            <a:fillRect/>
          </a:stretch>
        </p:blipFill>
        <p:spPr>
          <a:xfrm>
            <a:off x="6334125" y="0"/>
            <a:ext cx="5857875" cy="6858000"/>
          </a:xfrm>
          <a:prstGeom prst="rect">
            <a:avLst/>
          </a:prstGeom>
        </p:spPr>
      </p:pic>
      <p:sp>
        <p:nvSpPr>
          <p:cNvPr id="4" name="TextBox 3"/>
          <p:cNvSpPr txBox="1"/>
          <p:nvPr/>
        </p:nvSpPr>
        <p:spPr>
          <a:xfrm>
            <a:off x="571500" y="1632762"/>
            <a:ext cx="5286375" cy="1538883"/>
          </a:xfrm>
          <a:prstGeom prst="rect">
            <a:avLst/>
          </a:prstGeom>
          <a:noFill/>
        </p:spPr>
        <p:txBody>
          <a:bodyPr wrap="square" lIns="0" tIns="0" rIns="0" bIns="0" anchor="t">
            <a:spAutoFit/>
          </a:bodyPr>
          <a:lstStyle/>
          <a:p>
            <a:pPr algn="l">
              <a:lnSpc>
                <a:spcPts val="2400"/>
              </a:lnSpc>
            </a:pPr>
            <a:r>
              <a:rPr sz="2000" b="0" i="0" u="none" dirty="0" err="1">
                <a:solidFill>
                  <a:srgbClr val="2C3E50"/>
                </a:solidFill>
                <a:latin typeface="Open Sans"/>
              </a:rPr>
              <a:t>Một</a:t>
            </a:r>
            <a:r>
              <a:rPr sz="2000" b="0" i="0" u="none" dirty="0">
                <a:solidFill>
                  <a:srgbClr val="2C3E50"/>
                </a:solidFill>
                <a:latin typeface="Open Sans"/>
              </a:rPr>
              <a:t> </a:t>
            </a:r>
            <a:r>
              <a:rPr sz="2000" b="0" i="0" u="none" dirty="0" err="1">
                <a:solidFill>
                  <a:srgbClr val="2C3E50"/>
                </a:solidFill>
                <a:latin typeface="Open Sans"/>
              </a:rPr>
              <a:t>kiến</a:t>
            </a:r>
            <a:r>
              <a:rPr sz="2000" b="0" i="0" u="none" dirty="0">
                <a:solidFill>
                  <a:srgbClr val="2C3E50"/>
                </a:solidFill>
                <a:latin typeface="Open Sans"/>
              </a:rPr>
              <a:t> </a:t>
            </a:r>
            <a:r>
              <a:rPr sz="2000" b="0" i="0" u="none" dirty="0" err="1">
                <a:solidFill>
                  <a:srgbClr val="2C3E50"/>
                </a:solidFill>
                <a:latin typeface="Open Sans"/>
              </a:rPr>
              <a:t>trúc</a:t>
            </a:r>
            <a:r>
              <a:rPr sz="2000" b="0" i="0" u="none" dirty="0">
                <a:solidFill>
                  <a:srgbClr val="2C3E50"/>
                </a:solidFill>
                <a:latin typeface="Open Sans"/>
              </a:rPr>
              <a:t> hybrid </a:t>
            </a:r>
            <a:r>
              <a:rPr sz="2000" b="0" i="0" u="none" dirty="0" err="1">
                <a:solidFill>
                  <a:srgbClr val="2C3E50"/>
                </a:solidFill>
                <a:latin typeface="Open Sans"/>
              </a:rPr>
              <a:t>tận</a:t>
            </a:r>
            <a:r>
              <a:rPr sz="2000" b="0" i="0" u="none" dirty="0">
                <a:solidFill>
                  <a:srgbClr val="2C3E50"/>
                </a:solidFill>
                <a:latin typeface="Open Sans"/>
              </a:rPr>
              <a:t> </a:t>
            </a:r>
            <a:r>
              <a:rPr sz="2000" b="0" i="0" u="none" dirty="0" err="1">
                <a:solidFill>
                  <a:srgbClr val="2C3E50"/>
                </a:solidFill>
                <a:latin typeface="Open Sans"/>
              </a:rPr>
              <a:t>dụng</a:t>
            </a:r>
            <a:r>
              <a:rPr sz="2000" b="0" i="0" u="none" dirty="0">
                <a:solidFill>
                  <a:srgbClr val="2C3E50"/>
                </a:solidFill>
                <a:latin typeface="Open Sans"/>
              </a:rPr>
              <a:t> </a:t>
            </a:r>
            <a:r>
              <a:rPr sz="2000" b="0" i="0" u="none" dirty="0" err="1">
                <a:solidFill>
                  <a:srgbClr val="2C3E50"/>
                </a:solidFill>
                <a:latin typeface="Open Sans"/>
              </a:rPr>
              <a:t>sức</a:t>
            </a:r>
            <a:r>
              <a:rPr sz="2000" b="0" i="0" u="none" dirty="0">
                <a:solidFill>
                  <a:srgbClr val="2C3E50"/>
                </a:solidFill>
                <a:latin typeface="Open Sans"/>
              </a:rPr>
              <a:t> </a:t>
            </a:r>
            <a:r>
              <a:rPr sz="2000" b="0" i="0" u="none" dirty="0" err="1">
                <a:solidFill>
                  <a:srgbClr val="2C3E50"/>
                </a:solidFill>
                <a:latin typeface="Open Sans"/>
              </a:rPr>
              <a:t>mạnh</a:t>
            </a:r>
            <a:r>
              <a:rPr sz="2000" b="0" i="0" u="none" dirty="0">
                <a:solidFill>
                  <a:srgbClr val="2C3E50"/>
                </a:solidFill>
                <a:latin typeface="Open Sans"/>
              </a:rPr>
              <a:t> </a:t>
            </a:r>
            <a:r>
              <a:rPr sz="2000" b="0" i="0" u="none" dirty="0" err="1">
                <a:solidFill>
                  <a:srgbClr val="2C3E50"/>
                </a:solidFill>
                <a:latin typeface="Open Sans"/>
              </a:rPr>
              <a:t>tính</a:t>
            </a:r>
            <a:r>
              <a:rPr sz="2000" b="0" i="0" u="none" dirty="0">
                <a:solidFill>
                  <a:srgbClr val="2C3E50"/>
                </a:solidFill>
                <a:latin typeface="Open Sans"/>
              </a:rPr>
              <a:t> </a:t>
            </a:r>
            <a:r>
              <a:rPr sz="2000" b="0" i="0" u="none" dirty="0" err="1">
                <a:solidFill>
                  <a:srgbClr val="2C3E50"/>
                </a:solidFill>
                <a:latin typeface="Open Sans"/>
              </a:rPr>
              <a:t>toán</a:t>
            </a:r>
            <a:r>
              <a:rPr sz="2000" b="0" i="0" u="none" dirty="0">
                <a:solidFill>
                  <a:srgbClr val="2C3E50"/>
                </a:solidFill>
                <a:latin typeface="Open Sans"/>
              </a:rPr>
              <a:t> </a:t>
            </a:r>
            <a:r>
              <a:rPr sz="2000" b="0" i="0" u="none" dirty="0" err="1">
                <a:solidFill>
                  <a:srgbClr val="2C3E50"/>
                </a:solidFill>
                <a:latin typeface="Open Sans"/>
              </a:rPr>
              <a:t>đám</a:t>
            </a:r>
            <a:r>
              <a:rPr sz="2000" b="0" i="0" u="none" dirty="0">
                <a:solidFill>
                  <a:srgbClr val="2C3E50"/>
                </a:solidFill>
                <a:latin typeface="Open Sans"/>
              </a:rPr>
              <a:t> </a:t>
            </a:r>
            <a:r>
              <a:rPr sz="2000" b="0" i="0" u="none" dirty="0" err="1">
                <a:solidFill>
                  <a:srgbClr val="2C3E50"/>
                </a:solidFill>
                <a:latin typeface="Open Sans"/>
              </a:rPr>
              <a:t>mây</a:t>
            </a:r>
            <a:r>
              <a:rPr sz="2000" b="0" i="0" u="none" dirty="0">
                <a:solidFill>
                  <a:srgbClr val="2C3E50"/>
                </a:solidFill>
                <a:latin typeface="Open Sans"/>
              </a:rPr>
              <a:t> </a:t>
            </a:r>
            <a:r>
              <a:rPr sz="2000" b="0" i="0" u="none" dirty="0" err="1">
                <a:solidFill>
                  <a:srgbClr val="2C3E50"/>
                </a:solidFill>
                <a:latin typeface="Open Sans"/>
              </a:rPr>
              <a:t>và</a:t>
            </a:r>
            <a:r>
              <a:rPr sz="2000" b="0" i="0" u="none" dirty="0">
                <a:solidFill>
                  <a:srgbClr val="2C3E50"/>
                </a:solidFill>
                <a:latin typeface="Open Sans"/>
              </a:rPr>
              <a:t> </a:t>
            </a:r>
            <a:r>
              <a:rPr sz="2000" b="0" i="0" u="none" dirty="0" err="1">
                <a:solidFill>
                  <a:srgbClr val="2C3E50"/>
                </a:solidFill>
                <a:latin typeface="Open Sans"/>
              </a:rPr>
              <a:t>sự</a:t>
            </a:r>
            <a:r>
              <a:rPr sz="2000" b="0" i="0" u="none" dirty="0">
                <a:solidFill>
                  <a:srgbClr val="2C3E50"/>
                </a:solidFill>
                <a:latin typeface="Open Sans"/>
              </a:rPr>
              <a:t> </a:t>
            </a:r>
            <a:r>
              <a:rPr sz="2000" b="0" i="0" u="none" dirty="0" err="1">
                <a:solidFill>
                  <a:srgbClr val="2C3E50"/>
                </a:solidFill>
                <a:latin typeface="Open Sans"/>
              </a:rPr>
              <a:t>linh</a:t>
            </a:r>
            <a:r>
              <a:rPr sz="2000" b="0" i="0" u="none" dirty="0">
                <a:solidFill>
                  <a:srgbClr val="2C3E50"/>
                </a:solidFill>
                <a:latin typeface="Open Sans"/>
              </a:rPr>
              <a:t> </a:t>
            </a:r>
            <a:r>
              <a:rPr sz="2000" b="0" i="0" u="none" dirty="0" err="1">
                <a:solidFill>
                  <a:srgbClr val="2C3E50"/>
                </a:solidFill>
                <a:latin typeface="Open Sans"/>
              </a:rPr>
              <a:t>hoạt</a:t>
            </a:r>
            <a:r>
              <a:rPr sz="2000" b="0" i="0" u="none" dirty="0">
                <a:solidFill>
                  <a:srgbClr val="2C3E50"/>
                </a:solidFill>
                <a:latin typeface="Open Sans"/>
              </a:rPr>
              <a:t> </a:t>
            </a:r>
            <a:r>
              <a:rPr sz="2000" b="0" i="0" u="none" dirty="0" err="1">
                <a:solidFill>
                  <a:srgbClr val="2C3E50"/>
                </a:solidFill>
                <a:latin typeface="Open Sans"/>
              </a:rPr>
              <a:t>của</a:t>
            </a:r>
            <a:r>
              <a:rPr sz="2000" b="0" i="0" u="none" dirty="0">
                <a:solidFill>
                  <a:srgbClr val="2C3E50"/>
                </a:solidFill>
                <a:latin typeface="Open Sans"/>
              </a:rPr>
              <a:t> </a:t>
            </a:r>
            <a:r>
              <a:rPr sz="2000" b="0" i="0" u="none" dirty="0" err="1">
                <a:solidFill>
                  <a:srgbClr val="2C3E50"/>
                </a:solidFill>
                <a:latin typeface="Open Sans"/>
              </a:rPr>
              <a:t>kiến</a:t>
            </a:r>
            <a:r>
              <a:rPr sz="2000" b="0" i="0" u="none" dirty="0">
                <a:solidFill>
                  <a:srgbClr val="2C3E50"/>
                </a:solidFill>
                <a:latin typeface="Open Sans"/>
              </a:rPr>
              <a:t> </a:t>
            </a:r>
            <a:r>
              <a:rPr sz="2000" b="0" i="0" u="none" dirty="0" err="1">
                <a:solidFill>
                  <a:srgbClr val="2C3E50"/>
                </a:solidFill>
                <a:latin typeface="Open Sans"/>
              </a:rPr>
              <a:t>trúc</a:t>
            </a:r>
            <a:r>
              <a:rPr sz="2000" b="0" i="0" u="none" dirty="0">
                <a:solidFill>
                  <a:srgbClr val="2C3E50"/>
                </a:solidFill>
                <a:latin typeface="Open Sans"/>
              </a:rPr>
              <a:t> Microservices </a:t>
            </a:r>
            <a:r>
              <a:rPr sz="2000" b="0" i="0" u="none" dirty="0" err="1">
                <a:solidFill>
                  <a:srgbClr val="2C3E50"/>
                </a:solidFill>
                <a:latin typeface="Open Sans"/>
              </a:rPr>
              <a:t>để</a:t>
            </a:r>
            <a:r>
              <a:rPr sz="2000" b="0" i="0" u="none" dirty="0">
                <a:solidFill>
                  <a:srgbClr val="2C3E50"/>
                </a:solidFill>
                <a:latin typeface="Open Sans"/>
              </a:rPr>
              <a:t> </a:t>
            </a:r>
            <a:r>
              <a:rPr sz="2000" b="0" i="0" u="none" dirty="0" err="1">
                <a:solidFill>
                  <a:srgbClr val="2C3E50"/>
                </a:solidFill>
                <a:latin typeface="Open Sans"/>
              </a:rPr>
              <a:t>đảm</a:t>
            </a:r>
            <a:r>
              <a:rPr sz="2000" b="0" i="0" u="none" dirty="0">
                <a:solidFill>
                  <a:srgbClr val="2C3E50"/>
                </a:solidFill>
                <a:latin typeface="Open Sans"/>
              </a:rPr>
              <a:t> </a:t>
            </a:r>
            <a:r>
              <a:rPr sz="2000" b="0" i="0" u="none" dirty="0" err="1">
                <a:solidFill>
                  <a:srgbClr val="2C3E50"/>
                </a:solidFill>
                <a:latin typeface="Open Sans"/>
              </a:rPr>
              <a:t>bảo</a:t>
            </a:r>
            <a:r>
              <a:rPr sz="2000" b="0" i="0" u="none" dirty="0">
                <a:solidFill>
                  <a:srgbClr val="2C3E50"/>
                </a:solidFill>
                <a:latin typeface="Open Sans"/>
              </a:rPr>
              <a:t> </a:t>
            </a:r>
            <a:r>
              <a:rPr sz="2000" b="0" i="0" u="none" dirty="0" err="1">
                <a:solidFill>
                  <a:srgbClr val="2C3E50"/>
                </a:solidFill>
                <a:latin typeface="Open Sans"/>
              </a:rPr>
              <a:t>tính</a:t>
            </a:r>
            <a:r>
              <a:rPr sz="2000" b="0" i="0" u="none" dirty="0">
                <a:solidFill>
                  <a:srgbClr val="2C3E50"/>
                </a:solidFill>
                <a:latin typeface="Open Sans"/>
              </a:rPr>
              <a:t> </a:t>
            </a:r>
            <a:r>
              <a:rPr sz="2000" b="0" i="0" u="none" dirty="0" err="1">
                <a:solidFill>
                  <a:srgbClr val="2C3E50"/>
                </a:solidFill>
                <a:latin typeface="Open Sans"/>
              </a:rPr>
              <a:t>sẵn</a:t>
            </a:r>
            <a:r>
              <a:rPr sz="2000" b="0" i="0" u="none" dirty="0">
                <a:solidFill>
                  <a:srgbClr val="2C3E50"/>
                </a:solidFill>
                <a:latin typeface="Open Sans"/>
              </a:rPr>
              <a:t> </a:t>
            </a:r>
            <a:r>
              <a:rPr sz="2000" b="0" i="0" u="none" dirty="0" err="1">
                <a:solidFill>
                  <a:srgbClr val="2C3E50"/>
                </a:solidFill>
                <a:latin typeface="Open Sans"/>
              </a:rPr>
              <a:t>sàng</a:t>
            </a:r>
            <a:r>
              <a:rPr sz="2000" b="0" i="0" u="none" dirty="0">
                <a:solidFill>
                  <a:srgbClr val="2C3E50"/>
                </a:solidFill>
                <a:latin typeface="Open Sans"/>
              </a:rPr>
              <a:t> </a:t>
            </a:r>
            <a:r>
              <a:rPr sz="2000" b="0" i="0" u="none" dirty="0" err="1">
                <a:solidFill>
                  <a:srgbClr val="2C3E50"/>
                </a:solidFill>
                <a:latin typeface="Open Sans"/>
              </a:rPr>
              <a:t>cao</a:t>
            </a:r>
            <a:r>
              <a:rPr sz="2000" b="0" i="0" u="none" dirty="0">
                <a:solidFill>
                  <a:srgbClr val="2C3E50"/>
                </a:solidFill>
                <a:latin typeface="Open Sans"/>
              </a:rPr>
              <a:t> </a:t>
            </a:r>
            <a:r>
              <a:rPr sz="2000" b="0" i="0" u="none" dirty="0" err="1">
                <a:solidFill>
                  <a:srgbClr val="2C3E50"/>
                </a:solidFill>
                <a:latin typeface="Open Sans"/>
              </a:rPr>
              <a:t>và</a:t>
            </a:r>
            <a:r>
              <a:rPr sz="2000" b="0" i="0" u="none" dirty="0">
                <a:solidFill>
                  <a:srgbClr val="2C3E50"/>
                </a:solidFill>
                <a:latin typeface="Open Sans"/>
              </a:rPr>
              <a:t> </a:t>
            </a:r>
            <a:r>
              <a:rPr sz="2000" b="0" i="0" u="none" dirty="0" err="1">
                <a:solidFill>
                  <a:srgbClr val="2C3E50"/>
                </a:solidFill>
                <a:latin typeface="Open Sans"/>
              </a:rPr>
              <a:t>khả</a:t>
            </a:r>
            <a:r>
              <a:rPr sz="2000" b="0" i="0" u="none" dirty="0">
                <a:solidFill>
                  <a:srgbClr val="2C3E50"/>
                </a:solidFill>
                <a:latin typeface="Open Sans"/>
              </a:rPr>
              <a:t> </a:t>
            </a:r>
            <a:r>
              <a:rPr sz="2000" b="0" i="0" u="none" dirty="0" err="1">
                <a:solidFill>
                  <a:srgbClr val="2C3E50"/>
                </a:solidFill>
                <a:latin typeface="Open Sans"/>
              </a:rPr>
              <a:t>năng</a:t>
            </a:r>
            <a:r>
              <a:rPr sz="2000" b="0" i="0" u="none" dirty="0">
                <a:solidFill>
                  <a:srgbClr val="2C3E50"/>
                </a:solidFill>
                <a:latin typeface="Open Sans"/>
              </a:rPr>
              <a:t> </a:t>
            </a:r>
            <a:r>
              <a:rPr lang="en-US" sz="2000" b="0" i="0" u="none" dirty="0">
                <a:solidFill>
                  <a:srgbClr val="2C3E50"/>
                </a:solidFill>
                <a:latin typeface="Open Sans"/>
              </a:rPr>
              <a:t>plug-and-play </a:t>
            </a:r>
            <a:r>
              <a:rPr sz="2000" b="0" i="0" u="none" dirty="0" err="1">
                <a:solidFill>
                  <a:srgbClr val="2C3E50"/>
                </a:solidFill>
                <a:latin typeface="Open Sans"/>
              </a:rPr>
              <a:t>các</a:t>
            </a:r>
            <a:r>
              <a:rPr sz="2000" b="0" i="0" u="none" dirty="0">
                <a:solidFill>
                  <a:srgbClr val="2C3E50"/>
                </a:solidFill>
                <a:latin typeface="Open Sans"/>
              </a:rPr>
              <a:t> </a:t>
            </a:r>
            <a:r>
              <a:rPr sz="2000" b="0" i="0" u="none" dirty="0" err="1">
                <a:solidFill>
                  <a:srgbClr val="2C3E50"/>
                </a:solidFill>
                <a:latin typeface="Open Sans"/>
              </a:rPr>
              <a:t>mô</a:t>
            </a:r>
            <a:r>
              <a:rPr sz="2000" b="0" i="0" u="none" dirty="0">
                <a:solidFill>
                  <a:srgbClr val="2C3E50"/>
                </a:solidFill>
                <a:latin typeface="Open Sans"/>
              </a:rPr>
              <a:t> </a:t>
            </a:r>
            <a:r>
              <a:rPr sz="2000" b="0" i="0" u="none" dirty="0" err="1">
                <a:solidFill>
                  <a:srgbClr val="2C3E50"/>
                </a:solidFill>
                <a:latin typeface="Open Sans"/>
              </a:rPr>
              <a:t>hình</a:t>
            </a:r>
            <a:r>
              <a:rPr sz="2000" b="0" i="0" u="none" dirty="0">
                <a:solidFill>
                  <a:srgbClr val="2C3E50"/>
                </a:solidFill>
                <a:latin typeface="Open Sans"/>
              </a:rPr>
              <a:t> AI </a:t>
            </a:r>
            <a:r>
              <a:rPr sz="2000" b="0" i="0" u="none" dirty="0" err="1">
                <a:solidFill>
                  <a:srgbClr val="2C3E50"/>
                </a:solidFill>
                <a:latin typeface="Open Sans"/>
              </a:rPr>
              <a:t>khác</a:t>
            </a:r>
            <a:r>
              <a:rPr sz="2000" b="0" i="0" u="none" dirty="0">
                <a:solidFill>
                  <a:srgbClr val="2C3E50"/>
                </a:solidFill>
                <a:latin typeface="Open Sans"/>
              </a:rPr>
              <a:t> </a:t>
            </a:r>
            <a:r>
              <a:rPr sz="2000" b="0" i="0" u="none" dirty="0" err="1">
                <a:solidFill>
                  <a:srgbClr val="2C3E50"/>
                </a:solidFill>
                <a:latin typeface="Open Sans"/>
              </a:rPr>
              <a:t>nhau</a:t>
            </a:r>
            <a:r>
              <a:rPr sz="2000" b="0" i="0" u="none" dirty="0">
                <a:solidFill>
                  <a:srgbClr val="2C3E50"/>
                </a:solidFill>
                <a:latin typeface="Open Sans"/>
              </a:rPr>
              <a:t>.</a:t>
            </a:r>
          </a:p>
        </p:txBody>
      </p:sp>
      <p:sp>
        <p:nvSpPr>
          <p:cNvPr id="5" name="TextBox 4"/>
          <p:cNvSpPr txBox="1"/>
          <p:nvPr/>
        </p:nvSpPr>
        <p:spPr>
          <a:xfrm>
            <a:off x="1000125" y="3495675"/>
            <a:ext cx="3599867" cy="307777"/>
          </a:xfrm>
          <a:prstGeom prst="rect">
            <a:avLst/>
          </a:prstGeom>
          <a:noFill/>
        </p:spPr>
        <p:txBody>
          <a:bodyPr wrap="square" lIns="0" tIns="0" rIns="0" bIns="0" anchor="t">
            <a:spAutoFit/>
          </a:bodyPr>
          <a:lstStyle/>
          <a:p>
            <a:pPr algn="l">
              <a:lnSpc>
                <a:spcPts val="2400"/>
              </a:lnSpc>
            </a:pPr>
            <a:r>
              <a:rPr sz="2000" b="1" i="0" u="none" dirty="0" err="1">
                <a:solidFill>
                  <a:srgbClr val="2C3E50"/>
                </a:solidFill>
                <a:effectLst>
                  <a:outerShdw blurRad="38100" dist="38100" dir="2700000" algn="tl">
                    <a:srgbClr val="000000">
                      <a:alpha val="43137"/>
                    </a:srgbClr>
                  </a:outerShdw>
                </a:effectLst>
                <a:latin typeface="Open Sans"/>
              </a:rPr>
              <a:t>Môi</a:t>
            </a:r>
            <a:r>
              <a:rPr sz="2000" b="1" i="0" u="none" dirty="0">
                <a:solidFill>
                  <a:srgbClr val="2C3E50"/>
                </a:solidFill>
                <a:effectLst>
                  <a:outerShdw blurRad="38100" dist="38100" dir="2700000" algn="tl">
                    <a:srgbClr val="000000">
                      <a:alpha val="43137"/>
                    </a:srgbClr>
                  </a:outerShdw>
                </a:effectLst>
                <a:latin typeface="Open Sans"/>
              </a:rPr>
              <a:t> </a:t>
            </a:r>
            <a:r>
              <a:rPr sz="2000" b="1" i="0" u="none" dirty="0" err="1">
                <a:solidFill>
                  <a:srgbClr val="2C3E50"/>
                </a:solidFill>
                <a:effectLst>
                  <a:outerShdw blurRad="38100" dist="38100" dir="2700000" algn="tl">
                    <a:srgbClr val="000000">
                      <a:alpha val="43137"/>
                    </a:srgbClr>
                  </a:outerShdw>
                </a:effectLst>
                <a:latin typeface="Open Sans"/>
              </a:rPr>
              <a:t>trường</a:t>
            </a:r>
            <a:r>
              <a:rPr sz="2000" b="1" i="0" u="none" dirty="0">
                <a:solidFill>
                  <a:srgbClr val="2C3E50"/>
                </a:solidFill>
                <a:effectLst>
                  <a:outerShdw blurRad="38100" dist="38100" dir="2700000" algn="tl">
                    <a:srgbClr val="000000">
                      <a:alpha val="43137"/>
                    </a:srgbClr>
                  </a:outerShdw>
                </a:effectLst>
                <a:latin typeface="Open Sans"/>
              </a:rPr>
              <a:t>:</a:t>
            </a:r>
            <a:r>
              <a:rPr sz="2000" b="0" i="0" u="none" dirty="0">
                <a:solidFill>
                  <a:srgbClr val="2C3E50"/>
                </a:solidFill>
                <a:effectLst>
                  <a:outerShdw blurRad="38100" dist="38100" dir="2700000" algn="tl">
                    <a:srgbClr val="000000">
                      <a:alpha val="43137"/>
                    </a:srgbClr>
                  </a:outerShdw>
                </a:effectLst>
                <a:latin typeface="Open Sans"/>
              </a:rPr>
              <a:t> Cloud (</a:t>
            </a:r>
            <a:r>
              <a:rPr sz="2000" b="0" i="0" u="none" dirty="0" err="1">
                <a:solidFill>
                  <a:srgbClr val="2C3E50"/>
                </a:solidFill>
                <a:effectLst>
                  <a:outerShdw blurRad="38100" dist="38100" dir="2700000" algn="tl">
                    <a:srgbClr val="000000">
                      <a:alpha val="43137"/>
                    </a:srgbClr>
                  </a:outerShdw>
                </a:effectLst>
                <a:latin typeface="Open Sans"/>
              </a:rPr>
              <a:t>Colab</a:t>
            </a:r>
            <a:r>
              <a:rPr sz="2000" b="0" i="0" u="none" dirty="0">
                <a:solidFill>
                  <a:srgbClr val="2C3E50"/>
                </a:solidFill>
                <a:effectLst>
                  <a:outerShdw blurRad="38100" dist="38100" dir="2700000" algn="tl">
                    <a:srgbClr val="000000">
                      <a:alpha val="43137"/>
                    </a:srgbClr>
                  </a:outerShdw>
                </a:effectLst>
                <a:latin typeface="Open Sans"/>
              </a:rPr>
              <a:t>)</a:t>
            </a:r>
          </a:p>
        </p:txBody>
      </p:sp>
      <p:sp>
        <p:nvSpPr>
          <p:cNvPr id="6" name="TextBox 5"/>
          <p:cNvSpPr txBox="1"/>
          <p:nvPr/>
        </p:nvSpPr>
        <p:spPr>
          <a:xfrm>
            <a:off x="1000125" y="4038600"/>
            <a:ext cx="4085059" cy="307777"/>
          </a:xfrm>
          <a:prstGeom prst="rect">
            <a:avLst/>
          </a:prstGeom>
          <a:noFill/>
        </p:spPr>
        <p:txBody>
          <a:bodyPr wrap="square" lIns="0" tIns="0" rIns="0" bIns="0" anchor="t">
            <a:spAutoFit/>
          </a:bodyPr>
          <a:lstStyle/>
          <a:p>
            <a:pPr algn="l">
              <a:lnSpc>
                <a:spcPts val="2400"/>
              </a:lnSpc>
            </a:pPr>
            <a:r>
              <a:rPr sz="2000" b="1" i="0" u="none" dirty="0" err="1">
                <a:solidFill>
                  <a:srgbClr val="2C3E50"/>
                </a:solidFill>
                <a:effectLst>
                  <a:outerShdw blurRad="38100" dist="38100" dir="2700000" algn="tl">
                    <a:srgbClr val="000000">
                      <a:alpha val="43137"/>
                    </a:srgbClr>
                  </a:outerShdw>
                </a:effectLst>
                <a:latin typeface="Open Sans"/>
              </a:rPr>
              <a:t>Tính</a:t>
            </a:r>
            <a:r>
              <a:rPr sz="2000" b="1" i="0" u="none" dirty="0">
                <a:solidFill>
                  <a:srgbClr val="2C3E50"/>
                </a:solidFill>
                <a:effectLst>
                  <a:outerShdw blurRad="38100" dist="38100" dir="2700000" algn="tl">
                    <a:srgbClr val="000000">
                      <a:alpha val="43137"/>
                    </a:srgbClr>
                  </a:outerShdw>
                </a:effectLst>
                <a:latin typeface="Open Sans"/>
              </a:rPr>
              <a:t> </a:t>
            </a:r>
            <a:r>
              <a:rPr sz="2000" b="1" i="0" u="none" dirty="0" err="1">
                <a:solidFill>
                  <a:srgbClr val="2C3E50"/>
                </a:solidFill>
                <a:effectLst>
                  <a:outerShdw blurRad="38100" dist="38100" dir="2700000" algn="tl">
                    <a:srgbClr val="000000">
                      <a:alpha val="43137"/>
                    </a:srgbClr>
                  </a:outerShdw>
                </a:effectLst>
                <a:latin typeface="Open Sans"/>
              </a:rPr>
              <a:t>toán</a:t>
            </a:r>
            <a:r>
              <a:rPr sz="2000" b="1" i="0" u="none" dirty="0">
                <a:solidFill>
                  <a:srgbClr val="2C3E50"/>
                </a:solidFill>
                <a:effectLst>
                  <a:outerShdw blurRad="38100" dist="38100" dir="2700000" algn="tl">
                    <a:srgbClr val="000000">
                      <a:alpha val="43137"/>
                    </a:srgbClr>
                  </a:outerShdw>
                </a:effectLst>
                <a:latin typeface="Open Sans"/>
              </a:rPr>
              <a:t>:</a:t>
            </a:r>
            <a:r>
              <a:rPr sz="2000" b="0" i="0" u="none" dirty="0">
                <a:solidFill>
                  <a:srgbClr val="2C3E50"/>
                </a:solidFill>
                <a:effectLst>
                  <a:outerShdw blurRad="38100" dist="38100" dir="2700000" algn="tl">
                    <a:srgbClr val="000000">
                      <a:alpha val="43137"/>
                    </a:srgbClr>
                  </a:outerShdw>
                </a:effectLst>
                <a:latin typeface="Open Sans"/>
              </a:rPr>
              <a:t> Tensor/GPU</a:t>
            </a:r>
            <a:r>
              <a:rPr lang="vi-VN" sz="2000" b="0" i="0" u="none" dirty="0">
                <a:solidFill>
                  <a:srgbClr val="2C3E50"/>
                </a:solidFill>
                <a:effectLst>
                  <a:outerShdw blurRad="38100" dist="38100" dir="2700000" algn="tl">
                    <a:srgbClr val="000000">
                      <a:alpha val="43137"/>
                    </a:srgbClr>
                  </a:outerShdw>
                </a:effectLst>
                <a:latin typeface="Open Sans"/>
              </a:rPr>
              <a:t> </a:t>
            </a:r>
            <a:r>
              <a:rPr sz="2000" b="0" i="0" u="none" dirty="0">
                <a:solidFill>
                  <a:srgbClr val="2C3E50"/>
                </a:solidFill>
                <a:effectLst>
                  <a:outerShdw blurRad="38100" dist="38100" dir="2700000" algn="tl">
                    <a:srgbClr val="000000">
                      <a:alpha val="43137"/>
                    </a:srgbClr>
                  </a:outerShdw>
                </a:effectLst>
                <a:latin typeface="Open Sans"/>
              </a:rPr>
              <a:t>Compute</a:t>
            </a:r>
          </a:p>
        </p:txBody>
      </p:sp>
      <p:sp>
        <p:nvSpPr>
          <p:cNvPr id="7" name="TextBox 6"/>
          <p:cNvSpPr txBox="1"/>
          <p:nvPr/>
        </p:nvSpPr>
        <p:spPr>
          <a:xfrm>
            <a:off x="1000125" y="4581525"/>
            <a:ext cx="4085059" cy="307777"/>
          </a:xfrm>
          <a:prstGeom prst="rect">
            <a:avLst/>
          </a:prstGeom>
          <a:noFill/>
        </p:spPr>
        <p:txBody>
          <a:bodyPr wrap="square" lIns="0" tIns="0" rIns="0" bIns="0" anchor="t">
            <a:spAutoFit/>
          </a:bodyPr>
          <a:lstStyle/>
          <a:p>
            <a:pPr algn="l">
              <a:lnSpc>
                <a:spcPts val="2400"/>
              </a:lnSpc>
            </a:pPr>
            <a:r>
              <a:rPr sz="2000" b="1" i="0" u="none" dirty="0">
                <a:solidFill>
                  <a:srgbClr val="2C3E50"/>
                </a:solidFill>
                <a:effectLst>
                  <a:outerShdw blurRad="38100" dist="38100" dir="2700000" algn="tl">
                    <a:srgbClr val="000000">
                      <a:alpha val="43137"/>
                    </a:srgbClr>
                  </a:outerShdw>
                </a:effectLst>
                <a:latin typeface="Open Sans"/>
              </a:rPr>
              <a:t>Giao </a:t>
            </a:r>
            <a:r>
              <a:rPr sz="2000" b="1" i="0" u="none" dirty="0" err="1">
                <a:solidFill>
                  <a:srgbClr val="2C3E50"/>
                </a:solidFill>
                <a:effectLst>
                  <a:outerShdw blurRad="38100" dist="38100" dir="2700000" algn="tl">
                    <a:srgbClr val="000000">
                      <a:alpha val="43137"/>
                    </a:srgbClr>
                  </a:outerShdw>
                </a:effectLst>
                <a:latin typeface="Open Sans"/>
              </a:rPr>
              <a:t>tiếp</a:t>
            </a:r>
            <a:r>
              <a:rPr sz="2000" b="1" i="0" u="none" dirty="0">
                <a:solidFill>
                  <a:srgbClr val="2C3E50"/>
                </a:solidFill>
                <a:effectLst>
                  <a:outerShdw blurRad="38100" dist="38100" dir="2700000" algn="tl">
                    <a:srgbClr val="000000">
                      <a:alpha val="43137"/>
                    </a:srgbClr>
                  </a:outerShdw>
                </a:effectLst>
                <a:latin typeface="Open Sans"/>
              </a:rPr>
              <a:t>:</a:t>
            </a:r>
            <a:r>
              <a:rPr sz="2000" b="0" i="0" u="none" dirty="0">
                <a:solidFill>
                  <a:srgbClr val="2C3E50"/>
                </a:solidFill>
                <a:effectLst>
                  <a:outerShdw blurRad="38100" dist="38100" dir="2700000" algn="tl">
                    <a:srgbClr val="000000">
                      <a:alpha val="43137"/>
                    </a:srgbClr>
                  </a:outerShdw>
                </a:effectLst>
                <a:latin typeface="Open Sans"/>
              </a:rPr>
              <a:t> HTTP/RESTful</a:t>
            </a:r>
          </a:p>
        </p:txBody>
      </p:sp>
      <p:pic>
        <p:nvPicPr>
          <p:cNvPr id="8" name="Picture 7" descr="image.png"/>
          <p:cNvPicPr>
            <a:picLocks noChangeAspect="1"/>
          </p:cNvPicPr>
          <p:nvPr/>
        </p:nvPicPr>
        <p:blipFill>
          <a:blip r:embed="rId3"/>
          <a:stretch>
            <a:fillRect/>
          </a:stretch>
        </p:blipFill>
        <p:spPr>
          <a:xfrm>
            <a:off x="571500" y="3524250"/>
            <a:ext cx="285750" cy="247650"/>
          </a:xfrm>
          <a:prstGeom prst="rect">
            <a:avLst/>
          </a:prstGeom>
        </p:spPr>
      </p:pic>
      <p:pic>
        <p:nvPicPr>
          <p:cNvPr id="9" name="Picture 8" descr="image.png"/>
          <p:cNvPicPr>
            <a:picLocks noChangeAspect="1"/>
          </p:cNvPicPr>
          <p:nvPr/>
        </p:nvPicPr>
        <p:blipFill>
          <a:blip r:embed="rId4"/>
          <a:stretch>
            <a:fillRect/>
          </a:stretch>
        </p:blipFill>
        <p:spPr>
          <a:xfrm>
            <a:off x="571500" y="4067175"/>
            <a:ext cx="228600" cy="247650"/>
          </a:xfrm>
          <a:prstGeom prst="rect">
            <a:avLst/>
          </a:prstGeom>
        </p:spPr>
      </p:pic>
      <p:pic>
        <p:nvPicPr>
          <p:cNvPr id="10" name="Picture 9" descr="image.png"/>
          <p:cNvPicPr>
            <a:picLocks noChangeAspect="1"/>
          </p:cNvPicPr>
          <p:nvPr/>
        </p:nvPicPr>
        <p:blipFill>
          <a:blip r:embed="rId5"/>
          <a:stretch>
            <a:fillRect/>
          </a:stretch>
        </p:blipFill>
        <p:spPr>
          <a:xfrm>
            <a:off x="571500" y="4610100"/>
            <a:ext cx="171450" cy="247650"/>
          </a:xfrm>
          <a:prstGeom prst="rect">
            <a:avLst/>
          </a:prstGeom>
        </p:spPr>
      </p:pic>
      <p:sp>
        <p:nvSpPr>
          <p:cNvPr id="12" name="Rectangle 11">
            <a:extLst>
              <a:ext uri="{FF2B5EF4-FFF2-40B4-BE49-F238E27FC236}">
                <a16:creationId xmlns:a16="http://schemas.microsoft.com/office/drawing/2014/main" id="{DF56714D-EFF9-C571-A1AE-67A02A6E732E}"/>
              </a:ext>
            </a:extLst>
          </p:cNvPr>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649DAFFA-34ED-B1A6-C4DC-CB961D62ED9F}"/>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D3345CC8-CFB7-0A6A-7E13-FF2A4F779487}"/>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2181225"/>
            <a:ext cx="3492549" cy="3371850"/>
          </a:xfrm>
          <a:prstGeom prst="rect">
            <a:avLst/>
          </a:prstGeom>
        </p:spPr>
      </p:pic>
      <p:pic>
        <p:nvPicPr>
          <p:cNvPr id="3" name="Picture 2" descr="image.png"/>
          <p:cNvPicPr>
            <a:picLocks noChangeAspect="1"/>
          </p:cNvPicPr>
          <p:nvPr/>
        </p:nvPicPr>
        <p:blipFill>
          <a:blip r:embed="rId3"/>
          <a:stretch>
            <a:fillRect/>
          </a:stretch>
        </p:blipFill>
        <p:spPr>
          <a:xfrm>
            <a:off x="4349799" y="2181225"/>
            <a:ext cx="3492549" cy="3371850"/>
          </a:xfrm>
          <a:prstGeom prst="rect">
            <a:avLst/>
          </a:prstGeom>
        </p:spPr>
      </p:pic>
      <p:pic>
        <p:nvPicPr>
          <p:cNvPr id="4" name="Picture 3" descr="image.png"/>
          <p:cNvPicPr>
            <a:picLocks noChangeAspect="1"/>
          </p:cNvPicPr>
          <p:nvPr/>
        </p:nvPicPr>
        <p:blipFill>
          <a:blip r:embed="rId4"/>
          <a:stretch>
            <a:fillRect/>
          </a:stretch>
        </p:blipFill>
        <p:spPr>
          <a:xfrm>
            <a:off x="8128099" y="2181225"/>
            <a:ext cx="3492549" cy="3371850"/>
          </a:xfrm>
          <a:prstGeom prst="rect">
            <a:avLst/>
          </a:prstGeom>
        </p:spPr>
      </p:pic>
      <p:sp>
        <p:nvSpPr>
          <p:cNvPr id="5" name="Rectangle 4"/>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4375" y="647700"/>
            <a:ext cx="11451431" cy="495300"/>
          </a:xfrm>
          <a:prstGeom prst="rect">
            <a:avLst/>
          </a:prstGeom>
          <a:noFill/>
        </p:spPr>
        <p:txBody>
          <a:bodyPr wrap="square" lIns="0" tIns="0" rIns="0" bIns="0" anchor="t">
            <a:spAutoFit/>
          </a:bodyPr>
          <a:lstStyle/>
          <a:p>
            <a:pPr algn="l"/>
            <a:r>
              <a:rPr lang="en-US" sz="3150" b="1" i="0" u="none" dirty="0" err="1">
                <a:solidFill>
                  <a:srgbClr val="0056B3"/>
                </a:solidFill>
                <a:effectLst>
                  <a:outerShdw blurRad="38100" dist="38100" dir="2700000" algn="tl">
                    <a:srgbClr val="000000">
                      <a:alpha val="43137"/>
                    </a:srgbClr>
                  </a:outerShdw>
                </a:effectLst>
                <a:latin typeface="Montserrat"/>
              </a:rPr>
              <a:t>Luồng</a:t>
            </a:r>
            <a:r>
              <a:rPr lang="en-US" sz="3150" b="1" i="0" u="none" dirty="0">
                <a:solidFill>
                  <a:srgbClr val="0056B3"/>
                </a:solidFill>
                <a:effectLst>
                  <a:outerShdw blurRad="38100" dist="38100" dir="2700000" algn="tl">
                    <a:srgbClr val="000000">
                      <a:alpha val="43137"/>
                    </a:srgbClr>
                  </a:outerShdw>
                </a:effectLst>
                <a:latin typeface="Montserrat"/>
              </a:rPr>
              <a:t> </a:t>
            </a:r>
            <a:r>
              <a:rPr lang="en-US" sz="3150" b="1" i="0" u="none" dirty="0" err="1">
                <a:solidFill>
                  <a:srgbClr val="0056B3"/>
                </a:solidFill>
                <a:effectLst>
                  <a:outerShdw blurRad="38100" dist="38100" dir="2700000" algn="tl">
                    <a:srgbClr val="000000">
                      <a:alpha val="43137"/>
                    </a:srgbClr>
                  </a:outerShdw>
                </a:effectLst>
                <a:latin typeface="Montserrat"/>
              </a:rPr>
              <a:t>hoạt</a:t>
            </a:r>
            <a:r>
              <a:rPr lang="en-US" sz="3150" b="1" i="0" u="none" dirty="0">
                <a:solidFill>
                  <a:srgbClr val="0056B3"/>
                </a:solidFill>
                <a:effectLst>
                  <a:outerShdw blurRad="38100" dist="38100" dir="2700000" algn="tl">
                    <a:srgbClr val="000000">
                      <a:alpha val="43137"/>
                    </a:srgbClr>
                  </a:outerShdw>
                </a:effectLst>
                <a:latin typeface="Montserrat"/>
              </a:rPr>
              <a:t> </a:t>
            </a:r>
            <a:r>
              <a:rPr lang="en-US" sz="3150" b="1" i="0" u="none" dirty="0" err="1">
                <a:solidFill>
                  <a:srgbClr val="0056B3"/>
                </a:solidFill>
                <a:effectLst>
                  <a:outerShdw blurRad="38100" dist="38100" dir="2700000" algn="tl">
                    <a:srgbClr val="000000">
                      <a:alpha val="43137"/>
                    </a:srgbClr>
                  </a:outerShdw>
                </a:effectLst>
                <a:latin typeface="Montserrat"/>
              </a:rPr>
              <a:t>động</a:t>
            </a:r>
            <a:endParaRPr sz="3150" b="1" i="0" u="none" dirty="0">
              <a:solidFill>
                <a:srgbClr val="0056B3"/>
              </a:solidFill>
              <a:effectLst>
                <a:outerShdw blurRad="38100" dist="38100" dir="2700000" algn="tl">
                  <a:srgbClr val="000000">
                    <a:alpha val="43137"/>
                  </a:srgbClr>
                </a:outerShdw>
              </a:effectLst>
              <a:latin typeface="Montserrat"/>
            </a:endParaRPr>
          </a:p>
        </p:txBody>
      </p:sp>
      <p:sp>
        <p:nvSpPr>
          <p:cNvPr id="8" name="Rectangle 7"/>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7250" y="2466975"/>
            <a:ext cx="3067102" cy="369332"/>
          </a:xfrm>
          <a:prstGeom prst="rect">
            <a:avLst/>
          </a:prstGeom>
          <a:noFill/>
        </p:spPr>
        <p:txBody>
          <a:bodyPr wrap="square" lIns="0" tIns="0" rIns="0" bIns="0" anchor="t">
            <a:spAutoFit/>
          </a:bodyPr>
          <a:lstStyle/>
          <a:p>
            <a:pPr algn="l"/>
            <a:r>
              <a:rPr sz="2400" b="1" i="0" u="none" dirty="0">
                <a:latin typeface="Montserrat"/>
              </a:rPr>
              <a:t>1.</a:t>
            </a:r>
            <a:r>
              <a:rPr sz="2400" b="1" i="0" u="none" dirty="0">
                <a:solidFill>
                  <a:srgbClr val="0056B3"/>
                </a:solidFill>
                <a:latin typeface="Montserrat"/>
              </a:rPr>
              <a:t> </a:t>
            </a:r>
            <a:r>
              <a:rPr sz="2400" b="1" i="0" u="none" dirty="0" err="1">
                <a:solidFill>
                  <a:srgbClr val="0056B3"/>
                </a:solidFill>
                <a:latin typeface="Montserrat"/>
              </a:rPr>
              <a:t>Người</a:t>
            </a:r>
            <a:r>
              <a:rPr sz="2400" b="1" i="0" u="none" dirty="0">
                <a:solidFill>
                  <a:srgbClr val="0056B3"/>
                </a:solidFill>
                <a:latin typeface="Montserrat"/>
              </a:rPr>
              <a:t> </a:t>
            </a:r>
            <a:r>
              <a:rPr sz="2400" b="1" i="0" u="none" dirty="0" err="1">
                <a:solidFill>
                  <a:srgbClr val="0056B3"/>
                </a:solidFill>
                <a:latin typeface="Montserrat"/>
              </a:rPr>
              <a:t>dùng</a:t>
            </a:r>
            <a:endParaRPr sz="2400" b="1" i="0" u="none" dirty="0">
              <a:solidFill>
                <a:srgbClr val="0056B3"/>
              </a:solidFill>
              <a:latin typeface="Montserrat"/>
            </a:endParaRPr>
          </a:p>
        </p:txBody>
      </p:sp>
      <p:sp>
        <p:nvSpPr>
          <p:cNvPr id="10" name="TextBox 9"/>
          <p:cNvSpPr txBox="1"/>
          <p:nvPr/>
        </p:nvSpPr>
        <p:spPr>
          <a:xfrm>
            <a:off x="857250" y="2987814"/>
            <a:ext cx="2921049" cy="2434577"/>
          </a:xfrm>
          <a:prstGeom prst="rect">
            <a:avLst/>
          </a:prstGeom>
          <a:noFill/>
        </p:spPr>
        <p:txBody>
          <a:bodyPr wrap="square" lIns="0" tIns="0" rIns="0" bIns="0" anchor="t">
            <a:spAutoFit/>
          </a:bodyPr>
          <a:lstStyle/>
          <a:p>
            <a:pPr algn="l">
              <a:lnSpc>
                <a:spcPct val="114000"/>
              </a:lnSpc>
            </a:pPr>
            <a:r>
              <a:rPr sz="2000" b="0" i="0" u="none" dirty="0" err="1">
                <a:solidFill>
                  <a:srgbClr val="2C3E50"/>
                </a:solidFill>
                <a:effectLst>
                  <a:outerShdw blurRad="38100" dist="38100" dir="2700000" algn="tl">
                    <a:srgbClr val="000000">
                      <a:alpha val="43137"/>
                    </a:srgbClr>
                  </a:outerShdw>
                </a:effectLst>
                <a:latin typeface="Open Sans"/>
              </a:rPr>
              <a:t>Truy</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cập</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giao</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diện</a:t>
            </a:r>
            <a:r>
              <a:rPr sz="2000" b="0" i="0" u="none" dirty="0">
                <a:solidFill>
                  <a:srgbClr val="2C3E50"/>
                </a:solidFill>
                <a:effectLst>
                  <a:outerShdw blurRad="38100" dist="38100" dir="2700000" algn="tl">
                    <a:srgbClr val="000000">
                      <a:alpha val="43137"/>
                    </a:srgbClr>
                  </a:outerShdw>
                </a:effectLst>
                <a:latin typeface="Open Sans"/>
              </a:rPr>
              <a:t> Web Frontend</a:t>
            </a:r>
            <a:r>
              <a:rPr lang="en-US" sz="2000" b="0" i="0" u="none" dirty="0">
                <a:solidFill>
                  <a:srgbClr val="2C3E50"/>
                </a:solidFill>
                <a:effectLst>
                  <a:outerShdw blurRad="38100" dist="38100" dir="2700000" algn="tl">
                    <a:srgbClr val="000000">
                      <a:alpha val="43137"/>
                    </a:srgbClr>
                  </a:outerShdw>
                </a:effectLst>
                <a:latin typeface="Open Sans"/>
              </a:rPr>
              <a:t> </a:t>
            </a:r>
            <a:r>
              <a:rPr sz="2000" b="0" i="0" u="none" dirty="0">
                <a:solidFill>
                  <a:srgbClr val="2C3E50"/>
                </a:solidFill>
                <a:effectLst>
                  <a:outerShdw blurRad="38100" dist="38100" dir="2700000" algn="tl">
                    <a:srgbClr val="000000">
                      <a:alpha val="43137"/>
                    </a:srgbClr>
                  </a:outerShdw>
                </a:effectLst>
                <a:latin typeface="Open Sans"/>
              </a:rPr>
              <a:t>Upload </a:t>
            </a:r>
            <a:r>
              <a:rPr sz="2000" b="0" i="0" u="none" dirty="0" err="1">
                <a:solidFill>
                  <a:srgbClr val="2C3E50"/>
                </a:solidFill>
                <a:effectLst>
                  <a:outerShdw blurRad="38100" dist="38100" dir="2700000" algn="tl">
                    <a:srgbClr val="000000">
                      <a:alpha val="43137"/>
                    </a:srgbClr>
                  </a:outerShdw>
                </a:effectLst>
                <a:latin typeface="Open Sans"/>
              </a:rPr>
              <a:t>hình</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ảnh</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hoặc</a:t>
            </a:r>
            <a:r>
              <a:rPr sz="2000" b="0" i="0" u="none" dirty="0">
                <a:solidFill>
                  <a:srgbClr val="2C3E50"/>
                </a:solidFill>
                <a:effectLst>
                  <a:outerShdw blurRad="38100" dist="38100" dir="2700000" algn="tl">
                    <a:srgbClr val="000000">
                      <a:alpha val="43137"/>
                    </a:srgbClr>
                  </a:outerShdw>
                </a:effectLst>
                <a:latin typeface="Open Sans"/>
              </a:rPr>
              <a:t> video </a:t>
            </a:r>
            <a:r>
              <a:rPr sz="2000" b="0" i="0" u="none" dirty="0" err="1">
                <a:solidFill>
                  <a:srgbClr val="2C3E50"/>
                </a:solidFill>
                <a:effectLst>
                  <a:outerShdw blurRad="38100" dist="38100" dir="2700000" algn="tl">
                    <a:srgbClr val="000000">
                      <a:alpha val="43137"/>
                    </a:srgbClr>
                  </a:outerShdw>
                </a:effectLst>
                <a:latin typeface="Open Sans"/>
              </a:rPr>
              <a:t>cần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phân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tích</a:t>
            </a:r>
            <a:r>
              <a:rPr sz="2000" b="0" i="0" u="none" dirty="0">
                <a:solidFill>
                  <a:srgbClr val="2C3E50"/>
                </a:solidFill>
                <a:effectLst>
                  <a:outerShdw blurRad="38100" dist="38100" dir="2700000" algn="tl">
                    <a:srgbClr val="000000">
                      <a:alpha val="43137"/>
                    </a:srgbClr>
                  </a:outerShdw>
                </a:effectLst>
                <a:latin typeface="Open Sans"/>
              </a:rPr>
              <a:t>. Giao </a:t>
            </a:r>
            <a:r>
              <a:rPr sz="2000" b="0" i="0" u="none" dirty="0" err="1">
                <a:solidFill>
                  <a:srgbClr val="2C3E50"/>
                </a:solidFill>
                <a:effectLst>
                  <a:outerShdw blurRad="38100" dist="38100" dir="2700000" algn="tl">
                    <a:srgbClr val="000000">
                      <a:alpha val="43137"/>
                    </a:srgbClr>
                  </a:outerShdw>
                </a:effectLst>
                <a:latin typeface="Open Sans"/>
              </a:rPr>
              <a:t>diện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gửi</a:t>
            </a:r>
            <a:r>
              <a:rPr sz="2000" b="0" i="0" u="none" dirty="0">
                <a:solidFill>
                  <a:srgbClr val="2C3E50"/>
                </a:solidFill>
                <a:effectLst>
                  <a:outerShdw blurRad="38100" dist="38100" dir="2700000" algn="tl">
                    <a:srgbClr val="000000">
                      <a:alpha val="43137"/>
                    </a:srgbClr>
                  </a:outerShdw>
                </a:effectLst>
                <a:latin typeface="Open Sans"/>
              </a:rPr>
              <a:t> POST request </a:t>
            </a:r>
            <a:r>
              <a:rPr sz="2000" b="0" i="0" u="none" dirty="0" err="1">
                <a:solidFill>
                  <a:srgbClr val="2C3E50"/>
                </a:solidFill>
                <a:effectLst>
                  <a:outerShdw blurRad="38100" dist="38100" dir="2700000" algn="tl">
                    <a:srgbClr val="000000">
                      <a:alpha val="43137"/>
                    </a:srgbClr>
                  </a:outerShdw>
                </a:effectLst>
                <a:latin typeface="Open Sans"/>
              </a:rPr>
              <a:t>chứa</a:t>
            </a:r>
            <a:r>
              <a:rPr sz="2000" b="0" i="0" u="none" dirty="0">
                <a:solidFill>
                  <a:srgbClr val="2C3E50"/>
                </a:solidFill>
                <a:effectLst>
                  <a:outerShdw blurRad="38100" dist="38100" dir="2700000" algn="tl">
                    <a:srgbClr val="000000">
                      <a:alpha val="43137"/>
                    </a:srgbClr>
                  </a:outerShdw>
                </a:effectLst>
                <a:latin typeface="Open Sans"/>
              </a:rPr>
              <a:t> file </a:t>
            </a:r>
            <a:r>
              <a:rPr sz="2000" b="0" i="0" u="none" dirty="0" err="1">
                <a:solidFill>
                  <a:srgbClr val="2C3E50"/>
                </a:solidFill>
                <a:effectLst>
                  <a:outerShdw blurRad="38100" dist="38100" dir="2700000" algn="tl">
                    <a:srgbClr val="000000">
                      <a:alpha val="43137"/>
                    </a:srgbClr>
                  </a:outerShdw>
                </a:effectLst>
                <a:latin typeface="Open Sans"/>
              </a:rPr>
              <a:t>ảnh</a:t>
            </a:r>
            <a:r>
              <a:rPr sz="2000" b="0" i="0" u="none" dirty="0">
                <a:solidFill>
                  <a:srgbClr val="2C3E50"/>
                </a:solidFill>
                <a:effectLst>
                  <a:outerShdw blurRad="38100" dist="38100" dir="2700000" algn="tl">
                    <a:srgbClr val="000000">
                      <a:alpha val="43137"/>
                    </a:srgbClr>
                  </a:outerShdw>
                </a:effectLst>
                <a:latin typeface="Open Sans"/>
              </a:rPr>
              <a:t>/video </a:t>
            </a:r>
            <a:r>
              <a:rPr sz="2000" b="0" i="0" u="none" dirty="0" err="1">
                <a:solidFill>
                  <a:srgbClr val="2C3E50"/>
                </a:solidFill>
                <a:effectLst>
                  <a:outerShdw blurRad="38100" dist="38100" dir="2700000" algn="tl">
                    <a:srgbClr val="000000">
                      <a:alpha val="43137"/>
                    </a:srgbClr>
                  </a:outerShdw>
                </a:effectLst>
                <a:latin typeface="Open Sans"/>
              </a:rPr>
              <a:t>đến</a:t>
            </a:r>
            <a:r>
              <a:rPr sz="2000" b="0" i="0" u="none" dirty="0">
                <a:solidFill>
                  <a:srgbClr val="2C3E50"/>
                </a:solidFill>
                <a:effectLst>
                  <a:outerShdw blurRad="38100" dist="38100" dir="2700000" algn="tl">
                    <a:srgbClr val="000000">
                      <a:alpha val="43137"/>
                    </a:srgbClr>
                  </a:outerShdw>
                </a:effectLst>
                <a:latin typeface="Open Sans"/>
              </a:rPr>
              <a:t> Endpoint </a:t>
            </a:r>
            <a:r>
              <a:rPr sz="2000" b="0" i="0" u="none" dirty="0" err="1">
                <a:solidFill>
                  <a:srgbClr val="2C3E50"/>
                </a:solidFill>
                <a:effectLst>
                  <a:outerShdw blurRad="38100" dist="38100" dir="2700000" algn="tl">
                    <a:srgbClr val="000000">
                      <a:alpha val="43137"/>
                    </a:srgbClr>
                  </a:outerShdw>
                </a:effectLst>
                <a:latin typeface="Open Sans"/>
              </a:rPr>
              <a:t>của</a:t>
            </a:r>
            <a:r>
              <a:rPr sz="2000" b="0" i="0" u="none" dirty="0">
                <a:solidFill>
                  <a:srgbClr val="2C3E50"/>
                </a:solidFill>
                <a:effectLst>
                  <a:outerShdw blurRad="38100" dist="38100" dir="2700000" algn="tl">
                    <a:srgbClr val="000000">
                      <a:alpha val="43137"/>
                    </a:srgbClr>
                  </a:outerShdw>
                </a:effectLst>
                <a:latin typeface="Open Sans"/>
              </a:rPr>
              <a:t> API.</a:t>
            </a:r>
          </a:p>
        </p:txBody>
      </p:sp>
      <p:sp>
        <p:nvSpPr>
          <p:cNvPr id="11" name="TextBox 10"/>
          <p:cNvSpPr txBox="1"/>
          <p:nvPr/>
        </p:nvSpPr>
        <p:spPr>
          <a:xfrm>
            <a:off x="4635549" y="2466975"/>
            <a:ext cx="3067102" cy="369332"/>
          </a:xfrm>
          <a:prstGeom prst="rect">
            <a:avLst/>
          </a:prstGeom>
          <a:noFill/>
        </p:spPr>
        <p:txBody>
          <a:bodyPr wrap="square" lIns="0" tIns="0" rIns="0" bIns="0" anchor="t">
            <a:spAutoFit/>
          </a:bodyPr>
          <a:lstStyle/>
          <a:p>
            <a:pPr algn="l"/>
            <a:r>
              <a:rPr sz="2400" b="1" i="0" u="none" dirty="0">
                <a:latin typeface="Montserrat"/>
              </a:rPr>
              <a:t>2.</a:t>
            </a:r>
            <a:r>
              <a:rPr sz="2400" b="1" i="0" u="none" dirty="0">
                <a:solidFill>
                  <a:srgbClr val="0056B3"/>
                </a:solidFill>
                <a:latin typeface="Montserrat"/>
              </a:rPr>
              <a:t> </a:t>
            </a:r>
            <a:r>
              <a:rPr lang="en-US" sz="2400" b="1" i="0" u="none" dirty="0" err="1">
                <a:solidFill>
                  <a:srgbClr val="0056B3"/>
                </a:solidFill>
                <a:latin typeface="Montserrat"/>
              </a:rPr>
              <a:t>FastAPI</a:t>
            </a:r>
            <a:endParaRPr sz="2400" b="1" i="0" u="none" dirty="0">
              <a:solidFill>
                <a:srgbClr val="0056B3"/>
              </a:solidFill>
              <a:latin typeface="Montserrat"/>
            </a:endParaRPr>
          </a:p>
        </p:txBody>
      </p:sp>
      <p:sp>
        <p:nvSpPr>
          <p:cNvPr id="12" name="TextBox 11"/>
          <p:cNvSpPr txBox="1"/>
          <p:nvPr/>
        </p:nvSpPr>
        <p:spPr>
          <a:xfrm>
            <a:off x="4635549" y="2933700"/>
            <a:ext cx="2921049" cy="2462213"/>
          </a:xfrm>
          <a:prstGeom prst="rect">
            <a:avLst/>
          </a:prstGeom>
          <a:noFill/>
        </p:spPr>
        <p:txBody>
          <a:bodyPr wrap="square" lIns="0" tIns="0" rIns="0" bIns="0" anchor="t">
            <a:spAutoFit/>
          </a:bodyPr>
          <a:lstStyle/>
          <a:p>
            <a:pPr algn="l">
              <a:lnSpc>
                <a:spcPts val="2400"/>
              </a:lnSpc>
            </a:pPr>
            <a:r>
              <a:rPr sz="2000" b="0" i="0" u="none" dirty="0" err="1">
                <a:solidFill>
                  <a:srgbClr val="2C3E50"/>
                </a:solidFill>
                <a:effectLst>
                  <a:outerShdw blurRad="38100" dist="38100" dir="2700000" algn="tl">
                    <a:srgbClr val="000000">
                      <a:alpha val="43137"/>
                    </a:srgbClr>
                  </a:outerShdw>
                </a:effectLst>
                <a:latin typeface="Open Sans"/>
              </a:rPr>
              <a:t>Nhận</a:t>
            </a:r>
            <a:r>
              <a:rPr sz="2000" b="0" i="0" u="none" dirty="0">
                <a:solidFill>
                  <a:srgbClr val="2C3E50"/>
                </a:solidFill>
                <a:effectLst>
                  <a:outerShdw blurRad="38100" dist="38100" dir="2700000" algn="tl">
                    <a:srgbClr val="000000">
                      <a:alpha val="43137"/>
                    </a:srgbClr>
                  </a:outerShdw>
                </a:effectLst>
                <a:latin typeface="Open Sans"/>
              </a:rPr>
              <a:t> Request. </a:t>
            </a:r>
            <a:r>
              <a:rPr sz="2000" b="0" i="0" u="none" dirty="0" err="1">
                <a:solidFill>
                  <a:srgbClr val="2C3E50"/>
                </a:solidFill>
                <a:effectLst>
                  <a:outerShdw blurRad="38100" dist="38100" dir="2700000" algn="tl">
                    <a:srgbClr val="000000">
                      <a:alpha val="43137"/>
                    </a:srgbClr>
                  </a:outerShdw>
                </a:effectLst>
                <a:latin typeface="Open Sans"/>
              </a:rPr>
              <a:t>Chuyển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đổi</a:t>
            </a:r>
            <a:r>
              <a:rPr sz="2000" b="0" i="0" u="none" dirty="0">
                <a:solidFill>
                  <a:srgbClr val="2C3E50"/>
                </a:solidFill>
                <a:effectLst>
                  <a:outerShdw blurRad="38100" dist="38100" dir="2700000" algn="tl">
                    <a:srgbClr val="000000">
                      <a:alpha val="43137"/>
                    </a:srgbClr>
                  </a:outerShdw>
                </a:effectLst>
                <a:latin typeface="Open Sans"/>
              </a:rPr>
              <a:t> file </a:t>
            </a:r>
            <a:r>
              <a:rPr sz="2000" b="0" i="0" u="none" dirty="0" err="1">
                <a:solidFill>
                  <a:srgbClr val="2C3E50"/>
                </a:solidFill>
                <a:effectLst>
                  <a:outerShdw blurRad="38100" dist="38100" dir="2700000" algn="tl">
                    <a:srgbClr val="000000">
                      <a:alpha val="43137"/>
                    </a:srgbClr>
                  </a:outerShdw>
                </a:effectLst>
                <a:latin typeface="Open Sans"/>
              </a:rPr>
              <a:t>ảnh</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thành</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định</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dạng</a:t>
            </a:r>
            <a:r>
              <a:rPr sz="2000" b="0" i="0" u="none" dirty="0">
                <a:solidFill>
                  <a:srgbClr val="2C3E50"/>
                </a:solidFill>
                <a:effectLst>
                  <a:outerShdw blurRad="38100" dist="38100" dir="2700000" algn="tl">
                    <a:srgbClr val="000000">
                      <a:alpha val="43137"/>
                    </a:srgbClr>
                  </a:outerShdw>
                </a:effectLst>
                <a:latin typeface="Open Sans"/>
              </a:rPr>
              <a:t> ma </a:t>
            </a:r>
            <a:r>
              <a:rPr sz="2000" b="0" i="0" u="none" dirty="0" err="1">
                <a:solidFill>
                  <a:srgbClr val="2C3E50"/>
                </a:solidFill>
                <a:effectLst>
                  <a:outerShdw blurRad="38100" dist="38100" dir="2700000" algn="tl">
                    <a:srgbClr val="000000">
                      <a:alpha val="43137"/>
                    </a:srgbClr>
                  </a:outerShdw>
                </a:effectLst>
                <a:latin typeface="Open Sans"/>
              </a:rPr>
              <a:t>trận</a:t>
            </a:r>
            <a:r>
              <a:rPr sz="2000" b="0" i="0" u="none" dirty="0">
                <a:solidFill>
                  <a:srgbClr val="2C3E50"/>
                </a:solidFill>
                <a:effectLst>
                  <a:outerShdw blurRad="38100" dist="38100" dir="2700000" algn="tl">
                    <a:srgbClr val="000000">
                      <a:alpha val="43137"/>
                    </a:srgbClr>
                  </a:outerShdw>
                </a:effectLst>
                <a:latin typeface="Open Sans"/>
              </a:rPr>
              <a:t> NumPy/OpenCV. Load </a:t>
            </a:r>
            <a:r>
              <a:rPr sz="2000" b="0" i="0" u="none" dirty="0" err="1">
                <a:solidFill>
                  <a:srgbClr val="2C3E50"/>
                </a:solidFill>
                <a:effectLst>
                  <a:outerShdw blurRad="38100" dist="38100" dir="2700000" algn="tl">
                    <a:srgbClr val="000000">
                      <a:alpha val="43137"/>
                    </a:srgbClr>
                  </a:outerShdw>
                </a:effectLst>
                <a:latin typeface="Open Sans"/>
              </a:rPr>
              <a:t>trọng</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số</a:t>
            </a:r>
            <a:r>
              <a:rPr sz="2000" b="0" i="0" u="none" dirty="0">
                <a:solidFill>
                  <a:srgbClr val="2C3E50"/>
                </a:solidFill>
                <a:effectLst>
                  <a:outerShdw blurRad="38100" dist="38100" dir="2700000" algn="tl">
                    <a:srgbClr val="000000">
                      <a:alpha val="43137"/>
                    </a:srgbClr>
                  </a:outerShdw>
                </a:effectLst>
                <a:latin typeface="Open Sans"/>
              </a:rPr>
              <a:t> YOLOv5 (</a:t>
            </a:r>
            <a:r>
              <a:rPr sz="2000" b="0" i="0" u="none" dirty="0" err="1">
                <a:solidFill>
                  <a:srgbClr val="2C3E50"/>
                </a:solidFill>
                <a:effectLst>
                  <a:outerShdw blurRad="38100" dist="38100" dir="2700000" algn="tl">
                    <a:srgbClr val="000000">
                      <a:alpha val="43137"/>
                    </a:srgbClr>
                  </a:outerShdw>
                </a:effectLst>
                <a:latin typeface="Open Sans"/>
              </a:rPr>
              <a:t>đã</a:t>
            </a:r>
            <a:r>
              <a:rPr sz="2000" b="0" i="0" u="none" dirty="0">
                <a:solidFill>
                  <a:srgbClr val="2C3E50"/>
                </a:solidFill>
                <a:effectLst>
                  <a:outerShdw blurRad="38100" dist="38100" dir="2700000" algn="tl">
                    <a:srgbClr val="000000">
                      <a:alpha val="43137"/>
                    </a:srgbClr>
                  </a:outerShdw>
                </a:effectLst>
                <a:latin typeface="Open Sans"/>
              </a:rPr>
              <a:t> train </a:t>
            </a:r>
            <a:r>
              <a:rPr sz="2000" b="0" i="0" u="none" dirty="0" err="1">
                <a:solidFill>
                  <a:srgbClr val="2C3E50"/>
                </a:solidFill>
                <a:effectLst>
                  <a:outerShdw blurRad="38100" dist="38100" dir="2700000" algn="tl">
                    <a:srgbClr val="000000">
                      <a:alpha val="43137"/>
                    </a:srgbClr>
                  </a:outerShdw>
                </a:effectLst>
                <a:latin typeface="Open Sans"/>
              </a:rPr>
              <a:t>trên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Colab</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để</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đưa</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vào</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mô</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hình</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chuẩn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bị</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suy</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luận</a:t>
            </a:r>
            <a:r>
              <a:rPr sz="2000" b="0" i="0" u="none" dirty="0">
                <a:solidFill>
                  <a:srgbClr val="2C3E50"/>
                </a:solidFill>
                <a:effectLst>
                  <a:outerShdw blurRad="38100" dist="38100" dir="2700000" algn="tl">
                    <a:srgbClr val="000000">
                      <a:alpha val="43137"/>
                    </a:srgbClr>
                  </a:outerShdw>
                </a:effectLst>
                <a:latin typeface="Open Sans"/>
              </a:rPr>
              <a:t>.</a:t>
            </a:r>
          </a:p>
        </p:txBody>
      </p:sp>
      <p:sp>
        <p:nvSpPr>
          <p:cNvPr id="13" name="TextBox 12"/>
          <p:cNvSpPr txBox="1"/>
          <p:nvPr/>
        </p:nvSpPr>
        <p:spPr>
          <a:xfrm>
            <a:off x="8413848" y="2466975"/>
            <a:ext cx="3016151" cy="369332"/>
          </a:xfrm>
          <a:prstGeom prst="rect">
            <a:avLst/>
          </a:prstGeom>
          <a:noFill/>
        </p:spPr>
        <p:txBody>
          <a:bodyPr wrap="square" lIns="0" tIns="0" rIns="0" bIns="0" anchor="t">
            <a:spAutoFit/>
          </a:bodyPr>
          <a:lstStyle/>
          <a:p>
            <a:pPr algn="l"/>
            <a:r>
              <a:rPr sz="2400" b="1" i="0" u="none" dirty="0">
                <a:latin typeface="Montserrat"/>
              </a:rPr>
              <a:t>3.</a:t>
            </a:r>
            <a:r>
              <a:rPr sz="2400" b="1" i="0" u="none" dirty="0">
                <a:solidFill>
                  <a:srgbClr val="0056B3"/>
                </a:solidFill>
                <a:latin typeface="Montserrat"/>
              </a:rPr>
              <a:t> </a:t>
            </a:r>
            <a:r>
              <a:rPr sz="2400" b="1" i="0" u="none" dirty="0" err="1">
                <a:solidFill>
                  <a:srgbClr val="0056B3"/>
                </a:solidFill>
                <a:latin typeface="Montserrat"/>
              </a:rPr>
              <a:t>Xử</a:t>
            </a:r>
            <a:r>
              <a:rPr sz="2400" b="1" i="0" u="none" dirty="0">
                <a:solidFill>
                  <a:srgbClr val="0056B3"/>
                </a:solidFill>
                <a:latin typeface="Montserrat"/>
              </a:rPr>
              <a:t> </a:t>
            </a:r>
            <a:r>
              <a:rPr sz="2400" b="1" i="0" u="none" dirty="0" err="1">
                <a:solidFill>
                  <a:srgbClr val="0056B3"/>
                </a:solidFill>
                <a:latin typeface="Montserrat"/>
              </a:rPr>
              <a:t>lý</a:t>
            </a:r>
            <a:r>
              <a:rPr sz="2400" b="1" i="0" u="none" dirty="0">
                <a:solidFill>
                  <a:srgbClr val="0056B3"/>
                </a:solidFill>
                <a:latin typeface="Montserrat"/>
              </a:rPr>
              <a:t> &amp; </a:t>
            </a:r>
            <a:r>
              <a:rPr lang="en-US" sz="2400" b="1" dirty="0" err="1">
                <a:solidFill>
                  <a:srgbClr val="0056B3"/>
                </a:solidFill>
                <a:latin typeface="Montserrat"/>
              </a:rPr>
              <a:t>p</a:t>
            </a:r>
            <a:r>
              <a:rPr sz="2400" b="1" i="0" u="none" dirty="0" err="1">
                <a:solidFill>
                  <a:srgbClr val="0056B3"/>
                </a:solidFill>
                <a:latin typeface="Montserrat"/>
              </a:rPr>
              <a:t>hản</a:t>
            </a:r>
            <a:r>
              <a:rPr sz="2400" b="1" i="0" u="none" dirty="0">
                <a:solidFill>
                  <a:srgbClr val="0056B3"/>
                </a:solidFill>
                <a:latin typeface="Montserrat"/>
              </a:rPr>
              <a:t> </a:t>
            </a:r>
            <a:r>
              <a:rPr sz="2400" b="1" i="0" u="none" dirty="0" err="1">
                <a:solidFill>
                  <a:srgbClr val="0056B3"/>
                </a:solidFill>
                <a:latin typeface="Montserrat"/>
              </a:rPr>
              <a:t>hồi</a:t>
            </a:r>
            <a:endParaRPr sz="2400" b="1" i="0" u="none" dirty="0">
              <a:solidFill>
                <a:srgbClr val="0056B3"/>
              </a:solidFill>
              <a:latin typeface="Montserrat"/>
            </a:endParaRPr>
          </a:p>
        </p:txBody>
      </p:sp>
      <p:sp>
        <p:nvSpPr>
          <p:cNvPr id="14" name="TextBox 13"/>
          <p:cNvSpPr txBox="1"/>
          <p:nvPr/>
        </p:nvSpPr>
        <p:spPr>
          <a:xfrm>
            <a:off x="8413849" y="2933700"/>
            <a:ext cx="3016150" cy="2154436"/>
          </a:xfrm>
          <a:prstGeom prst="rect">
            <a:avLst/>
          </a:prstGeom>
          <a:noFill/>
        </p:spPr>
        <p:txBody>
          <a:bodyPr wrap="square" lIns="0" tIns="0" rIns="0" bIns="0" anchor="t">
            <a:spAutoFit/>
          </a:bodyPr>
          <a:lstStyle/>
          <a:p>
            <a:pPr algn="l">
              <a:lnSpc>
                <a:spcPts val="2400"/>
              </a:lnSpc>
            </a:pPr>
            <a:r>
              <a:rPr sz="2000" b="0" i="0" u="none" dirty="0">
                <a:solidFill>
                  <a:srgbClr val="2C3E50"/>
                </a:solidFill>
                <a:effectLst>
                  <a:outerShdw blurRad="38100" dist="38100" dir="2700000" algn="tl">
                    <a:srgbClr val="000000">
                      <a:alpha val="43137"/>
                    </a:srgbClr>
                  </a:outerShdw>
                </a:effectLst>
                <a:latin typeface="Open Sans"/>
              </a:rPr>
              <a:t>YOLOv5 Inference </a:t>
            </a:r>
            <a:r>
              <a:rPr sz="2000" b="0" i="0" u="none" dirty="0" err="1">
                <a:solidFill>
                  <a:srgbClr val="2C3E50"/>
                </a:solidFill>
                <a:effectLst>
                  <a:outerShdw blurRad="38100" dist="38100" dir="2700000" algn="tl">
                    <a:srgbClr val="000000">
                      <a:alpha val="43137"/>
                    </a:srgbClr>
                  </a:outerShdw>
                </a:effectLst>
                <a:latin typeface="Open Sans"/>
              </a:rPr>
              <a:t>bằng</a:t>
            </a:r>
            <a:r>
              <a:rPr sz="2000" b="0" i="0" u="none" dirty="0">
                <a:solidFill>
                  <a:srgbClr val="2C3E50"/>
                </a:solidFill>
                <a:effectLst>
                  <a:outerShdw blurRad="38100" dist="38100" dir="2700000" algn="tl">
                    <a:srgbClr val="000000">
                      <a:alpha val="43137"/>
                    </a:srgbClr>
                  </a:outerShdw>
                </a:effectLst>
                <a:latin typeface="Open Sans"/>
              </a:rPr>
              <a:t> GPU </a:t>
            </a:r>
            <a:r>
              <a:rPr sz="2000" b="0" i="0" u="none" dirty="0" err="1">
                <a:solidFill>
                  <a:srgbClr val="2C3E50"/>
                </a:solidFill>
                <a:effectLst>
                  <a:outerShdw blurRad="38100" dist="38100" dir="2700000" algn="tl">
                    <a:srgbClr val="000000">
                      <a:alpha val="43137"/>
                    </a:srgbClr>
                  </a:outerShdw>
                </a:effectLst>
                <a:latin typeface="Open Sans"/>
              </a:rPr>
              <a:t>của</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Colab</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Trả</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về</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kết</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quả</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Hình</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ảnh</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đã</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vẽ</a:t>
            </a:r>
            <a:r>
              <a:rPr sz="2000" b="0" i="0" u="none" dirty="0">
                <a:solidFill>
                  <a:srgbClr val="2C3E50"/>
                </a:solidFill>
                <a:effectLst>
                  <a:outerShdw blurRad="38100" dist="38100" dir="2700000" algn="tl">
                    <a:srgbClr val="000000">
                      <a:alpha val="43137"/>
                    </a:srgbClr>
                  </a:outerShdw>
                </a:effectLst>
                <a:latin typeface="Open Sans"/>
              </a:rPr>
              <a:t> Bounding Box (base64) </a:t>
            </a:r>
            <a:r>
              <a:rPr sz="2000" b="0" i="0" u="none" dirty="0" err="1">
                <a:solidFill>
                  <a:srgbClr val="2C3E50"/>
                </a:solidFill>
                <a:effectLst>
                  <a:outerShdw blurRad="38100" dist="38100" dir="2700000" algn="tl">
                    <a:srgbClr val="000000">
                      <a:alpha val="43137"/>
                    </a:srgbClr>
                  </a:outerShdw>
                </a:effectLst>
                <a:latin typeface="Open Sans"/>
              </a:rPr>
              <a:t>và</a:t>
            </a:r>
            <a:r>
              <a:rPr sz="2000" b="0" i="0" u="none" dirty="0">
                <a:solidFill>
                  <a:srgbClr val="2C3E50"/>
                </a:solidFill>
                <a:effectLst>
                  <a:outerShdw blurRad="38100" dist="38100" dir="2700000" algn="tl">
                    <a:srgbClr val="000000">
                      <a:alpha val="43137"/>
                    </a:srgbClr>
                  </a:outerShdw>
                </a:effectLst>
                <a:latin typeface="Open Sans"/>
              </a:rPr>
              <a:t> file JSON </a:t>
            </a:r>
            <a:r>
              <a:rPr sz="2000" b="0" i="0" u="none" dirty="0" err="1">
                <a:solidFill>
                  <a:srgbClr val="2C3E50"/>
                </a:solidFill>
                <a:effectLst>
                  <a:outerShdw blurRad="38100" dist="38100" dir="2700000" algn="tl">
                    <a:srgbClr val="000000">
                      <a:alpha val="43137"/>
                    </a:srgbClr>
                  </a:outerShdw>
                </a:effectLst>
                <a:latin typeface="Open Sans"/>
              </a:rPr>
              <a:t>chứa</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tọa</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độ</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nhãn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độ</a:t>
            </a:r>
            <a:r>
              <a:rPr sz="2000" b="0" i="0" u="none" dirty="0">
                <a:solidFill>
                  <a:srgbClr val="2C3E50"/>
                </a:solidFill>
                <a:effectLst>
                  <a:outerShdw blurRad="38100" dist="38100" dir="2700000" algn="tl">
                    <a:srgbClr val="000000">
                      <a:alpha val="43137"/>
                    </a:srgbClr>
                  </a:outerShdw>
                </a:effectLst>
                <a:latin typeface="Open Sans"/>
              </a:rPr>
              <a:t> tin </a:t>
            </a:r>
            <a:r>
              <a:rPr sz="2000" b="0" i="0" u="none" dirty="0" err="1">
                <a:solidFill>
                  <a:srgbClr val="2C3E50"/>
                </a:solidFill>
                <a:effectLst>
                  <a:outerShdw blurRad="38100" dist="38100" dir="2700000" algn="tl">
                    <a:srgbClr val="000000">
                      <a:alpha val="43137"/>
                    </a:srgbClr>
                  </a:outerShdw>
                </a:effectLst>
                <a:latin typeface="Open Sans"/>
              </a:rPr>
              <a:t>cậy</a:t>
            </a:r>
            <a:r>
              <a:rPr sz="2000" b="0" i="0" u="none" dirty="0">
                <a:solidFill>
                  <a:srgbClr val="2C3E50"/>
                </a:solidFill>
                <a:effectLst>
                  <a:outerShdw blurRad="38100" dist="38100" dir="2700000" algn="tl">
                    <a:srgbClr val="000000">
                      <a:alpha val="43137"/>
                    </a:srgbClr>
                  </a:outerShdw>
                </a:effectLst>
                <a:latin typeface="Open Sans"/>
              </a:rPr>
              <a:t>. Frontend render </a:t>
            </a:r>
            <a:r>
              <a:rPr sz="2000" b="0" i="0" u="none" dirty="0" err="1">
                <a:solidFill>
                  <a:srgbClr val="2C3E50"/>
                </a:solidFill>
                <a:effectLst>
                  <a:outerShdw blurRad="38100" dist="38100" dir="2700000" algn="tl">
                    <a:srgbClr val="000000">
                      <a:alpha val="43137"/>
                    </a:srgbClr>
                  </a:outerShdw>
                </a:effectLst>
                <a:latin typeface="Open Sans"/>
              </a:rPr>
              <a:t>kết</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quả</a:t>
            </a:r>
            <a:r>
              <a:rPr sz="2000" b="0" i="0" u="none" dirty="0">
                <a:solidFill>
                  <a:srgbClr val="2C3E50"/>
                </a:solidFill>
                <a:effectLst>
                  <a:outerShdw blurRad="38100" dist="38100" dir="2700000" algn="tl">
                    <a:srgbClr val="000000">
                      <a:alpha val="43137"/>
                    </a:srgbClr>
                  </a:outerShdw>
                </a:effectLst>
                <a:latin typeface="Open Sans"/>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4375" y="647700"/>
            <a:ext cx="11451431" cy="495300"/>
          </a:xfrm>
          <a:prstGeom prst="rect">
            <a:avLst/>
          </a:prstGeom>
          <a:noFill/>
        </p:spPr>
        <p:txBody>
          <a:bodyPr wrap="square" lIns="0" tIns="0" rIns="0" bIns="0" anchor="t">
            <a:spAutoFit/>
          </a:bodyPr>
          <a:lstStyle/>
          <a:p>
            <a:pPr algn="l"/>
            <a:r>
              <a:rPr sz="3150" b="1" i="0" u="none">
                <a:solidFill>
                  <a:srgbClr val="0056B3"/>
                </a:solidFill>
                <a:latin typeface="Montserrat"/>
              </a:rPr>
              <a:t>Chi tiết Dataset: Cờ Shogi</a:t>
            </a:r>
          </a:p>
        </p:txBody>
      </p:sp>
      <p:sp>
        <p:nvSpPr>
          <p:cNvPr id="5" name="Rectangle 4"/>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334125" y="1905000"/>
          <a:ext cx="5286374" cy="2400300"/>
        </p:xfrm>
        <a:graphic>
          <a:graphicData uri="http://schemas.openxmlformats.org/drawingml/2006/table">
            <a:tbl>
              <a:tblPr firstRow="1" bandRow="1">
                <a:tableStyleId>{5C22544A-7EE6-4342-B048-85BDC9FD1C3A}</a:tableStyleId>
              </a:tblPr>
              <a:tblGrid>
                <a:gridCol w="1921966">
                  <a:extLst>
                    <a:ext uri="{9D8B030D-6E8A-4147-A177-3AD203B41FA5}">
                      <a16:colId xmlns:a16="http://schemas.microsoft.com/office/drawing/2014/main" val="20000"/>
                    </a:ext>
                  </a:extLst>
                </a:gridCol>
                <a:gridCol w="3364408">
                  <a:extLst>
                    <a:ext uri="{9D8B030D-6E8A-4147-A177-3AD203B41FA5}">
                      <a16:colId xmlns:a16="http://schemas.microsoft.com/office/drawing/2014/main" val="20001"/>
                    </a:ext>
                  </a:extLst>
                </a:gridCol>
              </a:tblGrid>
              <a:tr h="600075">
                <a:tc>
                  <a:txBody>
                    <a:bodyPr/>
                    <a:lstStyle/>
                    <a:p>
                      <a:pPr algn="l"/>
                      <a:r>
                        <a:rPr sz="1200" b="1" i="0" u="none">
                          <a:solidFill>
                            <a:srgbClr val="FFFFFF"/>
                          </a:solidFill>
                          <a:latin typeface="Montserrat"/>
                        </a:rPr>
                        <a:t>Tham số Dataset</a:t>
                      </a:r>
                    </a:p>
                  </a:txBody>
                  <a:tcPr marL="63500" marR="63500" marT="25400" marB="25400" anchor="ctr">
                    <a:lnL>
                      <a:noFill/>
                    </a:lnL>
                    <a:lnR>
                      <a:noFill/>
                    </a:lnR>
                    <a:lnT>
                      <a:noFill/>
                    </a:lnT>
                    <a:lnB>
                      <a:noFill/>
                    </a:lnB>
                    <a:solidFill>
                      <a:srgbClr val="0056B3"/>
                    </a:solidFill>
                  </a:tcPr>
                </a:tc>
                <a:tc>
                  <a:txBody>
                    <a:bodyPr/>
                    <a:lstStyle/>
                    <a:p>
                      <a:pPr algn="l"/>
                      <a:r>
                        <a:rPr sz="1200" b="1" i="0" u="none">
                          <a:solidFill>
                            <a:srgbClr val="FFFFFF"/>
                          </a:solidFill>
                          <a:latin typeface="Montserrat"/>
                        </a:rPr>
                        <a:t>Giá trị</a:t>
                      </a:r>
                    </a:p>
                  </a:txBody>
                  <a:tcPr marL="63500" marR="63500" marT="25400" marB="25400" anchor="ctr">
                    <a:lnL>
                      <a:noFill/>
                    </a:lnL>
                    <a:lnR>
                      <a:noFill/>
                    </a:lnR>
                    <a:lnT>
                      <a:noFill/>
                    </a:lnT>
                    <a:lnB>
                      <a:noFill/>
                    </a:lnB>
                    <a:solidFill>
                      <a:srgbClr val="0056B3"/>
                    </a:solidFill>
                  </a:tcPr>
                </a:tc>
                <a:extLst>
                  <a:ext uri="{0D108BD9-81ED-4DB2-BD59-A6C34878D82A}">
                    <a16:rowId xmlns:a16="http://schemas.microsoft.com/office/drawing/2014/main" val="10000"/>
                  </a:ext>
                </a:extLst>
              </a:tr>
              <a:tr h="600075">
                <a:tc>
                  <a:txBody>
                    <a:bodyPr/>
                    <a:lstStyle/>
                    <a:p>
                      <a:pPr algn="l"/>
                      <a:r>
                        <a:rPr sz="1200" b="0" i="0" u="none">
                          <a:solidFill>
                            <a:srgbClr val="2C3E50"/>
                          </a:solidFill>
                          <a:latin typeface="Open Sans"/>
                        </a:rPr>
                        <a:t>Tổng số lượng ảnh</a:t>
                      </a:r>
                    </a:p>
                  </a:txBody>
                  <a:tcPr marL="63500" marR="63500" marT="25400" marB="25400" anchor="ctr">
                    <a:lnL>
                      <a:noFill/>
                    </a:lnL>
                    <a:lnR>
                      <a:noFill/>
                    </a:lnR>
                    <a:lnT>
                      <a:noFill/>
                    </a:lnT>
                    <a:lnB>
                      <a:noFill/>
                    </a:lnB>
                    <a:noFill/>
                  </a:tcPr>
                </a:tc>
                <a:tc>
                  <a:txBody>
                    <a:bodyPr/>
                    <a:lstStyle/>
                    <a:p>
                      <a:pPr algn="l"/>
                      <a:r>
                        <a:rPr sz="1200" b="0" i="0" u="none">
                          <a:solidFill>
                            <a:srgbClr val="2C3E50"/>
                          </a:solidFill>
                          <a:latin typeface="Open Sans"/>
                        </a:rPr>
                        <a:t>~2,500 Images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600075">
                <a:tc>
                  <a:txBody>
                    <a:bodyPr/>
                    <a:lstStyle/>
                    <a:p>
                      <a:pPr algn="l"/>
                      <a:r>
                        <a:rPr sz="1200" b="0" i="0" u="none">
                          <a:solidFill>
                            <a:srgbClr val="2C3E50"/>
                          </a:solidFill>
                          <a:latin typeface="Open Sans"/>
                        </a:rPr>
                        <a:t>Kích thước ảnh đầu vào</a:t>
                      </a:r>
                    </a:p>
                  </a:txBody>
                  <a:tcPr marL="63500" marR="63500" marT="25400" marB="25400" anchor="ctr">
                    <a:lnL>
                      <a:noFill/>
                    </a:lnL>
                    <a:lnR>
                      <a:noFill/>
                    </a:lnR>
                    <a:lnT>
                      <a:noFill/>
                    </a:lnT>
                    <a:lnB>
                      <a:noFill/>
                    </a:lnB>
                    <a:solidFill>
                      <a:srgbClr val="F4F7F6"/>
                    </a:solidFill>
                  </a:tcPr>
                </a:tc>
                <a:tc>
                  <a:txBody>
                    <a:bodyPr/>
                    <a:lstStyle/>
                    <a:p>
                      <a:pPr algn="l"/>
                      <a:r>
                        <a:rPr sz="1200" b="0" i="0" u="none">
                          <a:solidFill>
                            <a:srgbClr val="2C3E50"/>
                          </a:solidFill>
                          <a:latin typeface="Open Sans"/>
                        </a:rPr>
                        <a:t>640 x 640 pixels</a:t>
                      </a:r>
                    </a:p>
                  </a:txBody>
                  <a:tcPr marL="63500" marR="63500" marT="25400" marB="25400" anchor="ctr">
                    <a:lnL>
                      <a:noFill/>
                    </a:lnL>
                    <a:lnR>
                      <a:noFill/>
                    </a:lnR>
                    <a:lnT>
                      <a:noFill/>
                    </a:lnT>
                    <a:lnB>
                      <a:noFill/>
                    </a:lnB>
                    <a:solidFill>
                      <a:srgbClr val="F4F7F6"/>
                    </a:solidFill>
                  </a:tcPr>
                </a:tc>
                <a:extLst>
                  <a:ext uri="{0D108BD9-81ED-4DB2-BD59-A6C34878D82A}">
                    <a16:rowId xmlns:a16="http://schemas.microsoft.com/office/drawing/2014/main" val="10002"/>
                  </a:ext>
                </a:extLst>
              </a:tr>
              <a:tr h="600075">
                <a:tc>
                  <a:txBody>
                    <a:bodyPr/>
                    <a:lstStyle/>
                    <a:p>
                      <a:pPr algn="l"/>
                      <a:r>
                        <a:rPr sz="1200" b="0" i="0" u="none">
                          <a:solidFill>
                            <a:srgbClr val="2C3E50"/>
                          </a:solidFill>
                          <a:latin typeface="Open Sans"/>
                        </a:rPr>
                        <a:t>Số lượng Class</a:t>
                      </a:r>
                    </a:p>
                  </a:txBody>
                  <a:tcPr marL="63500" marR="63500" marT="25400" marB="25400" anchor="ctr">
                    <a:lnL>
                      <a:noFill/>
                    </a:lnL>
                    <a:lnR>
                      <a:noFill/>
                    </a:lnR>
                    <a:lnT>
                      <a:noFill/>
                    </a:lnT>
                    <a:lnB>
                      <a:noFill/>
                    </a:lnB>
                    <a:noFill/>
                  </a:tcPr>
                </a:tc>
                <a:tc>
                  <a:txBody>
                    <a:bodyPr/>
                    <a:lstStyle/>
                    <a:p>
                      <a:pPr algn="l"/>
                      <a:r>
                        <a:rPr sz="1200" b="0" i="0" u="none">
                          <a:solidFill>
                            <a:srgbClr val="2C3E50"/>
                          </a:solidFill>
                          <a:latin typeface="Open Sans"/>
                        </a:rPr>
                        <a:t>14 classes (Chưa phong cấp &amp; Đã phong cấp)</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7" name="TextBox 6"/>
          <p:cNvSpPr txBox="1"/>
          <p:nvPr/>
        </p:nvSpPr>
        <p:spPr>
          <a:xfrm>
            <a:off x="1000125" y="1714500"/>
            <a:ext cx="4857750" cy="914400"/>
          </a:xfrm>
          <a:prstGeom prst="rect">
            <a:avLst/>
          </a:prstGeom>
          <a:noFill/>
        </p:spPr>
        <p:txBody>
          <a:bodyPr wrap="square" lIns="0" tIns="0" rIns="0" bIns="0" anchor="t">
            <a:spAutoFit/>
          </a:bodyPr>
          <a:lstStyle/>
          <a:p>
            <a:pPr algn="l">
              <a:lnSpc>
                <a:spcPts val="2400"/>
              </a:lnSpc>
            </a:pPr>
            <a:r>
              <a:rPr sz="1500" b="1" i="0" u="none">
                <a:solidFill>
                  <a:srgbClr val="2C3E50"/>
                </a:solidFill>
                <a:latin typeface="Open Sans"/>
              </a:rPr>
              <a:t>Nguồn gốc:</a:t>
            </a:r>
            <a:r>
              <a:rPr sz="1500" b="0" i="0" u="none">
                <a:solidFill>
                  <a:srgbClr val="2C3E50"/>
                </a:solidFill>
                <a:latin typeface="Open Sans"/>
              </a:rPr>
              <a:t> Được crawl từ các ván đấu thực tế hoặc tự thu thập và gán nhãn thủ công thông qua MakeSense.ai/Roboflow.</a:t>
            </a:r>
          </a:p>
        </p:txBody>
      </p:sp>
      <p:sp>
        <p:nvSpPr>
          <p:cNvPr id="8" name="TextBox 7"/>
          <p:cNvSpPr txBox="1"/>
          <p:nvPr/>
        </p:nvSpPr>
        <p:spPr>
          <a:xfrm>
            <a:off x="1000125" y="2867025"/>
            <a:ext cx="4857750" cy="609600"/>
          </a:xfrm>
          <a:prstGeom prst="rect">
            <a:avLst/>
          </a:prstGeom>
          <a:noFill/>
        </p:spPr>
        <p:txBody>
          <a:bodyPr wrap="square" lIns="0" tIns="0" rIns="0" bIns="0" anchor="t">
            <a:spAutoFit/>
          </a:bodyPr>
          <a:lstStyle/>
          <a:p>
            <a:pPr algn="l">
              <a:lnSpc>
                <a:spcPts val="2400"/>
              </a:lnSpc>
            </a:pPr>
            <a:r>
              <a:rPr sz="1500" b="1" i="0" u="none">
                <a:solidFill>
                  <a:srgbClr val="2C3E50"/>
                </a:solidFill>
                <a:latin typeface="Open Sans"/>
              </a:rPr>
              <a:t>Định dạng:</a:t>
            </a:r>
            <a:r>
              <a:rPr sz="1500" b="0" i="0" u="none">
                <a:solidFill>
                  <a:srgbClr val="2C3E50"/>
                </a:solidFill>
                <a:latin typeface="Open Sans"/>
              </a:rPr>
              <a:t> YOLO format (.txt files) chứa `class_id center_x center_y width height`.</a:t>
            </a:r>
          </a:p>
        </p:txBody>
      </p:sp>
      <p:sp>
        <p:nvSpPr>
          <p:cNvPr id="9" name="TextBox 8"/>
          <p:cNvSpPr txBox="1"/>
          <p:nvPr/>
        </p:nvSpPr>
        <p:spPr>
          <a:xfrm>
            <a:off x="1000125" y="3714750"/>
            <a:ext cx="4857750" cy="1219200"/>
          </a:xfrm>
          <a:prstGeom prst="rect">
            <a:avLst/>
          </a:prstGeom>
          <a:noFill/>
        </p:spPr>
        <p:txBody>
          <a:bodyPr wrap="square" lIns="0" tIns="0" rIns="0" bIns="0" anchor="t">
            <a:spAutoFit/>
          </a:bodyPr>
          <a:lstStyle/>
          <a:p>
            <a:pPr algn="l">
              <a:lnSpc>
                <a:spcPts val="2400"/>
              </a:lnSpc>
            </a:pPr>
            <a:r>
              <a:rPr sz="1500" b="1" i="0" u="none">
                <a:solidFill>
                  <a:srgbClr val="2C3E50"/>
                </a:solidFill>
                <a:latin typeface="Open Sans"/>
              </a:rPr>
              <a:t>Phân chia:</a:t>
            </a:r>
            <a:r>
              <a:rPr sz="1500" b="0" i="0" u="none">
                <a:solidFill>
                  <a:srgbClr val="2C3E50"/>
                </a:solidFill>
                <a:latin typeface="Open Sans"/>
              </a:rPr>
              <a:t> </a:t>
            </a:r>
            <a:r>
              <a:t>
</a:t>
            </a:r>
            <a:r>
              <a:rPr sz="1500" b="0" i="0" u="none">
                <a:solidFill>
                  <a:srgbClr val="2C3E50"/>
                </a:solidFill>
                <a:latin typeface="Open Sans"/>
              </a:rPr>
              <a:t> - Train set: 70% </a:t>
            </a:r>
            <a:r>
              <a:t>
</a:t>
            </a:r>
            <a:r>
              <a:rPr sz="1500" b="0" i="0" u="none">
                <a:solidFill>
                  <a:srgbClr val="2C3E50"/>
                </a:solidFill>
                <a:latin typeface="Open Sans"/>
              </a:rPr>
              <a:t> - Validation set: 20% </a:t>
            </a:r>
            <a:r>
              <a:t>
</a:t>
            </a:r>
            <a:r>
              <a:rPr sz="1500" b="0" i="0" u="none">
                <a:solidFill>
                  <a:srgbClr val="2C3E50"/>
                </a:solidFill>
                <a:latin typeface="Open Sans"/>
              </a:rPr>
              <a:t> - Test set: 10%</a:t>
            </a:r>
          </a:p>
        </p:txBody>
      </p:sp>
      <p:sp>
        <p:nvSpPr>
          <p:cNvPr id="10" name="TextBox 9"/>
          <p:cNvSpPr txBox="1"/>
          <p:nvPr/>
        </p:nvSpPr>
        <p:spPr>
          <a:xfrm>
            <a:off x="1000125" y="5172075"/>
            <a:ext cx="4857750" cy="609600"/>
          </a:xfrm>
          <a:prstGeom prst="rect">
            <a:avLst/>
          </a:prstGeom>
          <a:noFill/>
        </p:spPr>
        <p:txBody>
          <a:bodyPr wrap="square" lIns="0" tIns="0" rIns="0" bIns="0" anchor="t">
            <a:spAutoFit/>
          </a:bodyPr>
          <a:lstStyle/>
          <a:p>
            <a:pPr algn="l">
              <a:lnSpc>
                <a:spcPts val="2400"/>
              </a:lnSpc>
            </a:pPr>
            <a:r>
              <a:rPr sz="1500" b="1" i="0" u="none">
                <a:solidFill>
                  <a:srgbClr val="2C3E50"/>
                </a:solidFill>
                <a:latin typeface="Open Sans"/>
              </a:rPr>
              <a:t>Classes (Nhãn):</a:t>
            </a:r>
            <a:r>
              <a:rPr sz="1500" b="0" i="0" u="none">
                <a:solidFill>
                  <a:srgbClr val="2C3E50"/>
                </a:solidFill>
                <a:latin typeface="Open Sans"/>
              </a:rPr>
              <a:t> Vua (King), Tướng (Gold/Silver General), Xe (Rook), Mã (Knight), Tốt (Pawn)...</a:t>
            </a:r>
          </a:p>
        </p:txBody>
      </p:sp>
      <p:sp>
        <p:nvSpPr>
          <p:cNvPr id="11" name="Rectangle 10"/>
          <p:cNvSpPr/>
          <p:nvPr/>
        </p:nvSpPr>
        <p:spPr>
          <a:xfrm>
            <a:off x="6334125" y="2862262"/>
            <a:ext cx="1921966"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256091" y="2862262"/>
            <a:ext cx="3364408"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34125" y="3576637"/>
            <a:ext cx="1921966"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56091" y="3576637"/>
            <a:ext cx="3364408"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34125" y="4291012"/>
            <a:ext cx="1921966"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56091" y="4291012"/>
            <a:ext cx="3364408"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7F16-A798-BE13-7DB7-E329D9C6C78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68757F9-E9B6-B347-8463-D03322E8830A}"/>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EE4F4D5F-A917-D612-9E86-B54E8407C34B}"/>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2DB2469-99E2-E19C-A98E-5D528ADC17C3}"/>
              </a:ext>
            </a:extLst>
          </p:cNvPr>
          <p:cNvSpPr txBox="1"/>
          <p:nvPr/>
        </p:nvSpPr>
        <p:spPr>
          <a:xfrm>
            <a:off x="2357373" y="2646016"/>
            <a:ext cx="7170896" cy="738664"/>
          </a:xfrm>
          <a:prstGeom prst="rect">
            <a:avLst/>
          </a:prstGeom>
          <a:noFill/>
        </p:spPr>
        <p:txBody>
          <a:bodyPr wrap="square" lIns="0" tIns="0" rIns="0" bIns="0" anchor="t">
            <a:spAutoFit/>
          </a:bodyPr>
          <a:lstStyle/>
          <a:p>
            <a:pPr algn="ctr"/>
            <a:r>
              <a:rPr lang="en-US" sz="4800" b="1" dirty="0" err="1">
                <a:solidFill>
                  <a:srgbClr val="0056B3"/>
                </a:solidFill>
                <a:effectLst>
                  <a:outerShdw blurRad="38100" dist="38100" dir="2700000" algn="tl">
                    <a:srgbClr val="000000">
                      <a:alpha val="43137"/>
                    </a:srgbClr>
                  </a:outerShdw>
                </a:effectLst>
                <a:latin typeface="Montserrat"/>
              </a:rPr>
              <a:t>Quá</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trình</a:t>
            </a:r>
            <a:r>
              <a:rPr lang="en-US" sz="4800" b="1" dirty="0">
                <a:solidFill>
                  <a:srgbClr val="0056B3"/>
                </a:solidFill>
                <a:effectLst>
                  <a:outerShdw blurRad="38100" dist="38100" dir="2700000" algn="tl">
                    <a:srgbClr val="000000">
                      <a:alpha val="43137"/>
                    </a:srgbClr>
                  </a:outerShdw>
                </a:effectLst>
                <a:latin typeface="Montserrat"/>
              </a:rPr>
              <a:t> train model</a:t>
            </a:r>
          </a:p>
        </p:txBody>
      </p:sp>
      <p:sp>
        <p:nvSpPr>
          <p:cNvPr id="5" name="Rectangle 4">
            <a:extLst>
              <a:ext uri="{FF2B5EF4-FFF2-40B4-BE49-F238E27FC236}">
                <a16:creationId xmlns:a16="http://schemas.microsoft.com/office/drawing/2014/main" id="{01ACE7D2-62BD-735D-8AF4-C5107F927D75}"/>
              </a:ext>
            </a:extLst>
          </p:cNvPr>
          <p:cNvSpPr/>
          <p:nvPr/>
        </p:nvSpPr>
        <p:spPr>
          <a:xfrm>
            <a:off x="5524500" y="3517552"/>
            <a:ext cx="1143000" cy="5715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08544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547812" y="1752600"/>
            <a:ext cx="3333750" cy="3333750"/>
          </a:xfrm>
          <a:prstGeom prst="rect">
            <a:avLst/>
          </a:prstGeom>
        </p:spPr>
      </p:pic>
      <p:sp>
        <p:nvSpPr>
          <p:cNvPr id="3" name="Rectangle 2"/>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4375" y="647700"/>
            <a:ext cx="11451431" cy="495300"/>
          </a:xfrm>
          <a:prstGeom prst="rect">
            <a:avLst/>
          </a:prstGeom>
          <a:noFill/>
        </p:spPr>
        <p:txBody>
          <a:bodyPr wrap="square" lIns="0" tIns="0" rIns="0" bIns="0" anchor="t">
            <a:spAutoFit/>
          </a:bodyPr>
          <a:lstStyle/>
          <a:p>
            <a:pPr algn="l"/>
            <a:r>
              <a:rPr sz="3150" b="1" i="0" u="none">
                <a:solidFill>
                  <a:srgbClr val="0056B3"/>
                </a:solidFill>
                <a:latin typeface="Montserrat"/>
              </a:rPr>
              <a:t>Quy trình Xử lý &amp; Tiền xử lý dữ liệu</a:t>
            </a:r>
          </a:p>
        </p:txBody>
      </p:sp>
      <p:sp>
        <p:nvSpPr>
          <p:cNvPr id="6" name="Rectangle 5"/>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34125" y="1752600"/>
            <a:ext cx="5550693" cy="323850"/>
          </a:xfrm>
          <a:prstGeom prst="rect">
            <a:avLst/>
          </a:prstGeom>
          <a:noFill/>
        </p:spPr>
        <p:txBody>
          <a:bodyPr wrap="square" lIns="0" tIns="0" rIns="0" bIns="0" anchor="t">
            <a:spAutoFit/>
          </a:bodyPr>
          <a:lstStyle/>
          <a:p>
            <a:pPr algn="l"/>
            <a:r>
              <a:rPr sz="2100" b="1" i="0" u="none">
                <a:solidFill>
                  <a:srgbClr val="004494"/>
                </a:solidFill>
                <a:latin typeface="Montserrat"/>
              </a:rPr>
              <a:t>Chuẩn hóa Dữ liệu cho YOLOv5</a:t>
            </a:r>
          </a:p>
        </p:txBody>
      </p:sp>
      <p:pic>
        <p:nvPicPr>
          <p:cNvPr id="8" name="Picture 7" descr="image.png"/>
          <p:cNvPicPr>
            <a:picLocks noChangeAspect="1"/>
          </p:cNvPicPr>
          <p:nvPr/>
        </p:nvPicPr>
        <p:blipFill>
          <a:blip r:embed="rId3"/>
          <a:stretch>
            <a:fillRect/>
          </a:stretch>
        </p:blipFill>
        <p:spPr>
          <a:xfrm>
            <a:off x="390864" y="1143000"/>
            <a:ext cx="5216979" cy="5216979"/>
          </a:xfrm>
          <a:prstGeom prst="rect">
            <a:avLst/>
          </a:prstGeom>
        </p:spPr>
      </p:pic>
      <p:sp>
        <p:nvSpPr>
          <p:cNvPr id="9" name="TextBox 8"/>
          <p:cNvSpPr txBox="1"/>
          <p:nvPr/>
        </p:nvSpPr>
        <p:spPr>
          <a:xfrm>
            <a:off x="6762750" y="2219325"/>
            <a:ext cx="4857750" cy="914400"/>
          </a:xfrm>
          <a:prstGeom prst="rect">
            <a:avLst/>
          </a:prstGeom>
          <a:noFill/>
        </p:spPr>
        <p:txBody>
          <a:bodyPr wrap="square" lIns="0" tIns="0" rIns="0" bIns="0" anchor="t">
            <a:spAutoFit/>
          </a:bodyPr>
          <a:lstStyle/>
          <a:p>
            <a:pPr algn="l">
              <a:lnSpc>
                <a:spcPts val="2400"/>
              </a:lnSpc>
            </a:pPr>
            <a:r>
              <a:rPr sz="1500" b="1" i="0" u="none">
                <a:solidFill>
                  <a:srgbClr val="2C3E50"/>
                </a:solidFill>
                <a:latin typeface="Open Sans"/>
              </a:rPr>
              <a:t>Resize &amp; Padding:</a:t>
            </a:r>
            <a:r>
              <a:rPr sz="1500" b="0" i="0" u="none">
                <a:solidFill>
                  <a:srgbClr val="2C3E50"/>
                </a:solidFill>
                <a:latin typeface="Open Sans"/>
              </a:rPr>
              <a:t> Chuyển đổi mọi kích thước ảnh gốc về chuẩn 640x640, giữ nguyên tỷ lệ khung hình (Aspect Ratio) bằng kỹ thuật padding (thêm viền xám).</a:t>
            </a:r>
          </a:p>
        </p:txBody>
      </p:sp>
      <p:sp>
        <p:nvSpPr>
          <p:cNvPr id="10" name="TextBox 9"/>
          <p:cNvSpPr txBox="1"/>
          <p:nvPr/>
        </p:nvSpPr>
        <p:spPr>
          <a:xfrm>
            <a:off x="6762750" y="3371850"/>
            <a:ext cx="4857750" cy="1524000"/>
          </a:xfrm>
          <a:prstGeom prst="rect">
            <a:avLst/>
          </a:prstGeom>
          <a:noFill/>
        </p:spPr>
        <p:txBody>
          <a:bodyPr wrap="square" lIns="0" tIns="0" rIns="0" bIns="0" anchor="t">
            <a:spAutoFit/>
          </a:bodyPr>
          <a:lstStyle/>
          <a:p>
            <a:pPr algn="l">
              <a:lnSpc>
                <a:spcPts val="2400"/>
              </a:lnSpc>
            </a:pPr>
            <a:r>
              <a:rPr sz="1500" b="1" i="0" u="none">
                <a:solidFill>
                  <a:srgbClr val="2C3E50"/>
                </a:solidFill>
                <a:latin typeface="Open Sans"/>
              </a:rPr>
              <a:t>Data Augmentation (Tăng cường dữ liệu):</a:t>
            </a:r>
            <a:r>
              <a:rPr sz="1500" b="0" i="0" u="none">
                <a:solidFill>
                  <a:srgbClr val="2C3E50"/>
                </a:solidFill>
                <a:latin typeface="Open Sans"/>
              </a:rPr>
              <a:t> </a:t>
            </a:r>
            <a:r>
              <a:t>
</a:t>
            </a:r>
            <a:r>
              <a:rPr sz="1500" b="0" i="0" u="none">
                <a:solidFill>
                  <a:srgbClr val="2C3E50"/>
                </a:solidFill>
                <a:latin typeface="Open Sans"/>
              </a:rPr>
              <a:t> - Mosaic Augmentation (ghép 4 ảnh thành 1) giúp model nhận diện đối tượng ở nhiều bối cảnh. </a:t>
            </a:r>
            <a:r>
              <a:t>
</a:t>
            </a:r>
            <a:r>
              <a:rPr sz="1500" b="0" i="0" u="none">
                <a:solidFill>
                  <a:srgbClr val="2C3E50"/>
                </a:solidFill>
                <a:latin typeface="Open Sans"/>
              </a:rPr>
              <a:t> - Random HSV (thay đổi màu sắc, độ bão hòa) để chống lóa sáng.</a:t>
            </a:r>
          </a:p>
        </p:txBody>
      </p:sp>
      <p:sp>
        <p:nvSpPr>
          <p:cNvPr id="11" name="TextBox 10"/>
          <p:cNvSpPr txBox="1"/>
          <p:nvPr/>
        </p:nvSpPr>
        <p:spPr>
          <a:xfrm>
            <a:off x="6762750" y="5133975"/>
            <a:ext cx="4857750" cy="609600"/>
          </a:xfrm>
          <a:prstGeom prst="rect">
            <a:avLst/>
          </a:prstGeom>
          <a:noFill/>
        </p:spPr>
        <p:txBody>
          <a:bodyPr wrap="square" lIns="0" tIns="0" rIns="0" bIns="0" anchor="t">
            <a:spAutoFit/>
          </a:bodyPr>
          <a:lstStyle/>
          <a:p>
            <a:pPr algn="l">
              <a:lnSpc>
                <a:spcPts val="2400"/>
              </a:lnSpc>
            </a:pPr>
            <a:r>
              <a:rPr sz="1500" b="1" i="0" u="none">
                <a:solidFill>
                  <a:srgbClr val="2C3E50"/>
                </a:solidFill>
                <a:latin typeface="Open Sans"/>
              </a:rPr>
              <a:t>Cấu hình YAML:</a:t>
            </a:r>
            <a:r>
              <a:rPr sz="1500" b="0" i="0" u="none">
                <a:solidFill>
                  <a:srgbClr val="2C3E50"/>
                </a:solidFill>
                <a:latin typeface="Open Sans"/>
              </a:rPr>
              <a:t> Khai báo đường dẫn đến tập train/val và danh sách tên class vào file data.yaml.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2400300"/>
            <a:ext cx="5286375" cy="2933700"/>
          </a:xfrm>
          <a:prstGeom prst="rect">
            <a:avLst/>
          </a:prstGeom>
        </p:spPr>
      </p:pic>
      <p:pic>
        <p:nvPicPr>
          <p:cNvPr id="3" name="Picture 2" descr="image.png"/>
          <p:cNvPicPr>
            <a:picLocks noChangeAspect="1"/>
          </p:cNvPicPr>
          <p:nvPr/>
        </p:nvPicPr>
        <p:blipFill>
          <a:blip r:embed="rId3"/>
          <a:stretch>
            <a:fillRect/>
          </a:stretch>
        </p:blipFill>
        <p:spPr>
          <a:xfrm>
            <a:off x="6334125" y="2400300"/>
            <a:ext cx="5286375" cy="2933700"/>
          </a:xfrm>
          <a:prstGeom prst="rect">
            <a:avLst/>
          </a:prstGeom>
        </p:spPr>
      </p:pic>
      <p:sp>
        <p:nvSpPr>
          <p:cNvPr id="4" name="Rectangle 3"/>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4375" y="647700"/>
            <a:ext cx="11451431" cy="495300"/>
          </a:xfrm>
          <a:prstGeom prst="rect">
            <a:avLst/>
          </a:prstGeom>
          <a:noFill/>
        </p:spPr>
        <p:txBody>
          <a:bodyPr wrap="square" lIns="0" tIns="0" rIns="0" bIns="0" anchor="t">
            <a:spAutoFit/>
          </a:bodyPr>
          <a:lstStyle/>
          <a:p>
            <a:pPr algn="l"/>
            <a:r>
              <a:rPr sz="3150" b="1" i="0" u="none">
                <a:solidFill>
                  <a:srgbClr val="0056B3"/>
                </a:solidFill>
                <a:latin typeface="Montserrat"/>
              </a:rPr>
              <a:t>Quá trình Train và Validate</a:t>
            </a:r>
          </a:p>
        </p:txBody>
      </p:sp>
      <p:sp>
        <p:nvSpPr>
          <p:cNvPr id="7" name="Rectangle 6"/>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52500" y="2819400"/>
            <a:ext cx="4750593" cy="323850"/>
          </a:xfrm>
          <a:prstGeom prst="rect">
            <a:avLst/>
          </a:prstGeom>
          <a:noFill/>
        </p:spPr>
        <p:txBody>
          <a:bodyPr wrap="square" lIns="333375" tIns="0" rIns="0" bIns="0" anchor="t">
            <a:spAutoFit/>
          </a:bodyPr>
          <a:lstStyle/>
          <a:p>
            <a:pPr algn="l"/>
            <a:r>
              <a:rPr sz="2100" b="1" i="0" u="none">
                <a:solidFill>
                  <a:srgbClr val="004494"/>
                </a:solidFill>
                <a:latin typeface="Montserrat"/>
              </a:rPr>
              <a:t>Quá trình Training</a:t>
            </a:r>
          </a:p>
        </p:txBody>
      </p:sp>
      <p:sp>
        <p:nvSpPr>
          <p:cNvPr id="9" name="TextBox 8"/>
          <p:cNvSpPr txBox="1"/>
          <p:nvPr/>
        </p:nvSpPr>
        <p:spPr>
          <a:xfrm>
            <a:off x="952500" y="3286125"/>
            <a:ext cx="4524375" cy="1524000"/>
          </a:xfrm>
          <a:prstGeom prst="rect">
            <a:avLst/>
          </a:prstGeom>
          <a:noFill/>
        </p:spPr>
        <p:txBody>
          <a:bodyPr wrap="square" lIns="0" tIns="0" rIns="0" bIns="0" anchor="t">
            <a:spAutoFit/>
          </a:bodyPr>
          <a:lstStyle/>
          <a:p>
            <a:pPr algn="l">
              <a:lnSpc>
                <a:spcPts val="2400"/>
              </a:lnSpc>
            </a:pPr>
            <a:r>
              <a:rPr sz="1500" b="0" i="0" u="none">
                <a:solidFill>
                  <a:srgbClr val="2C3E50"/>
                </a:solidFill>
                <a:latin typeface="Open Sans"/>
              </a:rPr>
              <a:t>Khởi chạy tệp train.py của YOLOv5. Mô hình tiến hành học các đặc trưng từ ảnh đầu vào, tính toán hàm mất mát (Loss function: Box loss, Objectness loss, Classification loss) và cập nhật trọng số liên tục qua các Epoch.</a:t>
            </a:r>
          </a:p>
        </p:txBody>
      </p:sp>
      <p:sp>
        <p:nvSpPr>
          <p:cNvPr id="10" name="TextBox 9"/>
          <p:cNvSpPr txBox="1"/>
          <p:nvPr/>
        </p:nvSpPr>
        <p:spPr>
          <a:xfrm>
            <a:off x="6715125" y="2819400"/>
            <a:ext cx="4750593" cy="323850"/>
          </a:xfrm>
          <a:prstGeom prst="rect">
            <a:avLst/>
          </a:prstGeom>
          <a:noFill/>
        </p:spPr>
        <p:txBody>
          <a:bodyPr wrap="square" lIns="238125" tIns="0" rIns="0" bIns="0" anchor="t">
            <a:spAutoFit/>
          </a:bodyPr>
          <a:lstStyle/>
          <a:p>
            <a:pPr algn="l"/>
            <a:r>
              <a:rPr sz="2100" b="1" i="0" u="none">
                <a:solidFill>
                  <a:srgbClr val="004494"/>
                </a:solidFill>
                <a:latin typeface="Montserrat"/>
              </a:rPr>
              <a:t>Quá trình Validation</a:t>
            </a:r>
          </a:p>
        </p:txBody>
      </p:sp>
      <p:sp>
        <p:nvSpPr>
          <p:cNvPr id="11" name="TextBox 10"/>
          <p:cNvSpPr txBox="1"/>
          <p:nvPr/>
        </p:nvSpPr>
        <p:spPr>
          <a:xfrm>
            <a:off x="6715125" y="3286125"/>
            <a:ext cx="4524375" cy="1524000"/>
          </a:xfrm>
          <a:prstGeom prst="rect">
            <a:avLst/>
          </a:prstGeom>
          <a:noFill/>
        </p:spPr>
        <p:txBody>
          <a:bodyPr wrap="square" lIns="0" tIns="0" rIns="0" bIns="0" anchor="t">
            <a:spAutoFit/>
          </a:bodyPr>
          <a:lstStyle/>
          <a:p>
            <a:pPr algn="l">
              <a:lnSpc>
                <a:spcPts val="2400"/>
              </a:lnSpc>
            </a:pPr>
            <a:r>
              <a:rPr sz="1500" b="0" i="0" u="none">
                <a:solidFill>
                  <a:srgbClr val="2C3E50"/>
                </a:solidFill>
                <a:latin typeface="Open Sans"/>
              </a:rPr>
              <a:t>Được thực thi song song sau mỗi Epoch trên tập Validation riêng biệt. Đánh giá khả năng tổng quát hóa của mô hình để tránh hiện tượng Overfitting. Các chỉ số được theo dõi liên tục để tìm ra file trọng số best.pt.</a:t>
            </a:r>
          </a:p>
        </p:txBody>
      </p:sp>
      <p:pic>
        <p:nvPicPr>
          <p:cNvPr id="12" name="Picture 11" descr="image.png"/>
          <p:cNvPicPr>
            <a:picLocks noChangeAspect="1"/>
          </p:cNvPicPr>
          <p:nvPr/>
        </p:nvPicPr>
        <p:blipFill>
          <a:blip r:embed="rId4"/>
          <a:stretch>
            <a:fillRect/>
          </a:stretch>
        </p:blipFill>
        <p:spPr>
          <a:xfrm>
            <a:off x="785812" y="2847975"/>
            <a:ext cx="333375" cy="266700"/>
          </a:xfrm>
          <a:prstGeom prst="rect">
            <a:avLst/>
          </a:prstGeom>
        </p:spPr>
      </p:pic>
      <p:pic>
        <p:nvPicPr>
          <p:cNvPr id="13" name="Picture 12" descr="image.png"/>
          <p:cNvPicPr>
            <a:picLocks noChangeAspect="1"/>
          </p:cNvPicPr>
          <p:nvPr/>
        </p:nvPicPr>
        <p:blipFill>
          <a:blip r:embed="rId5"/>
          <a:stretch>
            <a:fillRect/>
          </a:stretch>
        </p:blipFill>
        <p:spPr>
          <a:xfrm>
            <a:off x="6596062" y="2847975"/>
            <a:ext cx="238125" cy="2667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1704975"/>
            <a:ext cx="3492549" cy="4324350"/>
          </a:xfrm>
          <a:prstGeom prst="rect">
            <a:avLst/>
          </a:prstGeom>
        </p:spPr>
      </p:pic>
      <p:pic>
        <p:nvPicPr>
          <p:cNvPr id="3" name="Picture 2" descr="image.png"/>
          <p:cNvPicPr>
            <a:picLocks noChangeAspect="1"/>
          </p:cNvPicPr>
          <p:nvPr/>
        </p:nvPicPr>
        <p:blipFill>
          <a:blip r:embed="rId3"/>
          <a:stretch>
            <a:fillRect/>
          </a:stretch>
        </p:blipFill>
        <p:spPr>
          <a:xfrm>
            <a:off x="4349799" y="1704975"/>
            <a:ext cx="3492549" cy="4324350"/>
          </a:xfrm>
          <a:prstGeom prst="rect">
            <a:avLst/>
          </a:prstGeom>
        </p:spPr>
      </p:pic>
      <p:pic>
        <p:nvPicPr>
          <p:cNvPr id="4" name="Picture 3" descr="image.png"/>
          <p:cNvPicPr>
            <a:picLocks noChangeAspect="1"/>
          </p:cNvPicPr>
          <p:nvPr/>
        </p:nvPicPr>
        <p:blipFill>
          <a:blip r:embed="rId4"/>
          <a:stretch>
            <a:fillRect/>
          </a:stretch>
        </p:blipFill>
        <p:spPr>
          <a:xfrm>
            <a:off x="8128099" y="1704975"/>
            <a:ext cx="3492549" cy="4324350"/>
          </a:xfrm>
          <a:prstGeom prst="rect">
            <a:avLst/>
          </a:prstGeom>
        </p:spPr>
      </p:pic>
      <p:sp>
        <p:nvSpPr>
          <p:cNvPr id="5" name="Rectangle 4"/>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4375" y="647700"/>
            <a:ext cx="11451431" cy="495300"/>
          </a:xfrm>
          <a:prstGeom prst="rect">
            <a:avLst/>
          </a:prstGeom>
          <a:noFill/>
        </p:spPr>
        <p:txBody>
          <a:bodyPr wrap="square" lIns="0" tIns="0" rIns="0" bIns="0" anchor="t">
            <a:spAutoFit/>
          </a:bodyPr>
          <a:lstStyle/>
          <a:p>
            <a:pPr algn="l"/>
            <a:r>
              <a:rPr sz="3150" b="1" i="0" u="none">
                <a:solidFill>
                  <a:srgbClr val="0056B3"/>
                </a:solidFill>
                <a:latin typeface="Montserrat"/>
              </a:rPr>
              <a:t>Điểm thú vị trong Quá trình Train</a:t>
            </a:r>
          </a:p>
        </p:txBody>
      </p:sp>
      <p:sp>
        <p:nvSpPr>
          <p:cNvPr id="8" name="Rectangle 7"/>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5"/>
          <a:stretch>
            <a:fillRect/>
          </a:stretch>
        </p:blipFill>
        <p:spPr>
          <a:xfrm>
            <a:off x="1936700" y="1990725"/>
            <a:ext cx="762000" cy="762000"/>
          </a:xfrm>
          <a:prstGeom prst="rect">
            <a:avLst/>
          </a:prstGeom>
        </p:spPr>
      </p:pic>
      <p:sp>
        <p:nvSpPr>
          <p:cNvPr id="10" name="TextBox 9"/>
          <p:cNvSpPr txBox="1"/>
          <p:nvPr/>
        </p:nvSpPr>
        <p:spPr>
          <a:xfrm>
            <a:off x="784223" y="2943225"/>
            <a:ext cx="3067102" cy="647700"/>
          </a:xfrm>
          <a:prstGeom prst="rect">
            <a:avLst/>
          </a:prstGeom>
          <a:noFill/>
        </p:spPr>
        <p:txBody>
          <a:bodyPr wrap="square" lIns="0" tIns="0" rIns="0" bIns="0" anchor="t">
            <a:spAutoFit/>
          </a:bodyPr>
          <a:lstStyle/>
          <a:p>
            <a:pPr algn="ctr"/>
            <a:r>
              <a:rPr sz="2100" b="1" i="0" u="none">
                <a:solidFill>
                  <a:srgbClr val="004494"/>
                </a:solidFill>
                <a:latin typeface="Montserrat"/>
              </a:rPr>
              <a:t>Sức mạnh Colab GPU</a:t>
            </a:r>
          </a:p>
        </p:txBody>
      </p:sp>
      <p:sp>
        <p:nvSpPr>
          <p:cNvPr id="11" name="TextBox 10"/>
          <p:cNvSpPr txBox="1"/>
          <p:nvPr/>
        </p:nvSpPr>
        <p:spPr>
          <a:xfrm>
            <a:off x="857250" y="3733800"/>
            <a:ext cx="2921049" cy="1511568"/>
          </a:xfrm>
          <a:prstGeom prst="rect">
            <a:avLst/>
          </a:prstGeom>
          <a:noFill/>
        </p:spPr>
        <p:txBody>
          <a:bodyPr wrap="square" lIns="0" tIns="0" rIns="0" bIns="0" anchor="t">
            <a:spAutoFit/>
          </a:bodyPr>
          <a:lstStyle/>
          <a:p>
            <a:pPr algn="ctr">
              <a:lnSpc>
                <a:spcPts val="2400"/>
              </a:lnSpc>
            </a:pPr>
            <a:r>
              <a:rPr sz="1500" b="0" i="0" u="none" dirty="0" err="1">
                <a:solidFill>
                  <a:srgbClr val="2C3E50"/>
                </a:solidFill>
                <a:latin typeface="Open Sans"/>
              </a:rPr>
              <a:t>Tận</a:t>
            </a:r>
            <a:r>
              <a:rPr sz="1500" b="0" i="0" u="none" dirty="0">
                <a:solidFill>
                  <a:srgbClr val="2C3E50"/>
                </a:solidFill>
                <a:latin typeface="Open Sans"/>
              </a:rPr>
              <a:t> </a:t>
            </a:r>
            <a:r>
              <a:rPr sz="1500" b="0" i="0" u="none" dirty="0" err="1">
                <a:solidFill>
                  <a:srgbClr val="2C3E50"/>
                </a:solidFill>
                <a:latin typeface="Open Sans"/>
              </a:rPr>
              <a:t>dụng</a:t>
            </a:r>
            <a:r>
              <a:rPr sz="1500" b="0" i="0" u="none" dirty="0">
                <a:solidFill>
                  <a:srgbClr val="2C3E50"/>
                </a:solidFill>
                <a:latin typeface="Open Sans"/>
              </a:rPr>
              <a:t> GPU Tesla T4 </a:t>
            </a:r>
            <a:r>
              <a:rPr sz="1500" b="0" i="0" u="none" dirty="0" err="1">
                <a:solidFill>
                  <a:srgbClr val="2C3E50"/>
                </a:solidFill>
                <a:latin typeface="Open Sans"/>
              </a:rPr>
              <a:t>từ</a:t>
            </a:r>
            <a:r>
              <a:rPr sz="1500" b="0" i="0" u="none" dirty="0">
                <a:solidFill>
                  <a:srgbClr val="2C3E50"/>
                </a:solidFill>
                <a:latin typeface="Open Sans"/>
              </a:rPr>
              <a:t> Google </a:t>
            </a:r>
            <a:r>
              <a:rPr sz="1500" b="0" i="0" u="none" dirty="0" err="1">
                <a:solidFill>
                  <a:srgbClr val="2C3E50"/>
                </a:solidFill>
                <a:latin typeface="Open Sans"/>
              </a:rPr>
              <a:t>Colab</a:t>
            </a:r>
            <a:r>
              <a:rPr sz="1500" b="0" i="0" u="none" dirty="0">
                <a:solidFill>
                  <a:srgbClr val="2C3E50"/>
                </a:solidFill>
                <a:latin typeface="Open Sans"/>
              </a:rPr>
              <a:t> </a:t>
            </a:r>
            <a:r>
              <a:rPr sz="1500" b="0" i="0" u="none" dirty="0" err="1">
                <a:solidFill>
                  <a:srgbClr val="2C3E50"/>
                </a:solidFill>
                <a:latin typeface="Open Sans"/>
              </a:rPr>
              <a:t>giúp</a:t>
            </a:r>
            <a:r>
              <a:rPr sz="1500" b="0" i="0" u="none" dirty="0">
                <a:solidFill>
                  <a:srgbClr val="2C3E50"/>
                </a:solidFill>
                <a:latin typeface="Open Sans"/>
              </a:rPr>
              <a:t> </a:t>
            </a:r>
            <a:r>
              <a:rPr sz="1500" b="0" i="0" u="none" dirty="0" err="1">
                <a:solidFill>
                  <a:srgbClr val="2C3E50"/>
                </a:solidFill>
                <a:latin typeface="Open Sans"/>
              </a:rPr>
              <a:t>giảm</a:t>
            </a:r>
            <a:r>
              <a:rPr sz="1500" b="0" i="0" u="none" dirty="0">
                <a:solidFill>
                  <a:srgbClr val="2C3E50"/>
                </a:solidFill>
                <a:latin typeface="Open Sans"/>
              </a:rPr>
              <a:t> </a:t>
            </a:r>
            <a:r>
              <a:rPr sz="1500" b="0" i="0" u="none" dirty="0" err="1">
                <a:solidFill>
                  <a:srgbClr val="2C3E50"/>
                </a:solidFill>
                <a:latin typeface="Open Sans"/>
              </a:rPr>
              <a:t>thời</a:t>
            </a:r>
            <a:r>
              <a:rPr sz="1500" b="0" i="0" u="none" dirty="0">
                <a:solidFill>
                  <a:srgbClr val="2C3E50"/>
                </a:solidFill>
                <a:latin typeface="Open Sans"/>
              </a:rPr>
              <a:t> </a:t>
            </a:r>
            <a:r>
              <a:rPr sz="1500" b="0" i="0" u="none" dirty="0" err="1">
                <a:solidFill>
                  <a:srgbClr val="2C3E50"/>
                </a:solidFill>
                <a:latin typeface="Open Sans"/>
              </a:rPr>
              <a:t>gian</a:t>
            </a:r>
            <a:r>
              <a:rPr sz="1500" b="0" i="0" u="none" dirty="0">
                <a:solidFill>
                  <a:srgbClr val="2C3E50"/>
                </a:solidFill>
                <a:latin typeface="Open Sans"/>
              </a:rPr>
              <a:t> training </a:t>
            </a:r>
            <a:r>
              <a:rPr sz="1500" b="0" i="0" u="none" dirty="0" err="1">
                <a:solidFill>
                  <a:srgbClr val="2C3E50"/>
                </a:solidFill>
                <a:latin typeface="Open Sans"/>
              </a:rPr>
              <a:t>từ</a:t>
            </a:r>
            <a:r>
              <a:rPr sz="1500" b="0" i="0" u="none" dirty="0">
                <a:solidFill>
                  <a:srgbClr val="2C3E50"/>
                </a:solidFill>
                <a:latin typeface="Open Sans"/>
              </a:rPr>
              <a:t> </a:t>
            </a:r>
            <a:r>
              <a:rPr sz="1500" b="0" i="0" u="none" dirty="0" err="1">
                <a:solidFill>
                  <a:srgbClr val="2C3E50"/>
                </a:solidFill>
                <a:latin typeface="Open Sans"/>
              </a:rPr>
              <a:t>nhiều</a:t>
            </a:r>
            <a:r>
              <a:rPr sz="1500" b="0" i="0" u="none" dirty="0">
                <a:solidFill>
                  <a:srgbClr val="2C3E50"/>
                </a:solidFill>
                <a:latin typeface="Open Sans"/>
              </a:rPr>
              <a:t> </a:t>
            </a:r>
            <a:r>
              <a:rPr sz="1500" b="0" i="0" u="none" dirty="0" err="1">
                <a:solidFill>
                  <a:srgbClr val="2C3E50"/>
                </a:solidFill>
                <a:latin typeface="Open Sans"/>
              </a:rPr>
              <a:t>ngày</a:t>
            </a:r>
            <a:r>
              <a:rPr sz="1500" b="0" i="0" u="none" dirty="0">
                <a:solidFill>
                  <a:srgbClr val="2C3E50"/>
                </a:solidFill>
                <a:latin typeface="Open Sans"/>
              </a:rPr>
              <a:t> (</a:t>
            </a:r>
            <a:r>
              <a:rPr sz="1500" b="0" i="0" u="none" dirty="0" err="1">
                <a:solidFill>
                  <a:srgbClr val="2C3E50"/>
                </a:solidFill>
                <a:latin typeface="Open Sans"/>
              </a:rPr>
              <a:t>nếu</a:t>
            </a:r>
            <a:r>
              <a:rPr sz="1500" b="0" i="0" u="none" dirty="0">
                <a:solidFill>
                  <a:srgbClr val="2C3E50"/>
                </a:solidFill>
                <a:latin typeface="Open Sans"/>
              </a:rPr>
              <a:t> </a:t>
            </a:r>
            <a:r>
              <a:rPr sz="1500" b="0" i="0" u="none" dirty="0" err="1">
                <a:solidFill>
                  <a:srgbClr val="2C3E50"/>
                </a:solidFill>
                <a:latin typeface="Open Sans"/>
              </a:rPr>
              <a:t>chạy</a:t>
            </a:r>
            <a:r>
              <a:rPr sz="1500" b="0" i="0" u="none" dirty="0">
                <a:solidFill>
                  <a:srgbClr val="2C3E50"/>
                </a:solidFill>
                <a:latin typeface="Open Sans"/>
              </a:rPr>
              <a:t> CPU) </a:t>
            </a:r>
            <a:r>
              <a:rPr sz="1500" b="0" i="0" u="none" dirty="0" err="1">
                <a:solidFill>
                  <a:srgbClr val="2C3E50"/>
                </a:solidFill>
                <a:latin typeface="Open Sans"/>
              </a:rPr>
              <a:t>xuống</a:t>
            </a:r>
            <a:r>
              <a:rPr sz="1500" b="0" i="0" u="none" dirty="0">
                <a:solidFill>
                  <a:srgbClr val="2C3E50"/>
                </a:solidFill>
                <a:latin typeface="Open Sans"/>
              </a:rPr>
              <a:t> </a:t>
            </a:r>
            <a:r>
              <a:rPr sz="1500" b="0" i="0" u="none" dirty="0" err="1">
                <a:solidFill>
                  <a:srgbClr val="2C3E50"/>
                </a:solidFill>
                <a:latin typeface="Open Sans"/>
              </a:rPr>
              <a:t>chỉ</a:t>
            </a:r>
            <a:r>
              <a:rPr sz="1500" b="0" i="0" u="none" dirty="0">
                <a:solidFill>
                  <a:srgbClr val="2C3E50"/>
                </a:solidFill>
                <a:latin typeface="Open Sans"/>
              </a:rPr>
              <a:t> </a:t>
            </a:r>
            <a:r>
              <a:rPr sz="1500" b="0" i="0" u="none" dirty="0" err="1">
                <a:solidFill>
                  <a:srgbClr val="2C3E50"/>
                </a:solidFill>
                <a:latin typeface="Open Sans"/>
              </a:rPr>
              <a:t>còn</a:t>
            </a:r>
            <a:r>
              <a:rPr sz="1500" b="0" i="0" u="none" dirty="0">
                <a:solidFill>
                  <a:srgbClr val="2C3E50"/>
                </a:solidFill>
                <a:latin typeface="Open Sans"/>
              </a:rPr>
              <a:t> </a:t>
            </a:r>
            <a:r>
              <a:rPr sz="1500" b="0" i="0" u="none" dirty="0" err="1">
                <a:solidFill>
                  <a:srgbClr val="2C3E50"/>
                </a:solidFill>
                <a:latin typeface="Open Sans"/>
              </a:rPr>
              <a:t>vài</a:t>
            </a:r>
            <a:r>
              <a:rPr sz="1500" b="0" i="0" u="none" dirty="0">
                <a:solidFill>
                  <a:srgbClr val="2C3E50"/>
                </a:solidFill>
                <a:latin typeface="Open Sans"/>
              </a:rPr>
              <a:t> </a:t>
            </a:r>
            <a:r>
              <a:rPr sz="1500" b="0" i="0" u="none" dirty="0" err="1">
                <a:solidFill>
                  <a:srgbClr val="2C3E50"/>
                </a:solidFill>
                <a:latin typeface="Open Sans"/>
              </a:rPr>
              <a:t>giờ</a:t>
            </a:r>
            <a:r>
              <a:rPr sz="1500" b="0" i="0" u="none" dirty="0">
                <a:solidFill>
                  <a:srgbClr val="2C3E50"/>
                </a:solidFill>
                <a:latin typeface="Open Sans"/>
              </a:rPr>
              <a:t>, </a:t>
            </a:r>
            <a:r>
              <a:rPr sz="1500" b="0" i="0" u="none" dirty="0" err="1">
                <a:solidFill>
                  <a:srgbClr val="2C3E50"/>
                </a:solidFill>
                <a:latin typeface="Open Sans"/>
              </a:rPr>
              <a:t>đẩy</a:t>
            </a:r>
            <a:r>
              <a:rPr sz="1500" b="0" i="0" u="none" dirty="0">
                <a:solidFill>
                  <a:srgbClr val="2C3E50"/>
                </a:solidFill>
                <a:latin typeface="Open Sans"/>
              </a:rPr>
              <a:t> </a:t>
            </a:r>
            <a:r>
              <a:rPr sz="1500" b="0" i="0" u="none" dirty="0" err="1">
                <a:solidFill>
                  <a:srgbClr val="2C3E50"/>
                </a:solidFill>
                <a:latin typeface="Open Sans"/>
              </a:rPr>
              <a:t>nhanh</a:t>
            </a:r>
            <a:r>
              <a:rPr sz="1500" b="0" i="0" u="none" dirty="0">
                <a:solidFill>
                  <a:srgbClr val="2C3E50"/>
                </a:solidFill>
                <a:latin typeface="Open Sans"/>
              </a:rPr>
              <a:t> </a:t>
            </a:r>
            <a:r>
              <a:rPr sz="1500" b="0" i="0" u="none" dirty="0" err="1">
                <a:solidFill>
                  <a:srgbClr val="2C3E50"/>
                </a:solidFill>
                <a:latin typeface="Open Sans"/>
              </a:rPr>
              <a:t>vòng</a:t>
            </a:r>
            <a:r>
              <a:rPr sz="1500" b="0" i="0" u="none" dirty="0">
                <a:solidFill>
                  <a:srgbClr val="2C3E50"/>
                </a:solidFill>
                <a:latin typeface="Open Sans"/>
              </a:rPr>
              <a:t> </a:t>
            </a:r>
            <a:r>
              <a:rPr sz="1500" b="0" i="0" u="none" dirty="0" err="1">
                <a:solidFill>
                  <a:srgbClr val="2C3E50"/>
                </a:solidFill>
                <a:latin typeface="Open Sans"/>
              </a:rPr>
              <a:t>lặp</a:t>
            </a:r>
            <a:r>
              <a:rPr sz="1500" b="0" i="0" u="none" dirty="0">
                <a:solidFill>
                  <a:srgbClr val="2C3E50"/>
                </a:solidFill>
                <a:latin typeface="Open Sans"/>
              </a:rPr>
              <a:t> </a:t>
            </a:r>
            <a:r>
              <a:rPr sz="1500" b="0" i="0" u="none" dirty="0" err="1">
                <a:solidFill>
                  <a:srgbClr val="2C3E50"/>
                </a:solidFill>
                <a:latin typeface="Open Sans"/>
              </a:rPr>
              <a:t>phát</a:t>
            </a:r>
            <a:r>
              <a:rPr sz="1500" b="0" i="0" u="none" dirty="0">
                <a:solidFill>
                  <a:srgbClr val="2C3E50"/>
                </a:solidFill>
                <a:latin typeface="Open Sans"/>
              </a:rPr>
              <a:t> </a:t>
            </a:r>
            <a:r>
              <a:rPr sz="1500" b="0" i="0" u="none" dirty="0" err="1">
                <a:solidFill>
                  <a:srgbClr val="2C3E50"/>
                </a:solidFill>
                <a:latin typeface="Open Sans"/>
              </a:rPr>
              <a:t>triển</a:t>
            </a:r>
            <a:r>
              <a:rPr sz="1500" b="0" i="0" u="none" dirty="0">
                <a:solidFill>
                  <a:srgbClr val="2C3E50"/>
                </a:solidFill>
                <a:latin typeface="Open Sans"/>
              </a:rPr>
              <a:t>.</a:t>
            </a:r>
          </a:p>
        </p:txBody>
      </p:sp>
      <p:pic>
        <p:nvPicPr>
          <p:cNvPr id="12" name="Picture 11" descr="image.png"/>
          <p:cNvPicPr>
            <a:picLocks noChangeAspect="1"/>
          </p:cNvPicPr>
          <p:nvPr/>
        </p:nvPicPr>
        <p:blipFill>
          <a:blip r:embed="rId6"/>
          <a:stretch>
            <a:fillRect/>
          </a:stretch>
        </p:blipFill>
        <p:spPr>
          <a:xfrm>
            <a:off x="5715000" y="1990725"/>
            <a:ext cx="762000" cy="762000"/>
          </a:xfrm>
          <a:prstGeom prst="rect">
            <a:avLst/>
          </a:prstGeom>
        </p:spPr>
      </p:pic>
      <p:sp>
        <p:nvSpPr>
          <p:cNvPr id="13" name="TextBox 12"/>
          <p:cNvSpPr txBox="1"/>
          <p:nvPr/>
        </p:nvSpPr>
        <p:spPr>
          <a:xfrm>
            <a:off x="4630816" y="2943225"/>
            <a:ext cx="2930366" cy="323850"/>
          </a:xfrm>
          <a:prstGeom prst="rect">
            <a:avLst/>
          </a:prstGeom>
          <a:noFill/>
        </p:spPr>
        <p:txBody>
          <a:bodyPr wrap="square" lIns="0" tIns="0" rIns="0" bIns="0" anchor="t">
            <a:spAutoFit/>
          </a:bodyPr>
          <a:lstStyle/>
          <a:p>
            <a:pPr algn="ctr"/>
            <a:r>
              <a:rPr sz="2100" b="1" i="0" u="none">
                <a:solidFill>
                  <a:srgbClr val="004494"/>
                </a:solidFill>
                <a:latin typeface="Montserrat"/>
              </a:rPr>
              <a:t>Mount Google Drive</a:t>
            </a:r>
          </a:p>
        </p:txBody>
      </p:sp>
      <p:sp>
        <p:nvSpPr>
          <p:cNvPr id="14" name="TextBox 13"/>
          <p:cNvSpPr txBox="1"/>
          <p:nvPr/>
        </p:nvSpPr>
        <p:spPr>
          <a:xfrm>
            <a:off x="4635549" y="3409950"/>
            <a:ext cx="2921049" cy="1524000"/>
          </a:xfrm>
          <a:prstGeom prst="rect">
            <a:avLst/>
          </a:prstGeom>
          <a:noFill/>
        </p:spPr>
        <p:txBody>
          <a:bodyPr wrap="square" lIns="0" tIns="0" rIns="0" bIns="0" anchor="t">
            <a:spAutoFit/>
          </a:bodyPr>
          <a:lstStyle/>
          <a:p>
            <a:pPr algn="ctr">
              <a:lnSpc>
                <a:spcPts val="2400"/>
              </a:lnSpc>
            </a:pPr>
            <a:r>
              <a:rPr sz="1500" b="0" i="0" u="none">
                <a:solidFill>
                  <a:srgbClr val="2C3E50"/>
                </a:solidFill>
                <a:latin typeface="Open Sans"/>
              </a:rPr>
              <a:t>Vì Colab sẽ reset sau 12h, toàn bộ Dataset và Checkpoints (weights) được lưu thẳng vào Google Drive. Đảm bảo không mất dữ liệu giữa chừng.</a:t>
            </a:r>
          </a:p>
        </p:txBody>
      </p:sp>
      <p:pic>
        <p:nvPicPr>
          <p:cNvPr id="15" name="Picture 14" descr="image.png"/>
          <p:cNvPicPr>
            <a:picLocks noChangeAspect="1"/>
          </p:cNvPicPr>
          <p:nvPr/>
        </p:nvPicPr>
        <p:blipFill>
          <a:blip r:embed="rId7"/>
          <a:stretch>
            <a:fillRect/>
          </a:stretch>
        </p:blipFill>
        <p:spPr>
          <a:xfrm>
            <a:off x="9493299" y="1990725"/>
            <a:ext cx="762000" cy="762000"/>
          </a:xfrm>
          <a:prstGeom prst="rect">
            <a:avLst/>
          </a:prstGeom>
        </p:spPr>
      </p:pic>
      <p:sp>
        <p:nvSpPr>
          <p:cNvPr id="16" name="TextBox 15"/>
          <p:cNvSpPr txBox="1"/>
          <p:nvPr/>
        </p:nvSpPr>
        <p:spPr>
          <a:xfrm>
            <a:off x="8999190" y="2943225"/>
            <a:ext cx="1750218" cy="323850"/>
          </a:xfrm>
          <a:prstGeom prst="rect">
            <a:avLst/>
          </a:prstGeom>
          <a:noFill/>
        </p:spPr>
        <p:txBody>
          <a:bodyPr wrap="square" lIns="0" tIns="0" rIns="0" bIns="0" anchor="t">
            <a:spAutoFit/>
          </a:bodyPr>
          <a:lstStyle/>
          <a:p>
            <a:pPr algn="ctr"/>
            <a:r>
              <a:rPr sz="2100" b="1" i="0" u="none">
                <a:solidFill>
                  <a:srgbClr val="004494"/>
                </a:solidFill>
                <a:latin typeface="Montserrat"/>
              </a:rPr>
              <a:t>AutoAnchor</a:t>
            </a:r>
          </a:p>
        </p:txBody>
      </p:sp>
      <p:sp>
        <p:nvSpPr>
          <p:cNvPr id="17" name="TextBox 16"/>
          <p:cNvSpPr txBox="1"/>
          <p:nvPr/>
        </p:nvSpPr>
        <p:spPr>
          <a:xfrm>
            <a:off x="8413849" y="3409950"/>
            <a:ext cx="2921049" cy="1524000"/>
          </a:xfrm>
          <a:prstGeom prst="rect">
            <a:avLst/>
          </a:prstGeom>
          <a:noFill/>
        </p:spPr>
        <p:txBody>
          <a:bodyPr wrap="square" lIns="0" tIns="0" rIns="0" bIns="0" anchor="t">
            <a:spAutoFit/>
          </a:bodyPr>
          <a:lstStyle/>
          <a:p>
            <a:pPr algn="ctr">
              <a:lnSpc>
                <a:spcPts val="2400"/>
              </a:lnSpc>
            </a:pPr>
            <a:r>
              <a:rPr sz="1500" b="0" i="0" u="none">
                <a:solidFill>
                  <a:srgbClr val="2C3E50"/>
                </a:solidFill>
                <a:latin typeface="Open Sans"/>
              </a:rPr>
              <a:t>YOLOv5 tự động phân tích dataset Shogi và tinh chỉnh lại các Bounding Box Anchors mặc định sao cho phù hợp nhất với kích thước thực tế của quân cờ.</a:t>
            </a:r>
          </a:p>
        </p:txBody>
      </p:sp>
      <p:pic>
        <p:nvPicPr>
          <p:cNvPr id="18" name="Picture 17" descr="image.png"/>
          <p:cNvPicPr>
            <a:picLocks noChangeAspect="1"/>
          </p:cNvPicPr>
          <p:nvPr/>
        </p:nvPicPr>
        <p:blipFill>
          <a:blip r:embed="rId8"/>
          <a:stretch>
            <a:fillRect/>
          </a:stretch>
        </p:blipFill>
        <p:spPr>
          <a:xfrm>
            <a:off x="2155775" y="2200275"/>
            <a:ext cx="323850" cy="342900"/>
          </a:xfrm>
          <a:prstGeom prst="rect">
            <a:avLst/>
          </a:prstGeom>
        </p:spPr>
      </p:pic>
      <p:pic>
        <p:nvPicPr>
          <p:cNvPr id="19" name="Picture 18" descr="image.png"/>
          <p:cNvPicPr>
            <a:picLocks noChangeAspect="1"/>
          </p:cNvPicPr>
          <p:nvPr/>
        </p:nvPicPr>
        <p:blipFill>
          <a:blip r:embed="rId9"/>
          <a:stretch>
            <a:fillRect/>
          </a:stretch>
        </p:blipFill>
        <p:spPr>
          <a:xfrm>
            <a:off x="5881687" y="2200275"/>
            <a:ext cx="428625" cy="342900"/>
          </a:xfrm>
          <a:prstGeom prst="rect">
            <a:avLst/>
          </a:prstGeom>
        </p:spPr>
      </p:pic>
      <p:pic>
        <p:nvPicPr>
          <p:cNvPr id="20" name="Picture 19" descr="image.png"/>
          <p:cNvPicPr>
            <a:picLocks noChangeAspect="1"/>
          </p:cNvPicPr>
          <p:nvPr/>
        </p:nvPicPr>
        <p:blipFill>
          <a:blip r:embed="rId10"/>
          <a:stretch>
            <a:fillRect/>
          </a:stretch>
        </p:blipFill>
        <p:spPr>
          <a:xfrm>
            <a:off x="9679037" y="2200275"/>
            <a:ext cx="390525" cy="3429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334125" y="1971675"/>
            <a:ext cx="5286375" cy="2371725"/>
          </a:xfrm>
          <a:prstGeom prst="rect">
            <a:avLst/>
          </a:prstGeom>
        </p:spPr>
      </p:pic>
      <p:sp>
        <p:nvSpPr>
          <p:cNvPr id="3" name="Rectangle 2"/>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4375" y="647700"/>
            <a:ext cx="11451431" cy="495300"/>
          </a:xfrm>
          <a:prstGeom prst="rect">
            <a:avLst/>
          </a:prstGeom>
          <a:noFill/>
        </p:spPr>
        <p:txBody>
          <a:bodyPr wrap="square" lIns="0" tIns="0" rIns="0" bIns="0" anchor="t">
            <a:spAutoFit/>
          </a:bodyPr>
          <a:lstStyle/>
          <a:p>
            <a:pPr algn="l"/>
            <a:r>
              <a:rPr sz="3150" b="1" i="0" u="none">
                <a:solidFill>
                  <a:srgbClr val="0056B3"/>
                </a:solidFill>
                <a:latin typeface="Montserrat"/>
              </a:rPr>
              <a:t>Code Train: Luồng Dữ liệu Hoạt động</a:t>
            </a:r>
          </a:p>
        </p:txBody>
      </p:sp>
      <p:sp>
        <p:nvSpPr>
          <p:cNvPr id="6" name="Rectangle 5"/>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1500" y="1971675"/>
            <a:ext cx="5550693" cy="323850"/>
          </a:xfrm>
          <a:prstGeom prst="rect">
            <a:avLst/>
          </a:prstGeom>
          <a:noFill/>
        </p:spPr>
        <p:txBody>
          <a:bodyPr wrap="square" lIns="0" tIns="0" rIns="0" bIns="0" anchor="t">
            <a:spAutoFit/>
          </a:bodyPr>
          <a:lstStyle/>
          <a:p>
            <a:pPr algn="l"/>
            <a:r>
              <a:rPr sz="2100" b="1" i="0" u="none">
                <a:solidFill>
                  <a:srgbClr val="004494"/>
                </a:solidFill>
                <a:latin typeface="Montserrat"/>
              </a:rPr>
              <a:t>Các thành phần cốt lõi</a:t>
            </a:r>
          </a:p>
        </p:txBody>
      </p:sp>
      <p:sp>
        <p:nvSpPr>
          <p:cNvPr id="8" name="TextBox 7"/>
          <p:cNvSpPr txBox="1"/>
          <p:nvPr/>
        </p:nvSpPr>
        <p:spPr>
          <a:xfrm>
            <a:off x="6524625" y="2162175"/>
            <a:ext cx="365819" cy="180975"/>
          </a:xfrm>
          <a:prstGeom prst="rect">
            <a:avLst/>
          </a:prstGeom>
          <a:noFill/>
        </p:spPr>
        <p:txBody>
          <a:bodyPr wrap="square" lIns="0" tIns="0" rIns="0" bIns="0" anchor="t">
            <a:spAutoFit/>
          </a:bodyPr>
          <a:lstStyle/>
          <a:p>
            <a:pPr algn="l"/>
            <a:r>
              <a:rPr sz="1200" b="0" i="0" u="none">
                <a:solidFill>
                  <a:srgbClr val="569CD6"/>
                </a:solidFill>
                <a:latin typeface="monospace"/>
              </a:rPr>
              <a:t>!git</a:t>
            </a:r>
          </a:p>
        </p:txBody>
      </p:sp>
      <p:sp>
        <p:nvSpPr>
          <p:cNvPr id="9" name="TextBox 8"/>
          <p:cNvSpPr txBox="1"/>
          <p:nvPr/>
        </p:nvSpPr>
        <p:spPr>
          <a:xfrm>
            <a:off x="6524625" y="2343150"/>
            <a:ext cx="274439" cy="180975"/>
          </a:xfrm>
          <a:prstGeom prst="rect">
            <a:avLst/>
          </a:prstGeom>
          <a:noFill/>
        </p:spPr>
        <p:txBody>
          <a:bodyPr wrap="square" lIns="0" tIns="0" rIns="0" bIns="0" anchor="t">
            <a:spAutoFit/>
          </a:bodyPr>
          <a:lstStyle/>
          <a:p>
            <a:pPr algn="l"/>
            <a:r>
              <a:rPr sz="1200" b="0" i="0" u="none">
                <a:solidFill>
                  <a:srgbClr val="569CD6"/>
                </a:solidFill>
                <a:latin typeface="monospace"/>
              </a:rPr>
              <a:t>%cd</a:t>
            </a:r>
          </a:p>
        </p:txBody>
      </p:sp>
      <p:sp>
        <p:nvSpPr>
          <p:cNvPr id="10" name="TextBox 9"/>
          <p:cNvSpPr txBox="1"/>
          <p:nvPr/>
        </p:nvSpPr>
        <p:spPr>
          <a:xfrm>
            <a:off x="6524625" y="2524125"/>
            <a:ext cx="365819" cy="180975"/>
          </a:xfrm>
          <a:prstGeom prst="rect">
            <a:avLst/>
          </a:prstGeom>
          <a:noFill/>
        </p:spPr>
        <p:txBody>
          <a:bodyPr wrap="square" lIns="0" tIns="0" rIns="0" bIns="0" anchor="t">
            <a:spAutoFit/>
          </a:bodyPr>
          <a:lstStyle/>
          <a:p>
            <a:pPr algn="l"/>
            <a:r>
              <a:rPr sz="1200" b="0" i="0" u="none">
                <a:solidFill>
                  <a:srgbClr val="569CD6"/>
                </a:solidFill>
                <a:latin typeface="monospace"/>
              </a:rPr>
              <a:t>!pip</a:t>
            </a:r>
          </a:p>
        </p:txBody>
      </p:sp>
      <p:sp>
        <p:nvSpPr>
          <p:cNvPr id="11" name="TextBox 10"/>
          <p:cNvSpPr txBox="1"/>
          <p:nvPr/>
        </p:nvSpPr>
        <p:spPr>
          <a:xfrm>
            <a:off x="6524625" y="2886075"/>
            <a:ext cx="2743646" cy="180975"/>
          </a:xfrm>
          <a:prstGeom prst="rect">
            <a:avLst/>
          </a:prstGeom>
          <a:noFill/>
        </p:spPr>
        <p:txBody>
          <a:bodyPr wrap="square" lIns="0" tIns="0" rIns="0" bIns="0" anchor="t">
            <a:spAutoFit/>
          </a:bodyPr>
          <a:lstStyle/>
          <a:p>
            <a:pPr algn="l"/>
            <a:r>
              <a:rPr sz="1200" b="0" i="0" u="none">
                <a:solidFill>
                  <a:srgbClr val="6A9955"/>
                </a:solidFill>
                <a:latin typeface="monospace"/>
              </a:rPr>
              <a:t># Bắt đầu quá trình huấn luyện</a:t>
            </a:r>
          </a:p>
        </p:txBody>
      </p:sp>
      <p:sp>
        <p:nvSpPr>
          <p:cNvPr id="12" name="TextBox 11"/>
          <p:cNvSpPr txBox="1"/>
          <p:nvPr/>
        </p:nvSpPr>
        <p:spPr>
          <a:xfrm>
            <a:off x="6524625" y="3067050"/>
            <a:ext cx="640258" cy="180975"/>
          </a:xfrm>
          <a:prstGeom prst="rect">
            <a:avLst/>
          </a:prstGeom>
          <a:noFill/>
        </p:spPr>
        <p:txBody>
          <a:bodyPr wrap="square" lIns="0" tIns="0" rIns="0" bIns="0" anchor="t">
            <a:spAutoFit/>
          </a:bodyPr>
          <a:lstStyle/>
          <a:p>
            <a:pPr algn="l"/>
            <a:r>
              <a:rPr sz="1200" b="0" i="0" u="none">
                <a:solidFill>
                  <a:srgbClr val="569CD6"/>
                </a:solidFill>
                <a:latin typeface="monospace"/>
              </a:rPr>
              <a:t>!python</a:t>
            </a:r>
          </a:p>
        </p:txBody>
      </p:sp>
      <p:sp>
        <p:nvSpPr>
          <p:cNvPr id="13" name="TextBox 12"/>
          <p:cNvSpPr txBox="1"/>
          <p:nvPr/>
        </p:nvSpPr>
        <p:spPr>
          <a:xfrm>
            <a:off x="7256264" y="3248025"/>
            <a:ext cx="274439" cy="180975"/>
          </a:xfrm>
          <a:prstGeom prst="rect">
            <a:avLst/>
          </a:prstGeom>
          <a:noFill/>
        </p:spPr>
        <p:txBody>
          <a:bodyPr wrap="square" lIns="0" tIns="0" rIns="0" bIns="0" anchor="t">
            <a:spAutoFit/>
          </a:bodyPr>
          <a:lstStyle/>
          <a:p>
            <a:pPr algn="l"/>
            <a:r>
              <a:rPr sz="1200" b="0" i="0" u="none">
                <a:solidFill>
                  <a:srgbClr val="B5CEA8"/>
                </a:solidFill>
                <a:latin typeface="monospace"/>
              </a:rPr>
              <a:t>640</a:t>
            </a:r>
          </a:p>
        </p:txBody>
      </p:sp>
      <p:sp>
        <p:nvSpPr>
          <p:cNvPr id="14" name="TextBox 13"/>
          <p:cNvSpPr txBox="1"/>
          <p:nvPr/>
        </p:nvSpPr>
        <p:spPr>
          <a:xfrm>
            <a:off x="7439173" y="3429000"/>
            <a:ext cx="182909" cy="180975"/>
          </a:xfrm>
          <a:prstGeom prst="rect">
            <a:avLst/>
          </a:prstGeom>
          <a:noFill/>
        </p:spPr>
        <p:txBody>
          <a:bodyPr wrap="square" lIns="0" tIns="0" rIns="0" bIns="0" anchor="t">
            <a:spAutoFit/>
          </a:bodyPr>
          <a:lstStyle/>
          <a:p>
            <a:pPr algn="l"/>
            <a:r>
              <a:rPr sz="1200" b="0" i="0" u="none">
                <a:solidFill>
                  <a:srgbClr val="B5CEA8"/>
                </a:solidFill>
                <a:latin typeface="monospace"/>
              </a:rPr>
              <a:t>16</a:t>
            </a:r>
          </a:p>
        </p:txBody>
      </p:sp>
      <p:sp>
        <p:nvSpPr>
          <p:cNvPr id="15" name="TextBox 14"/>
          <p:cNvSpPr txBox="1"/>
          <p:nvPr/>
        </p:nvSpPr>
        <p:spPr>
          <a:xfrm>
            <a:off x="7530703" y="3609975"/>
            <a:ext cx="274439" cy="180975"/>
          </a:xfrm>
          <a:prstGeom prst="rect">
            <a:avLst/>
          </a:prstGeom>
          <a:noFill/>
        </p:spPr>
        <p:txBody>
          <a:bodyPr wrap="square" lIns="0" tIns="0" rIns="0" bIns="0" anchor="t">
            <a:spAutoFit/>
          </a:bodyPr>
          <a:lstStyle/>
          <a:p>
            <a:pPr algn="l"/>
            <a:r>
              <a:rPr sz="1200" b="0" i="0" u="none">
                <a:solidFill>
                  <a:srgbClr val="B5CEA8"/>
                </a:solidFill>
                <a:latin typeface="monospace"/>
              </a:rPr>
              <a:t>100</a:t>
            </a:r>
          </a:p>
        </p:txBody>
      </p:sp>
      <p:sp>
        <p:nvSpPr>
          <p:cNvPr id="16" name="TextBox 15"/>
          <p:cNvSpPr txBox="1"/>
          <p:nvPr/>
        </p:nvSpPr>
        <p:spPr>
          <a:xfrm>
            <a:off x="7347793" y="3790950"/>
            <a:ext cx="3200995" cy="180975"/>
          </a:xfrm>
          <a:prstGeom prst="rect">
            <a:avLst/>
          </a:prstGeom>
          <a:noFill/>
        </p:spPr>
        <p:txBody>
          <a:bodyPr wrap="square" lIns="0" tIns="0" rIns="0" bIns="0" anchor="t">
            <a:spAutoFit/>
          </a:bodyPr>
          <a:lstStyle/>
          <a:p>
            <a:pPr algn="l"/>
            <a:r>
              <a:rPr sz="1200" b="0" i="0" u="none">
                <a:solidFill>
                  <a:srgbClr val="CE9178"/>
                </a:solidFill>
                <a:latin typeface="monospace"/>
              </a:rPr>
              <a:t>'/content/drive/MyDrive/shogi.yaml'</a:t>
            </a:r>
          </a:p>
        </p:txBody>
      </p:sp>
      <p:sp>
        <p:nvSpPr>
          <p:cNvPr id="17" name="TextBox 16"/>
          <p:cNvSpPr txBox="1"/>
          <p:nvPr/>
        </p:nvSpPr>
        <p:spPr>
          <a:xfrm>
            <a:off x="1000125" y="2438400"/>
            <a:ext cx="4857750" cy="304800"/>
          </a:xfrm>
          <a:prstGeom prst="rect">
            <a:avLst/>
          </a:prstGeom>
          <a:noFill/>
        </p:spPr>
        <p:txBody>
          <a:bodyPr wrap="square" lIns="0" tIns="0" rIns="0" bIns="0" anchor="t">
            <a:spAutoFit/>
          </a:bodyPr>
          <a:lstStyle/>
          <a:p>
            <a:pPr algn="l">
              <a:lnSpc>
                <a:spcPts val="2400"/>
              </a:lnSpc>
            </a:pPr>
            <a:r>
              <a:rPr sz="1500" b="0" i="0" u="none">
                <a:solidFill>
                  <a:srgbClr val="2C3E50"/>
                </a:solidFill>
                <a:latin typeface="Open Sans"/>
              </a:rPr>
              <a:t>--img 640: Định cỡ ảnh đầu vào.</a:t>
            </a:r>
          </a:p>
        </p:txBody>
      </p:sp>
      <p:sp>
        <p:nvSpPr>
          <p:cNvPr id="18" name="TextBox 17"/>
          <p:cNvSpPr txBox="1"/>
          <p:nvPr/>
        </p:nvSpPr>
        <p:spPr>
          <a:xfrm>
            <a:off x="1000125" y="2981325"/>
            <a:ext cx="4857750" cy="304800"/>
          </a:xfrm>
          <a:prstGeom prst="rect">
            <a:avLst/>
          </a:prstGeom>
          <a:noFill/>
        </p:spPr>
        <p:txBody>
          <a:bodyPr wrap="square" lIns="0" tIns="0" rIns="0" bIns="0" anchor="t">
            <a:spAutoFit/>
          </a:bodyPr>
          <a:lstStyle/>
          <a:p>
            <a:pPr algn="l">
              <a:lnSpc>
                <a:spcPts val="2400"/>
              </a:lnSpc>
            </a:pPr>
            <a:r>
              <a:rPr sz="1500" b="0" i="0" u="none">
                <a:solidFill>
                  <a:srgbClr val="2C3E50"/>
                </a:solidFill>
                <a:latin typeface="Open Sans"/>
              </a:rPr>
              <a:t>--batch 16: Đưa 16 ảnh vào RAM GPU cùng lúc.</a:t>
            </a:r>
          </a:p>
        </p:txBody>
      </p:sp>
      <p:sp>
        <p:nvSpPr>
          <p:cNvPr id="19" name="TextBox 18"/>
          <p:cNvSpPr txBox="1"/>
          <p:nvPr/>
        </p:nvSpPr>
        <p:spPr>
          <a:xfrm>
            <a:off x="1000125" y="3524250"/>
            <a:ext cx="4857750" cy="609600"/>
          </a:xfrm>
          <a:prstGeom prst="rect">
            <a:avLst/>
          </a:prstGeom>
          <a:noFill/>
        </p:spPr>
        <p:txBody>
          <a:bodyPr wrap="square" lIns="0" tIns="0" rIns="0" bIns="0" anchor="t">
            <a:spAutoFit/>
          </a:bodyPr>
          <a:lstStyle/>
          <a:p>
            <a:pPr algn="l">
              <a:lnSpc>
                <a:spcPts val="2400"/>
              </a:lnSpc>
            </a:pPr>
            <a:r>
              <a:rPr sz="1500" b="0" i="0" u="none">
                <a:solidFill>
                  <a:srgbClr val="2C3E50"/>
                </a:solidFill>
                <a:latin typeface="Open Sans"/>
              </a:rPr>
              <a:t>--epochs 100: Số vòng lặp huấn luyện toàn bộ tập data.</a:t>
            </a:r>
          </a:p>
        </p:txBody>
      </p:sp>
      <p:sp>
        <p:nvSpPr>
          <p:cNvPr id="20" name="TextBox 19"/>
          <p:cNvSpPr txBox="1"/>
          <p:nvPr/>
        </p:nvSpPr>
        <p:spPr>
          <a:xfrm>
            <a:off x="1000125" y="4371975"/>
            <a:ext cx="4857750" cy="304800"/>
          </a:xfrm>
          <a:prstGeom prst="rect">
            <a:avLst/>
          </a:prstGeom>
          <a:noFill/>
        </p:spPr>
        <p:txBody>
          <a:bodyPr wrap="square" lIns="0" tIns="0" rIns="0" bIns="0" anchor="t">
            <a:spAutoFit/>
          </a:bodyPr>
          <a:lstStyle/>
          <a:p>
            <a:pPr algn="l">
              <a:lnSpc>
                <a:spcPts val="2400"/>
              </a:lnSpc>
            </a:pPr>
            <a:r>
              <a:rPr sz="1500" b="0" i="0" u="none">
                <a:solidFill>
                  <a:srgbClr val="2C3E50"/>
                </a:solidFill>
                <a:latin typeface="Open Sans"/>
              </a:rPr>
              <a:t>--data shogi.yaml: Chỉ định tập dữ liệu.</a:t>
            </a:r>
          </a:p>
        </p:txBody>
      </p:sp>
      <p:sp>
        <p:nvSpPr>
          <p:cNvPr id="21" name="TextBox 20"/>
          <p:cNvSpPr txBox="1"/>
          <p:nvPr/>
        </p:nvSpPr>
        <p:spPr>
          <a:xfrm>
            <a:off x="1000125" y="4914900"/>
            <a:ext cx="4857750" cy="609600"/>
          </a:xfrm>
          <a:prstGeom prst="rect">
            <a:avLst/>
          </a:prstGeom>
          <a:noFill/>
        </p:spPr>
        <p:txBody>
          <a:bodyPr wrap="square" lIns="0" tIns="0" rIns="0" bIns="0" anchor="t">
            <a:spAutoFit/>
          </a:bodyPr>
          <a:lstStyle/>
          <a:p>
            <a:pPr algn="l">
              <a:lnSpc>
                <a:spcPts val="2400"/>
              </a:lnSpc>
            </a:pPr>
            <a:r>
              <a:rPr sz="1500" b="0" i="0" u="none">
                <a:solidFill>
                  <a:srgbClr val="2C3E50"/>
                </a:solidFill>
                <a:latin typeface="Open Sans"/>
              </a:rPr>
              <a:t>--weights yolov5s.pt: Dùng Transfer Learning (pre-trained model).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6D69C-3C40-3F43-454D-48869B7A8E0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68DA541-6756-B304-0365-4C59208A0FA0}"/>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B550256-8366-B238-4BAA-89EFBFE7169E}"/>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F354820-1733-97FF-017D-2236C0A1EAEC}"/>
              </a:ext>
            </a:extLst>
          </p:cNvPr>
          <p:cNvSpPr txBox="1"/>
          <p:nvPr/>
        </p:nvSpPr>
        <p:spPr>
          <a:xfrm>
            <a:off x="2357373" y="2646016"/>
            <a:ext cx="7170896" cy="738664"/>
          </a:xfrm>
          <a:prstGeom prst="rect">
            <a:avLst/>
          </a:prstGeom>
          <a:noFill/>
        </p:spPr>
        <p:txBody>
          <a:bodyPr wrap="square" lIns="0" tIns="0" rIns="0" bIns="0" anchor="t">
            <a:spAutoFit/>
          </a:bodyPr>
          <a:lstStyle/>
          <a:p>
            <a:pPr algn="ctr"/>
            <a:r>
              <a:rPr lang="en-US" sz="4800" b="1" dirty="0" err="1">
                <a:solidFill>
                  <a:srgbClr val="0056B3"/>
                </a:solidFill>
                <a:effectLst>
                  <a:outerShdw blurRad="38100" dist="38100" dir="2700000" algn="tl">
                    <a:srgbClr val="000000">
                      <a:alpha val="43137"/>
                    </a:srgbClr>
                  </a:outerShdw>
                </a:effectLst>
                <a:latin typeface="Montserrat"/>
              </a:rPr>
              <a:t>Triển</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khai</a:t>
            </a:r>
            <a:r>
              <a:rPr lang="en-US" sz="4800" b="1" dirty="0">
                <a:solidFill>
                  <a:srgbClr val="0056B3"/>
                </a:solidFill>
                <a:effectLst>
                  <a:outerShdw blurRad="38100" dist="38100" dir="2700000" algn="tl">
                    <a:srgbClr val="000000">
                      <a:alpha val="43137"/>
                    </a:srgbClr>
                  </a:outerShdw>
                </a:effectLst>
                <a:latin typeface="Montserrat"/>
              </a:rPr>
              <a:t> REST API</a:t>
            </a:r>
          </a:p>
        </p:txBody>
      </p:sp>
      <p:sp>
        <p:nvSpPr>
          <p:cNvPr id="5" name="Rectangle 4">
            <a:extLst>
              <a:ext uri="{FF2B5EF4-FFF2-40B4-BE49-F238E27FC236}">
                <a16:creationId xmlns:a16="http://schemas.microsoft.com/office/drawing/2014/main" id="{202CEB71-BBA0-8ED2-63A8-AEF5479B500F}"/>
              </a:ext>
            </a:extLst>
          </p:cNvPr>
          <p:cNvSpPr/>
          <p:nvPr/>
        </p:nvSpPr>
        <p:spPr>
          <a:xfrm>
            <a:off x="5524500" y="3517552"/>
            <a:ext cx="1143000" cy="5715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971375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4375" y="647700"/>
            <a:ext cx="11451431" cy="495300"/>
          </a:xfrm>
          <a:prstGeom prst="rect">
            <a:avLst/>
          </a:prstGeom>
          <a:noFill/>
        </p:spPr>
        <p:txBody>
          <a:bodyPr wrap="square" lIns="0" tIns="0" rIns="0" bIns="0" anchor="t">
            <a:spAutoFit/>
          </a:bodyPr>
          <a:lstStyle/>
          <a:p>
            <a:pPr algn="l"/>
            <a:r>
              <a:rPr sz="3150" b="1" i="0" u="none" dirty="0" err="1">
                <a:solidFill>
                  <a:srgbClr val="0056B3"/>
                </a:solidFill>
                <a:effectLst>
                  <a:outerShdw blurRad="38100" dist="38100" dir="2700000" algn="tl">
                    <a:srgbClr val="000000">
                      <a:alpha val="43137"/>
                    </a:srgbClr>
                  </a:outerShdw>
                </a:effectLst>
                <a:latin typeface="Montserrat"/>
              </a:rPr>
              <a:t>Khởi</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tạo</a:t>
            </a:r>
            <a:r>
              <a:rPr sz="3150" b="1" i="0" u="none" dirty="0">
                <a:solidFill>
                  <a:srgbClr val="0056B3"/>
                </a:solidFill>
                <a:effectLst>
                  <a:outerShdw blurRad="38100" dist="38100" dir="2700000" algn="tl">
                    <a:srgbClr val="000000">
                      <a:alpha val="43137"/>
                    </a:srgbClr>
                  </a:outerShdw>
                </a:effectLst>
                <a:latin typeface="Montserrat"/>
              </a:rPr>
              <a:t> REST API </a:t>
            </a:r>
            <a:r>
              <a:rPr sz="3150" b="1" i="0" u="none" dirty="0" err="1">
                <a:solidFill>
                  <a:srgbClr val="0056B3"/>
                </a:solidFill>
                <a:effectLst>
                  <a:outerShdw blurRad="38100" dist="38100" dir="2700000" algn="tl">
                    <a:srgbClr val="000000">
                      <a:alpha val="43137"/>
                    </a:srgbClr>
                  </a:outerShdw>
                </a:effectLst>
                <a:latin typeface="Montserrat"/>
              </a:rPr>
              <a:t>với</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FastAPI</a:t>
            </a:r>
            <a:endParaRPr sz="3150" b="1" i="0" u="none" dirty="0">
              <a:solidFill>
                <a:srgbClr val="0056B3"/>
              </a:solidFill>
              <a:effectLst>
                <a:outerShdw blurRad="38100" dist="38100" dir="2700000" algn="tl">
                  <a:srgbClr val="000000">
                    <a:alpha val="43137"/>
                  </a:srgbClr>
                </a:outerShdw>
              </a:effectLst>
              <a:latin typeface="Montserrat"/>
            </a:endParaRPr>
          </a:p>
        </p:txBody>
      </p:sp>
      <p:sp>
        <p:nvSpPr>
          <p:cNvPr id="6" name="Rectangle 5"/>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BE2AAEC-B0B5-3244-DA47-5040B69AC560}"/>
              </a:ext>
            </a:extLst>
          </p:cNvPr>
          <p:cNvSpPr txBox="1"/>
          <p:nvPr/>
        </p:nvSpPr>
        <p:spPr>
          <a:xfrm>
            <a:off x="469826" y="1968344"/>
            <a:ext cx="11509080" cy="2079287"/>
          </a:xfrm>
          <a:prstGeom prst="rect">
            <a:avLst/>
          </a:prstGeom>
          <a:noFill/>
        </p:spPr>
        <p:txBody>
          <a:bodyPr wrap="square" lIns="0" tIns="0" rIns="0" bIns="0" anchor="t">
            <a:spAutoFit/>
          </a:bodyPr>
          <a:lstStyle/>
          <a:p>
            <a:pPr marL="342900" indent="-342900" algn="l">
              <a:lnSpc>
                <a:spcPct val="114000"/>
              </a:lnSpc>
              <a:buFont typeface="Wingdings" panose="05000000000000000000" pitchFamily="2" charset="2"/>
              <a:buChar char="q"/>
            </a:pPr>
            <a:r>
              <a:rPr lang="vi-VN" sz="2400" dirty="0">
                <a:solidFill>
                  <a:srgbClr val="2C3E50"/>
                </a:solidFill>
                <a:effectLst>
                  <a:outerShdw blurRad="38100" dist="38100" dir="2700000" algn="tl">
                    <a:srgbClr val="000000">
                      <a:alpha val="43137"/>
                    </a:srgbClr>
                  </a:outerShdw>
                </a:effectLst>
                <a:latin typeface="Open Sans"/>
              </a:rPr>
              <a:t>Mô hình sau khi huấn luyện (file best.pt) được bọc trong </a:t>
            </a:r>
            <a:r>
              <a:rPr lang="en-US" sz="2400" dirty="0">
                <a:solidFill>
                  <a:srgbClr val="2C3E50"/>
                </a:solidFill>
                <a:effectLst>
                  <a:outerShdw blurRad="38100" dist="38100" dir="2700000" algn="tl">
                    <a:srgbClr val="000000">
                      <a:alpha val="43137"/>
                    </a:srgbClr>
                  </a:outerShdw>
                </a:effectLst>
                <a:latin typeface="Open Sans"/>
              </a:rPr>
              <a:t>1</a:t>
            </a:r>
            <a:r>
              <a:rPr lang="vi-VN" sz="2400" dirty="0">
                <a:solidFill>
                  <a:srgbClr val="2C3E50"/>
                </a:solidFill>
                <a:effectLst>
                  <a:outerShdw blurRad="38100" dist="38100" dir="2700000" algn="tl">
                    <a:srgbClr val="000000">
                      <a:alpha val="43137"/>
                    </a:srgbClr>
                  </a:outerShdw>
                </a:effectLst>
                <a:latin typeface="Open Sans"/>
              </a:rPr>
              <a:t> REST API</a:t>
            </a:r>
            <a:br>
              <a:rPr lang="en-US" sz="2400" dirty="0">
                <a:solidFill>
                  <a:srgbClr val="2C3E50"/>
                </a:solidFill>
                <a:effectLst>
                  <a:outerShdw blurRad="38100" dist="38100" dir="2700000" algn="tl">
                    <a:srgbClr val="000000">
                      <a:alpha val="43137"/>
                    </a:srgbClr>
                  </a:outerShdw>
                </a:effectLst>
                <a:latin typeface="Open Sans"/>
              </a:rPr>
            </a:br>
            <a:r>
              <a:rPr lang="en-US" sz="2400" dirty="0">
                <a:solidFill>
                  <a:srgbClr val="2C3E50"/>
                </a:solidFill>
                <a:effectLst>
                  <a:outerShdw blurRad="38100" dist="38100" dir="2700000" algn="tl">
                    <a:srgbClr val="000000">
                      <a:alpha val="43137"/>
                    </a:srgbClr>
                  </a:outerShdw>
                </a:effectLst>
                <a:latin typeface="Open Sans"/>
              </a:rPr>
              <a:t>(</a:t>
            </a:r>
            <a:r>
              <a:rPr lang="vi-VN" sz="2400" dirty="0">
                <a:solidFill>
                  <a:srgbClr val="2C3E50"/>
                </a:solidFill>
                <a:effectLst>
                  <a:outerShdw blurRad="38100" dist="38100" dir="2700000" algn="tl">
                    <a:srgbClr val="000000">
                      <a:alpha val="43137"/>
                    </a:srgbClr>
                  </a:outerShdw>
                </a:effectLst>
                <a:latin typeface="Open Sans"/>
              </a:rPr>
              <a:t>sử dụng FastAPI</a:t>
            </a:r>
            <a:r>
              <a:rPr lang="en-US" sz="2400" dirty="0">
                <a:solidFill>
                  <a:srgbClr val="2C3E50"/>
                </a:solidFill>
                <a:effectLst>
                  <a:outerShdw blurRad="38100" dist="38100" dir="2700000" algn="tl">
                    <a:srgbClr val="000000">
                      <a:alpha val="43137"/>
                    </a:srgbClr>
                  </a:outerShdw>
                </a:effectLst>
                <a:latin typeface="Open Sans"/>
              </a:rPr>
              <a:t>)</a:t>
            </a:r>
          </a:p>
          <a:p>
            <a:pPr marL="342900" indent="-342900" algn="l">
              <a:lnSpc>
                <a:spcPct val="114000"/>
              </a:lnSpc>
              <a:buFont typeface="Wingdings" panose="05000000000000000000" pitchFamily="2" charset="2"/>
              <a:buChar char="q"/>
            </a:pPr>
            <a:r>
              <a:rPr lang="en-US" sz="2400" dirty="0">
                <a:solidFill>
                  <a:srgbClr val="2C3E50"/>
                </a:solidFill>
                <a:effectLst>
                  <a:outerShdw blurRad="38100" dist="38100" dir="2700000" algn="tl">
                    <a:srgbClr val="000000">
                      <a:alpha val="43137"/>
                    </a:srgbClr>
                  </a:outerShdw>
                </a:effectLst>
                <a:latin typeface="Open Sans"/>
              </a:rPr>
              <a:t>Endpoint POST /predict </a:t>
            </a:r>
            <a:r>
              <a:rPr lang="en-US" sz="2400" dirty="0" err="1">
                <a:solidFill>
                  <a:srgbClr val="2C3E50"/>
                </a:solidFill>
                <a:effectLst>
                  <a:outerShdw blurRad="38100" dist="38100" dir="2700000" algn="tl">
                    <a:srgbClr val="000000">
                      <a:alpha val="43137"/>
                    </a:srgbClr>
                  </a:outerShdw>
                </a:effectLst>
                <a:latin typeface="Open Sans"/>
              </a:rPr>
              <a:t>chấp</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nhận</a:t>
            </a:r>
            <a:r>
              <a:rPr lang="en-US" sz="2400" dirty="0">
                <a:solidFill>
                  <a:srgbClr val="2C3E50"/>
                </a:solidFill>
                <a:effectLst>
                  <a:outerShdw blurRad="38100" dist="38100" dir="2700000" algn="tl">
                    <a:srgbClr val="000000">
                      <a:alpha val="43137"/>
                    </a:srgbClr>
                  </a:outerShdw>
                </a:effectLst>
                <a:latin typeface="Open Sans"/>
              </a:rPr>
              <a:t> file </a:t>
            </a:r>
            <a:r>
              <a:rPr lang="en-US" sz="2400" dirty="0" err="1">
                <a:solidFill>
                  <a:srgbClr val="2C3E50"/>
                </a:solidFill>
                <a:effectLst>
                  <a:outerShdw blurRad="38100" dist="38100" dir="2700000" algn="tl">
                    <a:srgbClr val="000000">
                      <a:alpha val="43137"/>
                    </a:srgbClr>
                  </a:outerShdw>
                </a:effectLst>
                <a:latin typeface="Open Sans"/>
              </a:rPr>
              <a:t>ảnh</a:t>
            </a:r>
            <a:r>
              <a:rPr lang="en-US" sz="2400" dirty="0">
                <a:solidFill>
                  <a:srgbClr val="2C3E50"/>
                </a:solidFill>
                <a:effectLst>
                  <a:outerShdw blurRad="38100" dist="38100" dir="2700000" algn="tl">
                    <a:srgbClr val="000000">
                      <a:alpha val="43137"/>
                    </a:srgbClr>
                  </a:outerShdw>
                </a:effectLst>
                <a:latin typeface="Open Sans"/>
              </a:rPr>
              <a:t> upload</a:t>
            </a:r>
          </a:p>
          <a:p>
            <a:pPr marL="342900" indent="-342900" algn="l">
              <a:lnSpc>
                <a:spcPct val="114000"/>
              </a:lnSpc>
              <a:buFont typeface="Wingdings" panose="05000000000000000000" pitchFamily="2" charset="2"/>
              <a:buChar char="q"/>
            </a:pPr>
            <a:r>
              <a:rPr lang="vi-VN" sz="2400" dirty="0">
                <a:solidFill>
                  <a:srgbClr val="2C3E50"/>
                </a:solidFill>
                <a:effectLst>
                  <a:outerShdw blurRad="38100" dist="38100" dir="2700000" algn="tl">
                    <a:srgbClr val="000000">
                      <a:alpha val="43137"/>
                    </a:srgbClr>
                  </a:outerShdw>
                </a:effectLst>
                <a:latin typeface="Open Sans"/>
              </a:rPr>
              <a:t>Đọc ảnh trực tiếp, không cần lưu xuống ổ cứng</a:t>
            </a:r>
          </a:p>
          <a:p>
            <a:pPr marL="342900" indent="-342900" algn="l">
              <a:lnSpc>
                <a:spcPct val="114000"/>
              </a:lnSpc>
              <a:buFont typeface="Wingdings" panose="05000000000000000000" pitchFamily="2" charset="2"/>
              <a:buChar char="q"/>
            </a:pPr>
            <a:r>
              <a:rPr lang="vi-VN" sz="2400" dirty="0">
                <a:solidFill>
                  <a:srgbClr val="2C3E50"/>
                </a:solidFill>
                <a:effectLst>
                  <a:outerShdw blurRad="38100" dist="38100" dir="2700000" algn="tl">
                    <a:srgbClr val="000000">
                      <a:alpha val="43137"/>
                    </a:srgbClr>
                  </a:outerShdw>
                </a:effectLst>
                <a:latin typeface="Open Sans"/>
              </a:rPr>
              <a:t>FastAPI hỗ trợ xử lý bất đồng bộ giúp tăng thông lượng request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4375" y="647700"/>
            <a:ext cx="11451431" cy="495300"/>
          </a:xfrm>
          <a:prstGeom prst="rect">
            <a:avLst/>
          </a:prstGeom>
          <a:noFill/>
        </p:spPr>
        <p:txBody>
          <a:bodyPr wrap="square" lIns="0" tIns="0" rIns="0" bIns="0" anchor="t">
            <a:spAutoFit/>
          </a:bodyPr>
          <a:lstStyle/>
          <a:p>
            <a:pPr algn="l"/>
            <a:r>
              <a:rPr sz="3150" b="1" i="0" u="none" dirty="0">
                <a:solidFill>
                  <a:srgbClr val="0056B3"/>
                </a:solidFill>
                <a:effectLst>
                  <a:outerShdw blurRad="38100" dist="38100" dir="2700000" algn="tl">
                    <a:srgbClr val="000000">
                      <a:alpha val="43137"/>
                    </a:srgbClr>
                  </a:outerShdw>
                </a:effectLst>
                <a:latin typeface="Montserrat"/>
              </a:rPr>
              <a:t>Hosting API </a:t>
            </a:r>
            <a:r>
              <a:rPr sz="3150" b="1" i="0" u="none" dirty="0" err="1">
                <a:solidFill>
                  <a:srgbClr val="0056B3"/>
                </a:solidFill>
                <a:effectLst>
                  <a:outerShdw blurRad="38100" dist="38100" dir="2700000" algn="tl">
                    <a:srgbClr val="000000">
                      <a:alpha val="43137"/>
                    </a:srgbClr>
                  </a:outerShdw>
                </a:effectLst>
                <a:latin typeface="Montserrat"/>
              </a:rPr>
              <a:t>bằng</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Ngrok</a:t>
            </a:r>
            <a:endParaRPr sz="3150" b="1" i="0" u="none" dirty="0">
              <a:solidFill>
                <a:srgbClr val="0056B3"/>
              </a:solidFill>
              <a:effectLst>
                <a:outerShdw blurRad="38100" dist="38100" dir="2700000" algn="tl">
                  <a:srgbClr val="000000">
                    <a:alpha val="43137"/>
                  </a:srgbClr>
                </a:outerShdw>
              </a:effectLst>
              <a:latin typeface="Montserrat"/>
            </a:endParaRPr>
          </a:p>
        </p:txBody>
      </p:sp>
      <p:sp>
        <p:nvSpPr>
          <p:cNvPr id="5" name="Rectangle 4"/>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1676400" y="3200400"/>
            <a:ext cx="1143000" cy="1143000"/>
          </a:xfrm>
          <a:prstGeom prst="rect">
            <a:avLst/>
          </a:prstGeom>
        </p:spPr>
      </p:pic>
      <p:pic>
        <p:nvPicPr>
          <p:cNvPr id="7" name="Picture 6" descr="image.png"/>
          <p:cNvPicPr>
            <a:picLocks noChangeAspect="1"/>
          </p:cNvPicPr>
          <p:nvPr/>
        </p:nvPicPr>
        <p:blipFill>
          <a:blip r:embed="rId3"/>
          <a:stretch>
            <a:fillRect/>
          </a:stretch>
        </p:blipFill>
        <p:spPr>
          <a:xfrm>
            <a:off x="3048000" y="3867150"/>
            <a:ext cx="333375" cy="381000"/>
          </a:xfrm>
          <a:prstGeom prst="rect">
            <a:avLst/>
          </a:prstGeom>
        </p:spPr>
      </p:pic>
      <p:pic>
        <p:nvPicPr>
          <p:cNvPr id="8" name="Picture 7" descr="image.png"/>
          <p:cNvPicPr>
            <a:picLocks noChangeAspect="1"/>
          </p:cNvPicPr>
          <p:nvPr/>
        </p:nvPicPr>
        <p:blipFill>
          <a:blip r:embed="rId4"/>
          <a:stretch>
            <a:fillRect/>
          </a:stretch>
        </p:blipFill>
        <p:spPr>
          <a:xfrm>
            <a:off x="3609975" y="3200400"/>
            <a:ext cx="1143000" cy="1143000"/>
          </a:xfrm>
          <a:prstGeom prst="rect">
            <a:avLst/>
          </a:prstGeom>
        </p:spPr>
      </p:pic>
      <p:sp>
        <p:nvSpPr>
          <p:cNvPr id="9" name="TextBox 8"/>
          <p:cNvSpPr txBox="1"/>
          <p:nvPr/>
        </p:nvSpPr>
        <p:spPr>
          <a:xfrm>
            <a:off x="6334125" y="2166937"/>
            <a:ext cx="5550693" cy="323850"/>
          </a:xfrm>
          <a:prstGeom prst="rect">
            <a:avLst/>
          </a:prstGeom>
          <a:noFill/>
        </p:spPr>
        <p:txBody>
          <a:bodyPr wrap="square" lIns="0" tIns="0" rIns="0" bIns="0" anchor="t">
            <a:spAutoFit/>
          </a:bodyPr>
          <a:lstStyle/>
          <a:p>
            <a:pPr algn="l"/>
            <a:r>
              <a:rPr sz="2100" b="1" i="0" u="none" dirty="0" err="1">
                <a:solidFill>
                  <a:srgbClr val="004494"/>
                </a:solidFill>
                <a:effectLst>
                  <a:outerShdw blurRad="38100" dist="38100" dir="2700000" algn="tl">
                    <a:srgbClr val="000000">
                      <a:alpha val="43137"/>
                    </a:srgbClr>
                  </a:outerShdw>
                </a:effectLst>
                <a:latin typeface="Montserrat"/>
              </a:rPr>
              <a:t>Vấn</a:t>
            </a:r>
            <a:r>
              <a:rPr sz="2100" b="1" i="0" u="none" dirty="0">
                <a:solidFill>
                  <a:srgbClr val="004494"/>
                </a:solidFill>
                <a:effectLst>
                  <a:outerShdw blurRad="38100" dist="38100" dir="2700000" algn="tl">
                    <a:srgbClr val="000000">
                      <a:alpha val="43137"/>
                    </a:srgbClr>
                  </a:outerShdw>
                </a:effectLst>
                <a:latin typeface="Montserrat"/>
              </a:rPr>
              <a:t> </a:t>
            </a:r>
            <a:r>
              <a:rPr sz="2100" b="1" i="0" u="none" dirty="0" err="1">
                <a:solidFill>
                  <a:srgbClr val="004494"/>
                </a:solidFill>
                <a:effectLst>
                  <a:outerShdw blurRad="38100" dist="38100" dir="2700000" algn="tl">
                    <a:srgbClr val="000000">
                      <a:alpha val="43137"/>
                    </a:srgbClr>
                  </a:outerShdw>
                </a:effectLst>
                <a:latin typeface="Montserrat"/>
              </a:rPr>
              <a:t>đề</a:t>
            </a:r>
            <a:r>
              <a:rPr sz="2100" b="1" i="0" u="none" dirty="0">
                <a:solidFill>
                  <a:srgbClr val="004494"/>
                </a:solidFill>
                <a:effectLst>
                  <a:outerShdw blurRad="38100" dist="38100" dir="2700000" algn="tl">
                    <a:srgbClr val="000000">
                      <a:alpha val="43137"/>
                    </a:srgbClr>
                  </a:outerShdw>
                </a:effectLst>
                <a:latin typeface="Montserrat"/>
              </a:rPr>
              <a:t> </a:t>
            </a:r>
            <a:r>
              <a:rPr sz="2100" b="1" i="0" u="none" dirty="0" err="1">
                <a:solidFill>
                  <a:srgbClr val="004494"/>
                </a:solidFill>
                <a:effectLst>
                  <a:outerShdw blurRad="38100" dist="38100" dir="2700000" algn="tl">
                    <a:srgbClr val="000000">
                      <a:alpha val="43137"/>
                    </a:srgbClr>
                  </a:outerShdw>
                </a:effectLst>
                <a:latin typeface="Montserrat"/>
              </a:rPr>
              <a:t>của</a:t>
            </a:r>
            <a:r>
              <a:rPr sz="2100" b="1" i="0" u="none" dirty="0">
                <a:solidFill>
                  <a:srgbClr val="004494"/>
                </a:solidFill>
                <a:effectLst>
                  <a:outerShdw blurRad="38100" dist="38100" dir="2700000" algn="tl">
                    <a:srgbClr val="000000">
                      <a:alpha val="43137"/>
                    </a:srgbClr>
                  </a:outerShdw>
                </a:effectLst>
                <a:latin typeface="Montserrat"/>
              </a:rPr>
              <a:t> Localhost (</a:t>
            </a:r>
            <a:r>
              <a:rPr sz="2100" b="1" i="0" u="none" dirty="0" err="1">
                <a:solidFill>
                  <a:srgbClr val="004494"/>
                </a:solidFill>
                <a:effectLst>
                  <a:outerShdw blurRad="38100" dist="38100" dir="2700000" algn="tl">
                    <a:srgbClr val="000000">
                      <a:alpha val="43137"/>
                    </a:srgbClr>
                  </a:outerShdw>
                </a:effectLst>
                <a:latin typeface="Montserrat"/>
              </a:rPr>
              <a:t>Colab</a:t>
            </a:r>
            <a:r>
              <a:rPr sz="2100" b="1" i="0" u="none" dirty="0">
                <a:solidFill>
                  <a:srgbClr val="004494"/>
                </a:solidFill>
                <a:effectLst>
                  <a:outerShdw blurRad="38100" dist="38100" dir="2700000" algn="tl">
                    <a:srgbClr val="000000">
                      <a:alpha val="43137"/>
                    </a:srgbClr>
                  </a:outerShdw>
                </a:effectLst>
                <a:latin typeface="Montserrat"/>
              </a:rPr>
              <a:t>)</a:t>
            </a:r>
          </a:p>
        </p:txBody>
      </p:sp>
      <p:sp>
        <p:nvSpPr>
          <p:cNvPr id="10" name="TextBox 9"/>
          <p:cNvSpPr txBox="1"/>
          <p:nvPr/>
        </p:nvSpPr>
        <p:spPr>
          <a:xfrm>
            <a:off x="6334125" y="2633662"/>
            <a:ext cx="5286375" cy="923330"/>
          </a:xfrm>
          <a:prstGeom prst="rect">
            <a:avLst/>
          </a:prstGeom>
          <a:noFill/>
        </p:spPr>
        <p:txBody>
          <a:bodyPr wrap="square" lIns="0" tIns="0" rIns="0" bIns="0" anchor="t">
            <a:spAutoFit/>
          </a:bodyPr>
          <a:lstStyle/>
          <a:p>
            <a:pPr algn="l">
              <a:lnSpc>
                <a:spcPts val="2400"/>
              </a:lnSpc>
            </a:pPr>
            <a:r>
              <a:rPr sz="2000" b="0" i="0" u="none" dirty="0">
                <a:solidFill>
                  <a:srgbClr val="2C3E50"/>
                </a:solidFill>
                <a:effectLst>
                  <a:outerShdw blurRad="38100" dist="38100" dir="2700000" algn="tl">
                    <a:srgbClr val="000000">
                      <a:alpha val="43137"/>
                    </a:srgbClr>
                  </a:outerShdw>
                </a:effectLst>
                <a:latin typeface="Open Sans"/>
              </a:rPr>
              <a:t>Server </a:t>
            </a:r>
            <a:r>
              <a:rPr sz="2000" b="0" i="0" u="none" dirty="0" err="1">
                <a:solidFill>
                  <a:srgbClr val="2C3E50"/>
                </a:solidFill>
                <a:effectLst>
                  <a:outerShdw blurRad="38100" dist="38100" dir="2700000" algn="tl">
                    <a:srgbClr val="000000">
                      <a:alpha val="43137"/>
                    </a:srgbClr>
                  </a:outerShdw>
                </a:effectLst>
                <a:latin typeface="Open Sans"/>
              </a:rPr>
              <a:t>FastAPI</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chạy</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trong</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môi</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trường</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ảo</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của</a:t>
            </a:r>
            <a:r>
              <a:rPr sz="2000" b="0" i="0" u="none" dirty="0">
                <a:solidFill>
                  <a:srgbClr val="2C3E50"/>
                </a:solidFill>
                <a:effectLst>
                  <a:outerShdw blurRad="38100" dist="38100" dir="2700000" algn="tl">
                    <a:srgbClr val="000000">
                      <a:alpha val="43137"/>
                    </a:srgbClr>
                  </a:outerShdw>
                </a:effectLst>
                <a:latin typeface="Open Sans"/>
              </a:rPr>
              <a:t> Google </a:t>
            </a:r>
            <a:r>
              <a:rPr sz="2000" b="0" i="0" u="none" dirty="0" err="1">
                <a:solidFill>
                  <a:srgbClr val="2C3E50"/>
                </a:solidFill>
                <a:effectLst>
                  <a:outerShdw blurRad="38100" dist="38100" dir="2700000" algn="tl">
                    <a:srgbClr val="000000">
                      <a:alpha val="43137"/>
                    </a:srgbClr>
                  </a:outerShdw>
                </a:effectLst>
                <a:latin typeface="Open Sans"/>
              </a:rPr>
              <a:t>Colab</a:t>
            </a:r>
            <a:r>
              <a:rPr sz="2000" b="0" i="0" u="none" dirty="0">
                <a:solidFill>
                  <a:srgbClr val="2C3E50"/>
                </a:solidFill>
                <a:effectLst>
                  <a:outerShdw blurRad="38100" dist="38100" dir="2700000" algn="tl">
                    <a:srgbClr val="000000">
                      <a:alpha val="43137"/>
                    </a:srgbClr>
                  </a:outerShdw>
                </a:effectLst>
                <a:latin typeface="Open Sans"/>
              </a:rPr>
              <a:t> (</a:t>
            </a:r>
            <a:r>
              <a:rPr lang="en-US" sz="2000" b="0" i="0" u="none" dirty="0">
                <a:solidFill>
                  <a:srgbClr val="2C3E50"/>
                </a:solidFill>
                <a:effectLst>
                  <a:outerShdw blurRad="38100" dist="38100" dir="2700000" algn="tl">
                    <a:srgbClr val="000000">
                      <a:alpha val="43137"/>
                    </a:srgbClr>
                  </a:outerShdw>
                </a:effectLst>
                <a:latin typeface="Open Sans"/>
              </a:rPr>
              <a:t>l</a:t>
            </a:r>
            <a:r>
              <a:rPr sz="2000" b="0" i="0" u="none" dirty="0">
                <a:solidFill>
                  <a:srgbClr val="2C3E50"/>
                </a:solidFill>
                <a:effectLst>
                  <a:outerShdw blurRad="38100" dist="38100" dir="2700000" algn="tl">
                    <a:srgbClr val="000000">
                      <a:alpha val="43137"/>
                    </a:srgbClr>
                  </a:outerShdw>
                </a:effectLst>
                <a:latin typeface="Open Sans"/>
              </a:rPr>
              <a:t>ocalhost:8000), </a:t>
            </a:r>
            <a:r>
              <a:rPr sz="2000" b="0" i="0" u="none" dirty="0" err="1">
                <a:solidFill>
                  <a:srgbClr val="2C3E50"/>
                </a:solidFill>
                <a:effectLst>
                  <a:outerShdw blurRad="38100" dist="38100" dir="2700000" algn="tl">
                    <a:srgbClr val="000000">
                      <a:alpha val="43137"/>
                    </a:srgbClr>
                  </a:outerShdw>
                </a:effectLst>
                <a:latin typeface="Open Sans"/>
              </a:rPr>
              <a:t>không</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thể</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truy</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cập</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từ</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máy</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tính</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cá</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nhân</a:t>
            </a:r>
            <a:endParaRPr sz="2000" b="0" i="0" u="none" dirty="0">
              <a:solidFill>
                <a:srgbClr val="2C3E50"/>
              </a:solidFill>
              <a:effectLst>
                <a:outerShdw blurRad="38100" dist="38100" dir="2700000" algn="tl">
                  <a:srgbClr val="000000">
                    <a:alpha val="43137"/>
                  </a:srgbClr>
                </a:outerShdw>
              </a:effectLst>
              <a:latin typeface="Open Sans"/>
            </a:endParaRPr>
          </a:p>
        </p:txBody>
      </p:sp>
      <p:sp>
        <p:nvSpPr>
          <p:cNvPr id="11" name="TextBox 10"/>
          <p:cNvSpPr txBox="1"/>
          <p:nvPr/>
        </p:nvSpPr>
        <p:spPr>
          <a:xfrm>
            <a:off x="6334125" y="3738562"/>
            <a:ext cx="5550693" cy="323850"/>
          </a:xfrm>
          <a:prstGeom prst="rect">
            <a:avLst/>
          </a:prstGeom>
          <a:noFill/>
        </p:spPr>
        <p:txBody>
          <a:bodyPr wrap="square" lIns="0" tIns="0" rIns="0" bIns="0" anchor="t">
            <a:spAutoFit/>
          </a:bodyPr>
          <a:lstStyle/>
          <a:p>
            <a:pPr algn="l"/>
            <a:r>
              <a:rPr sz="2100" b="1" i="0" u="none">
                <a:solidFill>
                  <a:srgbClr val="004494"/>
                </a:solidFill>
                <a:effectLst>
                  <a:outerShdw blurRad="38100" dist="38100" dir="2700000" algn="tl">
                    <a:srgbClr val="000000">
                      <a:alpha val="43137"/>
                    </a:srgbClr>
                  </a:outerShdw>
                </a:effectLst>
                <a:latin typeface="Montserrat"/>
              </a:rPr>
              <a:t>Giải pháp: Ngrok Tunnel</a:t>
            </a:r>
          </a:p>
        </p:txBody>
      </p:sp>
      <p:sp>
        <p:nvSpPr>
          <p:cNvPr id="12" name="TextBox 11"/>
          <p:cNvSpPr txBox="1"/>
          <p:nvPr/>
        </p:nvSpPr>
        <p:spPr>
          <a:xfrm>
            <a:off x="6334125" y="4205287"/>
            <a:ext cx="5286375" cy="1231106"/>
          </a:xfrm>
          <a:prstGeom prst="rect">
            <a:avLst/>
          </a:prstGeom>
          <a:noFill/>
        </p:spPr>
        <p:txBody>
          <a:bodyPr wrap="square" lIns="0" tIns="0" rIns="0" bIns="0" anchor="t">
            <a:spAutoFit/>
          </a:bodyPr>
          <a:lstStyle/>
          <a:p>
            <a:pPr algn="l">
              <a:lnSpc>
                <a:spcPts val="2400"/>
              </a:lnSpc>
            </a:pPr>
            <a:r>
              <a:rPr sz="2000" b="1" i="0" u="none" dirty="0" err="1">
                <a:solidFill>
                  <a:srgbClr val="2C3E50"/>
                </a:solidFill>
                <a:effectLst>
                  <a:outerShdw blurRad="38100" dist="38100" dir="2700000" algn="tl">
                    <a:srgbClr val="000000">
                      <a:alpha val="43137"/>
                    </a:srgbClr>
                  </a:outerShdw>
                </a:effectLst>
                <a:latin typeface="Open Sans"/>
              </a:rPr>
              <a:t>Ngrok</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tạo</a:t>
            </a:r>
            <a:r>
              <a:rPr sz="2000" b="0" i="0" u="none" dirty="0">
                <a:solidFill>
                  <a:srgbClr val="2C3E50"/>
                </a:solidFill>
                <a:effectLst>
                  <a:outerShdw blurRad="38100" dist="38100" dir="2700000" algn="tl">
                    <a:srgbClr val="000000">
                      <a:alpha val="43137"/>
                    </a:srgbClr>
                  </a:outerShdw>
                </a:effectLst>
                <a:latin typeface="Open Sans"/>
              </a:rPr>
              <a:t> </a:t>
            </a:r>
            <a:r>
              <a:rPr lang="en-US" sz="2000" dirty="0">
                <a:solidFill>
                  <a:srgbClr val="2C3E50"/>
                </a:solidFill>
                <a:effectLst>
                  <a:outerShdw blurRad="38100" dist="38100" dir="2700000" algn="tl">
                    <a:srgbClr val="000000">
                      <a:alpha val="43137"/>
                    </a:srgbClr>
                  </a:outerShdw>
                </a:effectLst>
                <a:latin typeface="Open Sans"/>
              </a:rPr>
              <a:t>1</a:t>
            </a:r>
            <a:r>
              <a:rPr lang="en-US" sz="2000" b="0" i="0" u="none" dirty="0">
                <a:solidFill>
                  <a:srgbClr val="2C3E50"/>
                </a:solidFill>
                <a:effectLst>
                  <a:outerShdw blurRad="38100" dist="38100" dir="2700000" algn="tl">
                    <a:srgbClr val="000000">
                      <a:alpha val="43137"/>
                    </a:srgbClr>
                  </a:outerShdw>
                </a:effectLst>
                <a:latin typeface="Open Sans"/>
              </a:rPr>
              <a:t> </a:t>
            </a:r>
            <a:r>
              <a:rPr sz="2000" b="0" i="0" u="none" dirty="0">
                <a:solidFill>
                  <a:srgbClr val="2C3E50"/>
                </a:solidFill>
                <a:effectLst>
                  <a:outerShdw blurRad="38100" dist="38100" dir="2700000" algn="tl">
                    <a:srgbClr val="000000">
                      <a:alpha val="43137"/>
                    </a:srgbClr>
                  </a:outerShdw>
                </a:effectLst>
                <a:latin typeface="Open Sans"/>
              </a:rPr>
              <a:t>tunnel </a:t>
            </a:r>
            <a:r>
              <a:rPr sz="2000" b="0" i="0" u="none" dirty="0" err="1">
                <a:solidFill>
                  <a:srgbClr val="2C3E50"/>
                </a:solidFill>
                <a:effectLst>
                  <a:outerShdw blurRad="38100" dist="38100" dir="2700000" algn="tl">
                    <a:srgbClr val="000000">
                      <a:alpha val="43137"/>
                    </a:srgbClr>
                  </a:outerShdw>
                </a:effectLst>
                <a:latin typeface="Open Sans"/>
              </a:rPr>
              <a:t>bảo</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mật</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cấp</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một</a:t>
            </a:r>
            <a:r>
              <a:rPr sz="2000" b="0" i="0" u="none" dirty="0">
                <a:solidFill>
                  <a:srgbClr val="2C3E50"/>
                </a:solidFill>
                <a:effectLst>
                  <a:outerShdw blurRad="38100" dist="38100" dir="2700000" algn="tl">
                    <a:srgbClr val="000000">
                      <a:alpha val="43137"/>
                    </a:srgbClr>
                  </a:outerShdw>
                </a:effectLst>
                <a:latin typeface="Open Sans"/>
              </a:rPr>
              <a:t> public URL </a:t>
            </a:r>
            <a:r>
              <a:rPr lang="en-US" sz="2000" b="0" i="0" u="none" dirty="0" err="1">
                <a:solidFill>
                  <a:srgbClr val="2C3E50"/>
                </a:solidFill>
                <a:effectLst>
                  <a:outerShdw blurRad="38100" dist="38100" dir="2700000" algn="tl">
                    <a:srgbClr val="000000">
                      <a:alpha val="43137"/>
                    </a:srgbClr>
                  </a:outerShdw>
                </a:effectLst>
                <a:latin typeface="Open Sans"/>
              </a:rPr>
              <a:t>chỉ</a:t>
            </a:r>
            <a:r>
              <a:rPr lang="en-US"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thẳng</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vào</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cổng</a:t>
            </a:r>
            <a:r>
              <a:rPr sz="2000" b="0" i="0" u="none" dirty="0">
                <a:solidFill>
                  <a:srgbClr val="2C3E50"/>
                </a:solidFill>
                <a:effectLst>
                  <a:outerShdw blurRad="38100" dist="38100" dir="2700000" algn="tl">
                    <a:srgbClr val="000000">
                      <a:alpha val="43137"/>
                    </a:srgbClr>
                  </a:outerShdw>
                </a:effectLst>
                <a:latin typeface="Open Sans"/>
              </a:rPr>
              <a:t> 8000 </a:t>
            </a:r>
            <a:r>
              <a:rPr sz="2000" b="0" i="0" u="none" dirty="0" err="1">
                <a:solidFill>
                  <a:srgbClr val="2C3E50"/>
                </a:solidFill>
                <a:effectLst>
                  <a:outerShdw blurRad="38100" dist="38100" dir="2700000" algn="tl">
                    <a:srgbClr val="000000">
                      <a:alpha val="43137"/>
                    </a:srgbClr>
                  </a:outerShdw>
                </a:effectLst>
                <a:latin typeface="Open Sans"/>
              </a:rPr>
              <a:t>của</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Colab</a:t>
            </a:r>
            <a:endParaRPr lang="en-US" sz="2000" dirty="0">
              <a:solidFill>
                <a:srgbClr val="2C3E50"/>
              </a:solidFill>
              <a:effectLst>
                <a:outerShdw blurRad="38100" dist="38100" dir="2700000" algn="tl">
                  <a:srgbClr val="000000">
                    <a:alpha val="43137"/>
                  </a:srgbClr>
                </a:outerShdw>
              </a:effectLst>
              <a:latin typeface="Open Sans"/>
            </a:endParaRPr>
          </a:p>
          <a:p>
            <a:pPr algn="l">
              <a:lnSpc>
                <a:spcPts val="2400"/>
              </a:lnSpc>
            </a:pPr>
            <a:r>
              <a:rPr lang="en-US" sz="2000" dirty="0">
                <a:solidFill>
                  <a:srgbClr val="2C3E50"/>
                </a:solidFill>
                <a:effectLst>
                  <a:outerShdw blurRad="38100" dist="38100" dir="2700000" algn="tl">
                    <a:srgbClr val="000000">
                      <a:alpha val="43137"/>
                    </a:srgbClr>
                  </a:outerShdw>
                </a:effectLst>
                <a:latin typeface="Open Sans"/>
                <a:sym typeface="Wingdings" panose="05000000000000000000" pitchFamily="2" charset="2"/>
              </a:rPr>
              <a:t></a:t>
            </a:r>
            <a:r>
              <a:rPr sz="2000" b="0" i="0" u="none" dirty="0">
                <a:solidFill>
                  <a:srgbClr val="2C3E50"/>
                </a:solidFill>
                <a:effectLst>
                  <a:outerShdw blurRad="38100" dist="38100" dir="2700000" algn="tl">
                    <a:srgbClr val="000000">
                      <a:alpha val="43137"/>
                    </a:srgbClr>
                  </a:outerShdw>
                </a:effectLst>
                <a:latin typeface="Open Sans"/>
              </a:rPr>
              <a:t> Frontend ở </a:t>
            </a:r>
            <a:r>
              <a:rPr sz="2000" b="0" i="0" u="none" dirty="0" err="1">
                <a:solidFill>
                  <a:srgbClr val="2C3E50"/>
                </a:solidFill>
                <a:effectLst>
                  <a:outerShdw blurRad="38100" dist="38100" dir="2700000" algn="tl">
                    <a:srgbClr val="000000">
                      <a:alpha val="43137"/>
                    </a:srgbClr>
                  </a:outerShdw>
                </a:effectLst>
                <a:latin typeface="Open Sans"/>
              </a:rPr>
              <a:t>bất</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cứ</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đâu</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đều</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có</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thể</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gọi</a:t>
            </a:r>
            <a:r>
              <a:rPr sz="2000" b="0" i="0" u="none" dirty="0">
                <a:solidFill>
                  <a:srgbClr val="2C3E50"/>
                </a:solidFill>
                <a:effectLst>
                  <a:outerShdw blurRad="38100" dist="38100" dir="2700000" algn="tl">
                    <a:srgbClr val="000000">
                      <a:alpha val="43137"/>
                    </a:srgbClr>
                  </a:outerShdw>
                </a:effectLst>
                <a:latin typeface="Open Sans"/>
              </a:rPr>
              <a:t> API </a:t>
            </a:r>
            <a:r>
              <a:rPr sz="2000" b="0" i="0" u="none" dirty="0" err="1">
                <a:solidFill>
                  <a:srgbClr val="2C3E50"/>
                </a:solidFill>
                <a:effectLst>
                  <a:outerShdw blurRad="38100" dist="38100" dir="2700000" algn="tl">
                    <a:srgbClr val="000000">
                      <a:alpha val="43137"/>
                    </a:srgbClr>
                  </a:outerShdw>
                </a:effectLst>
                <a:latin typeface="Open Sans"/>
              </a:rPr>
              <a:t>phát</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hiện</a:t>
            </a:r>
            <a:r>
              <a:rPr lang="en-US"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đối</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tượng</a:t>
            </a:r>
            <a:endParaRPr sz="2000" b="0" i="0" u="none" dirty="0">
              <a:solidFill>
                <a:srgbClr val="2C3E50"/>
              </a:solidFill>
              <a:effectLst>
                <a:outerShdw blurRad="38100" dist="38100" dir="2700000" algn="tl">
                  <a:srgbClr val="000000">
                    <a:alpha val="43137"/>
                  </a:srgbClr>
                </a:outerShdw>
              </a:effectLst>
              <a:latin typeface="Open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1619250"/>
            <a:ext cx="3492549" cy="4495800"/>
          </a:xfrm>
          <a:prstGeom prst="rect">
            <a:avLst/>
          </a:prstGeom>
        </p:spPr>
      </p:pic>
      <p:pic>
        <p:nvPicPr>
          <p:cNvPr id="3" name="Picture 2" descr="image.png"/>
          <p:cNvPicPr>
            <a:picLocks noChangeAspect="1"/>
          </p:cNvPicPr>
          <p:nvPr/>
        </p:nvPicPr>
        <p:blipFill>
          <a:blip r:embed="rId3"/>
          <a:stretch>
            <a:fillRect/>
          </a:stretch>
        </p:blipFill>
        <p:spPr>
          <a:xfrm>
            <a:off x="4349799" y="1619250"/>
            <a:ext cx="3492549" cy="4495800"/>
          </a:xfrm>
          <a:prstGeom prst="rect">
            <a:avLst/>
          </a:prstGeom>
        </p:spPr>
      </p:pic>
      <p:pic>
        <p:nvPicPr>
          <p:cNvPr id="4" name="Picture 3" descr="image.png"/>
          <p:cNvPicPr>
            <a:picLocks noChangeAspect="1"/>
          </p:cNvPicPr>
          <p:nvPr/>
        </p:nvPicPr>
        <p:blipFill>
          <a:blip r:embed="rId4"/>
          <a:stretch>
            <a:fillRect/>
          </a:stretch>
        </p:blipFill>
        <p:spPr>
          <a:xfrm>
            <a:off x="8128099" y="1619250"/>
            <a:ext cx="3492549" cy="4495800"/>
          </a:xfrm>
          <a:prstGeom prst="rect">
            <a:avLst/>
          </a:prstGeom>
        </p:spPr>
      </p:pic>
      <p:sp>
        <p:nvSpPr>
          <p:cNvPr id="5" name="Rectangle 4"/>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ffectLst>
                <a:outerShdw blurRad="38100" dist="38100" dir="2700000" algn="tl">
                  <a:srgbClr val="000000">
                    <a:alpha val="43137"/>
                  </a:srgbClr>
                </a:outerShdw>
              </a:effectLst>
            </a:endParaRPr>
          </a:p>
        </p:txBody>
      </p:sp>
      <p:sp>
        <p:nvSpPr>
          <p:cNvPr id="6" name="Rectangle 5"/>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ffectLst>
                <a:outerShdw blurRad="38100" dist="38100" dir="2700000" algn="tl">
                  <a:srgbClr val="000000">
                    <a:alpha val="43137"/>
                  </a:srgbClr>
                </a:outerShdw>
              </a:effectLst>
            </a:endParaRPr>
          </a:p>
        </p:txBody>
      </p:sp>
      <p:sp>
        <p:nvSpPr>
          <p:cNvPr id="7" name="TextBox 6"/>
          <p:cNvSpPr txBox="1"/>
          <p:nvPr/>
        </p:nvSpPr>
        <p:spPr>
          <a:xfrm>
            <a:off x="714375" y="647700"/>
            <a:ext cx="11451431" cy="495300"/>
          </a:xfrm>
          <a:prstGeom prst="rect">
            <a:avLst/>
          </a:prstGeom>
          <a:noFill/>
        </p:spPr>
        <p:txBody>
          <a:bodyPr wrap="square" lIns="0" tIns="0" rIns="0" bIns="0" anchor="t">
            <a:spAutoFit/>
          </a:bodyPr>
          <a:lstStyle/>
          <a:p>
            <a:pPr algn="l"/>
            <a:r>
              <a:rPr sz="3150" b="1" i="0" u="none" dirty="0" err="1">
                <a:solidFill>
                  <a:srgbClr val="0056B3"/>
                </a:solidFill>
                <a:effectLst>
                  <a:outerShdw blurRad="38100" dist="38100" dir="2700000" algn="tl">
                    <a:srgbClr val="000000">
                      <a:alpha val="43137"/>
                    </a:srgbClr>
                  </a:outerShdw>
                </a:effectLst>
                <a:latin typeface="Montserrat"/>
              </a:rPr>
              <a:t>Tích</a:t>
            </a:r>
            <a:r>
              <a:rPr sz="3150" b="1" i="0" u="none" dirty="0">
                <a:solidFill>
                  <a:srgbClr val="0056B3"/>
                </a:solidFill>
                <a:effectLst>
                  <a:outerShdw blurRad="38100" dist="38100" dir="2700000" algn="tl">
                    <a:srgbClr val="000000">
                      <a:alpha val="43137"/>
                    </a:srgbClr>
                  </a:outerShdw>
                </a:effectLst>
                <a:latin typeface="Montserrat"/>
              </a:rPr>
              <a:t> </a:t>
            </a:r>
            <a:r>
              <a:rPr sz="3150" b="1" i="0" u="none" dirty="0" err="1">
                <a:solidFill>
                  <a:srgbClr val="0056B3"/>
                </a:solidFill>
                <a:effectLst>
                  <a:outerShdw blurRad="38100" dist="38100" dir="2700000" algn="tl">
                    <a:srgbClr val="000000">
                      <a:alpha val="43137"/>
                    </a:srgbClr>
                  </a:outerShdw>
                </a:effectLst>
                <a:latin typeface="Montserrat"/>
              </a:rPr>
              <a:t>hợp</a:t>
            </a:r>
            <a:r>
              <a:rPr sz="3150" b="1" i="0" u="none" dirty="0">
                <a:solidFill>
                  <a:srgbClr val="0056B3"/>
                </a:solidFill>
                <a:effectLst>
                  <a:outerShdw blurRad="38100" dist="38100" dir="2700000" algn="tl">
                    <a:srgbClr val="000000">
                      <a:alpha val="43137"/>
                    </a:srgbClr>
                  </a:outerShdw>
                </a:effectLst>
                <a:latin typeface="Montserrat"/>
              </a:rPr>
              <a:t> Frontend - API - Backend</a:t>
            </a:r>
          </a:p>
        </p:txBody>
      </p:sp>
      <p:sp>
        <p:nvSpPr>
          <p:cNvPr id="8" name="Rectangle 7"/>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ffectLst>
                <a:outerShdw blurRad="38100" dist="38100" dir="2700000" algn="tl">
                  <a:srgbClr val="000000">
                    <a:alpha val="43137"/>
                  </a:srgbClr>
                </a:outerShdw>
              </a:effectLst>
            </a:endParaRPr>
          </a:p>
        </p:txBody>
      </p:sp>
      <p:sp>
        <p:nvSpPr>
          <p:cNvPr id="9" name="TextBox 8"/>
          <p:cNvSpPr txBox="1"/>
          <p:nvPr/>
        </p:nvSpPr>
        <p:spPr>
          <a:xfrm>
            <a:off x="804226" y="1924050"/>
            <a:ext cx="3027097" cy="738664"/>
          </a:xfrm>
          <a:prstGeom prst="rect">
            <a:avLst/>
          </a:prstGeom>
          <a:noFill/>
        </p:spPr>
        <p:txBody>
          <a:bodyPr wrap="square" lIns="0" tIns="0" rIns="0" bIns="0" anchor="t">
            <a:spAutoFit/>
          </a:bodyPr>
          <a:lstStyle/>
          <a:p>
            <a:pPr algn="ctr"/>
            <a:r>
              <a:rPr sz="2400" b="1" i="0" u="none" dirty="0">
                <a:solidFill>
                  <a:srgbClr val="004494"/>
                </a:solidFill>
                <a:effectLst>
                  <a:outerShdw blurRad="38100" dist="38100" dir="2700000" algn="tl">
                    <a:srgbClr val="000000">
                      <a:alpha val="43137"/>
                    </a:srgbClr>
                  </a:outerShdw>
                </a:effectLst>
                <a:latin typeface="Montserrat"/>
              </a:rPr>
              <a:t>1. Frontend (</a:t>
            </a:r>
            <a:r>
              <a:rPr sz="2400" b="1" i="0" u="none" dirty="0" err="1">
                <a:solidFill>
                  <a:srgbClr val="004494"/>
                </a:solidFill>
                <a:effectLst>
                  <a:outerShdw blurRad="38100" dist="38100" dir="2700000" algn="tl">
                    <a:srgbClr val="000000">
                      <a:alpha val="43137"/>
                    </a:srgbClr>
                  </a:outerShdw>
                </a:effectLst>
                <a:latin typeface="Montserrat"/>
              </a:rPr>
              <a:t>Streamlit</a:t>
            </a:r>
            <a:r>
              <a:rPr sz="2400" b="1" i="0" u="none" dirty="0">
                <a:solidFill>
                  <a:srgbClr val="004494"/>
                </a:solidFill>
                <a:effectLst>
                  <a:outerShdw blurRad="38100" dist="38100" dir="2700000" algn="tl">
                    <a:srgbClr val="000000">
                      <a:alpha val="43137"/>
                    </a:srgbClr>
                  </a:outerShdw>
                </a:effectLst>
                <a:latin typeface="Montserrat"/>
              </a:rPr>
              <a:t>)</a:t>
            </a:r>
          </a:p>
        </p:txBody>
      </p:sp>
      <p:pic>
        <p:nvPicPr>
          <p:cNvPr id="10" name="Picture 9" descr="image.png"/>
          <p:cNvPicPr>
            <a:picLocks noChangeAspect="1"/>
          </p:cNvPicPr>
          <p:nvPr/>
        </p:nvPicPr>
        <p:blipFill>
          <a:blip r:embed="rId5"/>
          <a:stretch>
            <a:fillRect/>
          </a:stretch>
        </p:blipFill>
        <p:spPr>
          <a:xfrm>
            <a:off x="1460450" y="2857500"/>
            <a:ext cx="1714500" cy="1143000"/>
          </a:xfrm>
          <a:prstGeom prst="rect">
            <a:avLst/>
          </a:prstGeom>
        </p:spPr>
      </p:pic>
      <p:sp>
        <p:nvSpPr>
          <p:cNvPr id="11" name="TextBox 10"/>
          <p:cNvSpPr txBox="1"/>
          <p:nvPr/>
        </p:nvSpPr>
        <p:spPr>
          <a:xfrm>
            <a:off x="876300" y="4143375"/>
            <a:ext cx="2882949" cy="1538883"/>
          </a:xfrm>
          <a:prstGeom prst="rect">
            <a:avLst/>
          </a:prstGeom>
          <a:noFill/>
        </p:spPr>
        <p:txBody>
          <a:bodyPr wrap="square" lIns="0" tIns="0" rIns="0" bIns="0" anchor="t">
            <a:spAutoFit/>
          </a:bodyPr>
          <a:lstStyle/>
          <a:p>
            <a:pPr algn="ctr">
              <a:lnSpc>
                <a:spcPts val="2400"/>
              </a:lnSpc>
            </a:pPr>
            <a:r>
              <a:rPr sz="2000" b="0" i="0" u="none" dirty="0">
                <a:solidFill>
                  <a:srgbClr val="2C3E50"/>
                </a:solidFill>
                <a:effectLst>
                  <a:outerShdw blurRad="38100" dist="38100" dir="2700000" algn="tl">
                    <a:srgbClr val="000000">
                      <a:alpha val="43137"/>
                    </a:srgbClr>
                  </a:outerShdw>
                </a:effectLst>
                <a:latin typeface="Open Sans"/>
              </a:rPr>
              <a:t>UI </a:t>
            </a:r>
            <a:r>
              <a:rPr sz="2000" b="0" i="0" u="none" dirty="0" err="1">
                <a:solidFill>
                  <a:srgbClr val="2C3E50"/>
                </a:solidFill>
                <a:effectLst>
                  <a:outerShdw blurRad="38100" dist="38100" dir="2700000" algn="tl">
                    <a:srgbClr val="000000">
                      <a:alpha val="43137"/>
                    </a:srgbClr>
                  </a:outerShdw>
                </a:effectLst>
                <a:latin typeface="Open Sans"/>
              </a:rPr>
              <a:t>thân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thiện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trên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máy</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cá</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nhân</a:t>
            </a:r>
            <a:r>
              <a:rPr lang="en-US" sz="2000" dirty="0">
                <a:solidFill>
                  <a:srgbClr val="2C3E50"/>
                </a:solidFill>
                <a:effectLst>
                  <a:outerShdw blurRad="38100" dist="38100" dir="2700000" algn="tl">
                    <a:srgbClr val="000000">
                      <a:alpha val="43137"/>
                    </a:srgbClr>
                  </a:outerShdw>
                </a:effectLst>
                <a:latin typeface="Open Sans"/>
              </a:rPr>
              <a:t>, </a:t>
            </a:r>
            <a:r>
              <a:rPr lang="en-US" sz="2000" b="0" i="0" u="none" dirty="0" err="1">
                <a:solidFill>
                  <a:srgbClr val="2C3E50"/>
                </a:solidFill>
                <a:effectLst>
                  <a:outerShdw blurRad="38100" dist="38100" dir="2700000" algn="tl">
                    <a:srgbClr val="000000">
                      <a:alpha val="43137"/>
                    </a:srgbClr>
                  </a:outerShdw>
                </a:effectLst>
                <a:latin typeface="Open Sans"/>
              </a:rPr>
              <a:t>c</a:t>
            </a:r>
            <a:r>
              <a:rPr sz="2000" b="0" i="0" u="none" dirty="0" err="1">
                <a:solidFill>
                  <a:srgbClr val="2C3E50"/>
                </a:solidFill>
                <a:effectLst>
                  <a:outerShdw blurRad="38100" dist="38100" dir="2700000" algn="tl">
                    <a:srgbClr val="000000">
                      <a:alpha val="43137"/>
                    </a:srgbClr>
                  </a:outerShdw>
                </a:effectLst>
                <a:latin typeface="Open Sans"/>
              </a:rPr>
              <a:t>ho</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phép</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người</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dùng</a:t>
            </a:r>
            <a:r>
              <a:rPr sz="2000" b="0" i="0" u="none" dirty="0">
                <a:solidFill>
                  <a:srgbClr val="2C3E50"/>
                </a:solidFill>
                <a:effectLst>
                  <a:outerShdw blurRad="38100" dist="38100" dir="2700000" algn="tl">
                    <a:srgbClr val="000000">
                      <a:alpha val="43137"/>
                    </a:srgbClr>
                  </a:outerShdw>
                </a:effectLst>
                <a:latin typeface="Open Sans"/>
              </a:rPr>
              <a:t> upload </a:t>
            </a:r>
            <a:r>
              <a:rPr sz="2000" b="0" i="0" u="none" dirty="0" err="1">
                <a:solidFill>
                  <a:srgbClr val="2C3E50"/>
                </a:solidFill>
                <a:effectLst>
                  <a:outerShdw blurRad="38100" dist="38100" dir="2700000" algn="tl">
                    <a:srgbClr val="000000">
                      <a:alpha val="43137"/>
                    </a:srgbClr>
                  </a:outerShdw>
                </a:effectLst>
                <a:latin typeface="Open Sans"/>
              </a:rPr>
              <a:t>ảnh</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chọn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mô</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hình</a:t>
            </a:r>
            <a:r>
              <a:rPr sz="2000" b="0" i="0" u="none" dirty="0">
                <a:solidFill>
                  <a:srgbClr val="2C3E50"/>
                </a:solidFill>
                <a:effectLst>
                  <a:outerShdw blurRad="38100" dist="38100" dir="2700000" algn="tl">
                    <a:srgbClr val="000000">
                      <a:alpha val="43137"/>
                    </a:srgbClr>
                  </a:outerShdw>
                </a:effectLst>
                <a:latin typeface="Open Sans"/>
              </a:rPr>
              <a:t> </a:t>
            </a:r>
            <a:r>
              <a:rPr lang="en-US" sz="2000" b="0" i="0" u="none" dirty="0">
                <a:solidFill>
                  <a:srgbClr val="2C3E50"/>
                </a:solidFill>
                <a:effectLst>
                  <a:outerShdw blurRad="38100" dist="38100" dir="2700000" algn="tl">
                    <a:srgbClr val="000000">
                      <a:alpha val="43137"/>
                    </a:srgbClr>
                  </a:outerShdw>
                </a:effectLst>
                <a:latin typeface="Open Sans"/>
              </a:rPr>
              <a:t>&amp; </a:t>
            </a:r>
            <a:r>
              <a:rPr sz="2000" b="0" i="0" u="none" dirty="0" err="1">
                <a:solidFill>
                  <a:srgbClr val="2C3E50"/>
                </a:solidFill>
                <a:effectLst>
                  <a:outerShdw blurRad="38100" dist="38100" dir="2700000" algn="tl">
                    <a:srgbClr val="000000">
                      <a:alpha val="43137"/>
                    </a:srgbClr>
                  </a:outerShdw>
                </a:effectLst>
                <a:latin typeface="Open Sans"/>
              </a:rPr>
              <a:t>gửi</a:t>
            </a:r>
            <a:r>
              <a:rPr sz="2000" b="0" i="0" u="none" dirty="0">
                <a:solidFill>
                  <a:srgbClr val="2C3E50"/>
                </a:solidFill>
                <a:effectLst>
                  <a:outerShdw blurRad="38100" dist="38100" dir="2700000" algn="tl">
                    <a:srgbClr val="000000">
                      <a:alpha val="43137"/>
                    </a:srgbClr>
                  </a:outerShdw>
                </a:effectLst>
                <a:latin typeface="Open Sans"/>
              </a:rPr>
              <a:t> API Request.</a:t>
            </a:r>
          </a:p>
        </p:txBody>
      </p:sp>
      <p:sp>
        <p:nvSpPr>
          <p:cNvPr id="12" name="TextBox 11"/>
          <p:cNvSpPr txBox="1"/>
          <p:nvPr/>
        </p:nvSpPr>
        <p:spPr>
          <a:xfrm>
            <a:off x="4582525" y="1924050"/>
            <a:ext cx="3027097" cy="738664"/>
          </a:xfrm>
          <a:prstGeom prst="rect">
            <a:avLst/>
          </a:prstGeom>
          <a:noFill/>
        </p:spPr>
        <p:txBody>
          <a:bodyPr wrap="square" lIns="0" tIns="0" rIns="0" bIns="0" anchor="t">
            <a:spAutoFit/>
          </a:bodyPr>
          <a:lstStyle/>
          <a:p>
            <a:pPr algn="ctr"/>
            <a:r>
              <a:rPr sz="2400" b="1" i="0" u="none" dirty="0">
                <a:solidFill>
                  <a:srgbClr val="004494"/>
                </a:solidFill>
                <a:effectLst>
                  <a:outerShdw blurRad="38100" dist="38100" dir="2700000" algn="tl">
                    <a:srgbClr val="000000">
                      <a:alpha val="43137"/>
                    </a:srgbClr>
                  </a:outerShdw>
                </a:effectLst>
                <a:latin typeface="Montserrat"/>
              </a:rPr>
              <a:t>2. </a:t>
            </a:r>
            <a:r>
              <a:rPr lang="en-US" sz="2400" b="1" i="0" u="none" dirty="0" err="1">
                <a:solidFill>
                  <a:srgbClr val="004494"/>
                </a:solidFill>
                <a:effectLst>
                  <a:outerShdw blurRad="38100" dist="38100" dir="2700000" algn="tl">
                    <a:srgbClr val="000000">
                      <a:alpha val="43137"/>
                    </a:srgbClr>
                  </a:outerShdw>
                </a:effectLst>
                <a:latin typeface="Montserrat"/>
              </a:rPr>
              <a:t>Nền</a:t>
            </a:r>
            <a:r>
              <a:rPr lang="en-US" sz="2400" b="1" i="0" u="none" dirty="0">
                <a:solidFill>
                  <a:srgbClr val="004494"/>
                </a:solidFill>
                <a:effectLst>
                  <a:outerShdw blurRad="38100" dist="38100" dir="2700000" algn="tl">
                    <a:srgbClr val="000000">
                      <a:alpha val="43137"/>
                    </a:srgbClr>
                  </a:outerShdw>
                </a:effectLst>
                <a:latin typeface="Montserrat"/>
              </a:rPr>
              <a:t> </a:t>
            </a:r>
            <a:r>
              <a:rPr lang="en-US" sz="2400" b="1" i="0" u="none" dirty="0" err="1">
                <a:solidFill>
                  <a:srgbClr val="004494"/>
                </a:solidFill>
                <a:effectLst>
                  <a:outerShdw blurRad="38100" dist="38100" dir="2700000" algn="tl">
                    <a:srgbClr val="000000">
                      <a:alpha val="43137"/>
                    </a:srgbClr>
                  </a:outerShdw>
                </a:effectLst>
                <a:latin typeface="Montserrat"/>
              </a:rPr>
              <a:t>tảng</a:t>
            </a:r>
            <a:r>
              <a:rPr lang="en-US" sz="2400" b="1" i="0" u="none" dirty="0">
                <a:solidFill>
                  <a:srgbClr val="004494"/>
                </a:solidFill>
                <a:effectLst>
                  <a:outerShdw blurRad="38100" dist="38100" dir="2700000" algn="tl">
                    <a:srgbClr val="000000">
                      <a:alpha val="43137"/>
                    </a:srgbClr>
                  </a:outerShdw>
                </a:effectLst>
                <a:latin typeface="Montserrat"/>
              </a:rPr>
              <a:t> cloud </a:t>
            </a:r>
            <a:r>
              <a:rPr sz="2400" b="1" i="0" u="none" dirty="0">
                <a:solidFill>
                  <a:srgbClr val="004494"/>
                </a:solidFill>
                <a:effectLst>
                  <a:outerShdw blurRad="38100" dist="38100" dir="2700000" algn="tl">
                    <a:srgbClr val="000000">
                      <a:alpha val="43137"/>
                    </a:srgbClr>
                  </a:outerShdw>
                </a:effectLst>
                <a:latin typeface="Montserrat"/>
              </a:rPr>
              <a:t>(</a:t>
            </a:r>
            <a:r>
              <a:rPr sz="2400" b="1" i="0" u="none" dirty="0" err="1">
                <a:solidFill>
                  <a:srgbClr val="004494"/>
                </a:solidFill>
                <a:effectLst>
                  <a:outerShdw blurRad="38100" dist="38100" dir="2700000" algn="tl">
                    <a:srgbClr val="000000">
                      <a:alpha val="43137"/>
                    </a:srgbClr>
                  </a:outerShdw>
                </a:effectLst>
                <a:latin typeface="Montserrat"/>
              </a:rPr>
              <a:t>Ngrok</a:t>
            </a:r>
            <a:r>
              <a:rPr sz="2400" b="1" i="0" u="none" dirty="0">
                <a:solidFill>
                  <a:srgbClr val="004494"/>
                </a:solidFill>
                <a:effectLst>
                  <a:outerShdw blurRad="38100" dist="38100" dir="2700000" algn="tl">
                    <a:srgbClr val="000000">
                      <a:alpha val="43137"/>
                    </a:srgbClr>
                  </a:outerShdw>
                </a:effectLst>
                <a:latin typeface="Montserrat"/>
              </a:rPr>
              <a:t>)</a:t>
            </a:r>
          </a:p>
        </p:txBody>
      </p:sp>
      <p:pic>
        <p:nvPicPr>
          <p:cNvPr id="13" name="Picture 12" descr="image.png"/>
          <p:cNvPicPr>
            <a:picLocks noChangeAspect="1"/>
          </p:cNvPicPr>
          <p:nvPr/>
        </p:nvPicPr>
        <p:blipFill>
          <a:blip r:embed="rId6"/>
          <a:stretch>
            <a:fillRect/>
          </a:stretch>
        </p:blipFill>
        <p:spPr>
          <a:xfrm>
            <a:off x="5619750" y="3000375"/>
            <a:ext cx="952500" cy="762000"/>
          </a:xfrm>
          <a:prstGeom prst="rect">
            <a:avLst/>
          </a:prstGeom>
        </p:spPr>
      </p:pic>
      <p:sp>
        <p:nvSpPr>
          <p:cNvPr id="14" name="TextBox 13"/>
          <p:cNvSpPr txBox="1"/>
          <p:nvPr/>
        </p:nvSpPr>
        <p:spPr>
          <a:xfrm>
            <a:off x="4654599" y="4048125"/>
            <a:ext cx="2882949" cy="1231106"/>
          </a:xfrm>
          <a:prstGeom prst="rect">
            <a:avLst/>
          </a:prstGeom>
          <a:noFill/>
        </p:spPr>
        <p:txBody>
          <a:bodyPr wrap="square" lIns="0" tIns="0" rIns="0" bIns="0" anchor="t">
            <a:spAutoFit/>
          </a:bodyPr>
          <a:lstStyle/>
          <a:p>
            <a:pPr algn="ctr">
              <a:lnSpc>
                <a:spcPts val="2400"/>
              </a:lnSpc>
            </a:pPr>
            <a:r>
              <a:rPr sz="2000" b="0" i="0" u="none" dirty="0" err="1">
                <a:solidFill>
                  <a:srgbClr val="2C3E50"/>
                </a:solidFill>
                <a:effectLst>
                  <a:outerShdw blurRad="38100" dist="38100" dir="2700000" algn="tl">
                    <a:srgbClr val="000000">
                      <a:alpha val="43137"/>
                    </a:srgbClr>
                  </a:outerShdw>
                </a:effectLst>
                <a:latin typeface="Open Sans"/>
              </a:rPr>
              <a:t>Nhận</a:t>
            </a:r>
            <a:r>
              <a:rPr sz="2000" b="0" i="0" u="none" dirty="0">
                <a:solidFill>
                  <a:srgbClr val="2C3E50"/>
                </a:solidFill>
                <a:effectLst>
                  <a:outerShdw blurRad="38100" dist="38100" dir="2700000" algn="tl">
                    <a:srgbClr val="000000">
                      <a:alpha val="43137"/>
                    </a:srgbClr>
                  </a:outerShdw>
                </a:effectLst>
                <a:latin typeface="Open Sans"/>
              </a:rPr>
              <a:t> HTTPS request </a:t>
            </a:r>
            <a:r>
              <a:rPr sz="2000" b="0" i="0" u="none" dirty="0" err="1">
                <a:solidFill>
                  <a:srgbClr val="2C3E50"/>
                </a:solidFill>
                <a:effectLst>
                  <a:outerShdw blurRad="38100" dist="38100" dir="2700000" algn="tl">
                    <a:srgbClr val="000000">
                      <a:alpha val="43137"/>
                    </a:srgbClr>
                  </a:outerShdw>
                </a:effectLst>
                <a:latin typeface="Open Sans"/>
              </a:rPr>
              <a:t>từ</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Streamlit</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và</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định</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tuyến</a:t>
            </a:r>
            <a:r>
              <a:rPr sz="2000" b="0" i="0" u="none" dirty="0">
                <a:solidFill>
                  <a:srgbClr val="2C3E50"/>
                </a:solidFill>
                <a:effectLst>
                  <a:outerShdw blurRad="38100" dist="38100" dir="2700000" algn="tl">
                    <a:srgbClr val="000000">
                      <a:alpha val="43137"/>
                    </a:srgbClr>
                  </a:outerShdw>
                </a:effectLst>
                <a:latin typeface="Open Sans"/>
              </a:rPr>
              <a:t> an </a:t>
            </a:r>
            <a:r>
              <a:rPr sz="2000" b="0" i="0" u="none" dirty="0" err="1">
                <a:solidFill>
                  <a:srgbClr val="2C3E50"/>
                </a:solidFill>
                <a:effectLst>
                  <a:outerShdw blurRad="38100" dist="38100" dir="2700000" algn="tl">
                    <a:srgbClr val="000000">
                      <a:alpha val="43137"/>
                    </a:srgbClr>
                  </a:outerShdw>
                </a:effectLst>
                <a:latin typeface="Open Sans"/>
              </a:rPr>
              <a:t>toàn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vào</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máy</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ảo</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Colab</a:t>
            </a:r>
            <a:r>
              <a:rPr sz="2000" b="0" i="0" u="none" dirty="0">
                <a:solidFill>
                  <a:srgbClr val="2C3E50"/>
                </a:solidFill>
                <a:effectLst>
                  <a:outerShdw blurRad="38100" dist="38100" dir="2700000" algn="tl">
                    <a:srgbClr val="000000">
                      <a:alpha val="43137"/>
                    </a:srgbClr>
                  </a:outerShdw>
                </a:effectLst>
                <a:latin typeface="Open Sans"/>
              </a:rPr>
              <a:t>.</a:t>
            </a:r>
          </a:p>
        </p:txBody>
      </p:sp>
      <p:sp>
        <p:nvSpPr>
          <p:cNvPr id="15" name="TextBox 14"/>
          <p:cNvSpPr txBox="1"/>
          <p:nvPr/>
        </p:nvSpPr>
        <p:spPr>
          <a:xfrm>
            <a:off x="8360825" y="1924050"/>
            <a:ext cx="3027097" cy="738664"/>
          </a:xfrm>
          <a:prstGeom prst="rect">
            <a:avLst/>
          </a:prstGeom>
          <a:noFill/>
        </p:spPr>
        <p:txBody>
          <a:bodyPr wrap="square" lIns="0" tIns="0" rIns="0" bIns="0" anchor="t">
            <a:spAutoFit/>
          </a:bodyPr>
          <a:lstStyle/>
          <a:p>
            <a:pPr algn="ctr"/>
            <a:r>
              <a:rPr sz="2400" b="1" i="0" u="none" dirty="0">
                <a:solidFill>
                  <a:srgbClr val="004494"/>
                </a:solidFill>
                <a:effectLst>
                  <a:outerShdw blurRad="38100" dist="38100" dir="2700000" algn="tl">
                    <a:srgbClr val="000000">
                      <a:alpha val="43137"/>
                    </a:srgbClr>
                  </a:outerShdw>
                </a:effectLst>
                <a:latin typeface="Montserrat"/>
              </a:rPr>
              <a:t>3. Backend AI (</a:t>
            </a:r>
            <a:r>
              <a:rPr sz="2400" b="1" i="0" u="none" dirty="0" err="1">
                <a:solidFill>
                  <a:srgbClr val="004494"/>
                </a:solidFill>
                <a:effectLst>
                  <a:outerShdw blurRad="38100" dist="38100" dir="2700000" algn="tl">
                    <a:srgbClr val="000000">
                      <a:alpha val="43137"/>
                    </a:srgbClr>
                  </a:outerShdw>
                </a:effectLst>
                <a:latin typeface="Montserrat"/>
              </a:rPr>
              <a:t>Colab</a:t>
            </a:r>
            <a:r>
              <a:rPr sz="2400" b="1" i="0" u="none" dirty="0">
                <a:solidFill>
                  <a:srgbClr val="004494"/>
                </a:solidFill>
                <a:effectLst>
                  <a:outerShdw blurRad="38100" dist="38100" dir="2700000" algn="tl">
                    <a:srgbClr val="000000">
                      <a:alpha val="43137"/>
                    </a:srgbClr>
                  </a:outerShdw>
                </a:effectLst>
                <a:latin typeface="Montserrat"/>
              </a:rPr>
              <a:t>/</a:t>
            </a:r>
            <a:r>
              <a:rPr sz="2400" b="1" i="0" u="none" dirty="0" err="1">
                <a:solidFill>
                  <a:srgbClr val="004494"/>
                </a:solidFill>
                <a:effectLst>
                  <a:outerShdw blurRad="38100" dist="38100" dir="2700000" algn="tl">
                    <a:srgbClr val="000000">
                      <a:alpha val="43137"/>
                    </a:srgbClr>
                  </a:outerShdw>
                </a:effectLst>
                <a:latin typeface="Montserrat"/>
              </a:rPr>
              <a:t>FastAPI</a:t>
            </a:r>
            <a:r>
              <a:rPr sz="2400" b="1" i="0" u="none" dirty="0">
                <a:solidFill>
                  <a:srgbClr val="004494"/>
                </a:solidFill>
                <a:effectLst>
                  <a:outerShdw blurRad="38100" dist="38100" dir="2700000" algn="tl">
                    <a:srgbClr val="000000">
                      <a:alpha val="43137"/>
                    </a:srgbClr>
                  </a:outerShdw>
                </a:effectLst>
                <a:latin typeface="Montserrat"/>
              </a:rPr>
              <a:t>)</a:t>
            </a:r>
          </a:p>
        </p:txBody>
      </p:sp>
      <p:pic>
        <p:nvPicPr>
          <p:cNvPr id="16" name="Picture 15" descr="image.png"/>
          <p:cNvPicPr>
            <a:picLocks noChangeAspect="1"/>
          </p:cNvPicPr>
          <p:nvPr/>
        </p:nvPicPr>
        <p:blipFill>
          <a:blip r:embed="rId7"/>
          <a:stretch>
            <a:fillRect/>
          </a:stretch>
        </p:blipFill>
        <p:spPr>
          <a:xfrm>
            <a:off x="8798569" y="2857500"/>
            <a:ext cx="2151459" cy="1143000"/>
          </a:xfrm>
          <a:prstGeom prst="rect">
            <a:avLst/>
          </a:prstGeom>
        </p:spPr>
      </p:pic>
      <p:sp>
        <p:nvSpPr>
          <p:cNvPr id="17" name="TextBox 16"/>
          <p:cNvSpPr txBox="1"/>
          <p:nvPr/>
        </p:nvSpPr>
        <p:spPr>
          <a:xfrm>
            <a:off x="8432899" y="4143375"/>
            <a:ext cx="2882949" cy="1231106"/>
          </a:xfrm>
          <a:prstGeom prst="rect">
            <a:avLst/>
          </a:prstGeom>
          <a:noFill/>
        </p:spPr>
        <p:txBody>
          <a:bodyPr wrap="square" lIns="0" tIns="0" rIns="0" bIns="0" anchor="t">
            <a:spAutoFit/>
          </a:bodyPr>
          <a:lstStyle/>
          <a:p>
            <a:pPr algn="ctr">
              <a:lnSpc>
                <a:spcPts val="2400"/>
              </a:lnSpc>
            </a:pPr>
            <a:r>
              <a:rPr sz="2000" b="0" i="0" u="none" dirty="0" err="1">
                <a:solidFill>
                  <a:srgbClr val="2C3E50"/>
                </a:solidFill>
                <a:effectLst>
                  <a:outerShdw blurRad="38100" dist="38100" dir="2700000" algn="tl">
                    <a:srgbClr val="000000">
                      <a:alpha val="43137"/>
                    </a:srgbClr>
                  </a:outerShdw>
                </a:effectLst>
                <a:latin typeface="Open Sans"/>
              </a:rPr>
              <a:t>Dùng</a:t>
            </a:r>
            <a:r>
              <a:rPr sz="2000" b="0" i="0" u="none" dirty="0">
                <a:solidFill>
                  <a:srgbClr val="2C3E50"/>
                </a:solidFill>
                <a:effectLst>
                  <a:outerShdw blurRad="38100" dist="38100" dir="2700000" algn="tl">
                    <a:srgbClr val="000000">
                      <a:alpha val="43137"/>
                    </a:srgbClr>
                  </a:outerShdw>
                </a:effectLst>
                <a:latin typeface="Open Sans"/>
              </a:rPr>
              <a:t> GPU </a:t>
            </a:r>
            <a:r>
              <a:rPr sz="2000" b="0" i="0" u="none" dirty="0" err="1">
                <a:solidFill>
                  <a:srgbClr val="2C3E50"/>
                </a:solidFill>
                <a:effectLst>
                  <a:outerShdw blurRad="38100" dist="38100" dir="2700000" algn="tl">
                    <a:srgbClr val="000000">
                      <a:alpha val="43137"/>
                    </a:srgbClr>
                  </a:outerShdw>
                </a:effectLst>
                <a:latin typeface="Open Sans"/>
              </a:rPr>
              <a:t>suy</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luận</a:t>
            </a:r>
            <a:r>
              <a:rPr sz="2000" b="0" i="0" u="none" dirty="0">
                <a:solidFill>
                  <a:srgbClr val="2C3E50"/>
                </a:solidFill>
                <a:effectLst>
                  <a:outerShdw blurRad="38100" dist="38100" dir="2700000" algn="tl">
                    <a:srgbClr val="000000">
                      <a:alpha val="43137"/>
                    </a:srgbClr>
                  </a:outerShdw>
                </a:effectLst>
                <a:latin typeface="Open Sans"/>
              </a:rPr>
              <a:t> YOLOv5, </a:t>
            </a:r>
            <a:r>
              <a:rPr sz="2000" b="0" i="0" u="none" dirty="0" err="1">
                <a:solidFill>
                  <a:srgbClr val="2C3E50"/>
                </a:solidFill>
                <a:effectLst>
                  <a:outerShdw blurRad="38100" dist="38100" dir="2700000" algn="tl">
                    <a:srgbClr val="000000">
                      <a:alpha val="43137"/>
                    </a:srgbClr>
                  </a:outerShdw>
                </a:effectLst>
                <a:latin typeface="Open Sans"/>
              </a:rPr>
              <a:t>nén</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ảnh</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kết</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quả</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trả</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về</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lại</a:t>
            </a:r>
            <a:r>
              <a:rPr sz="2000" b="0" i="0" u="none" dirty="0">
                <a:solidFill>
                  <a:srgbClr val="2C3E50"/>
                </a:solidFill>
                <a:effectLst>
                  <a:outerShdw blurRad="38100" dist="38100" dir="2700000" algn="tl">
                    <a:srgbClr val="000000">
                      <a:alpha val="43137"/>
                    </a:srgbClr>
                  </a:outerShdw>
                </a:effectLst>
                <a:latin typeface="Open Sans"/>
              </a:rPr>
              <a:t> qua </a:t>
            </a:r>
            <a:r>
              <a:rPr sz="2000" b="0" i="0" u="none" dirty="0" err="1">
                <a:solidFill>
                  <a:srgbClr val="2C3E50"/>
                </a:solidFill>
                <a:effectLst>
                  <a:outerShdw blurRad="38100" dist="38100" dir="2700000" algn="tl">
                    <a:srgbClr val="000000">
                      <a:alpha val="43137"/>
                    </a:srgbClr>
                  </a:outerShdw>
                </a:effectLst>
                <a:latin typeface="Open Sans"/>
              </a:rPr>
              <a:t>Ngrok</a:t>
            </a:r>
            <a:r>
              <a:rPr sz="2000" b="0" i="0" u="none" dirty="0">
                <a:solidFill>
                  <a:srgbClr val="2C3E50"/>
                </a:solidFill>
                <a:effectLst>
                  <a:outerShdw blurRad="38100" dist="38100" dir="2700000" algn="tl">
                    <a:srgbClr val="000000">
                      <a:alpha val="43137"/>
                    </a:srgbClr>
                  </a:outerShdw>
                </a:effectLst>
                <a:latin typeface="Open Sans"/>
              </a:rPr>
              <a:t> </a:t>
            </a:r>
            <a:r>
              <a:rPr sz="2000" b="0" i="0" u="none" dirty="0" err="1">
                <a:solidFill>
                  <a:srgbClr val="2C3E50"/>
                </a:solidFill>
                <a:effectLst>
                  <a:outerShdw blurRad="38100" dist="38100" dir="2700000" algn="tl">
                    <a:srgbClr val="000000">
                      <a:alpha val="43137"/>
                    </a:srgbClr>
                  </a:outerShdw>
                </a:effectLst>
                <a:latin typeface="Open Sans"/>
              </a:rPr>
              <a:t>cho</a:t>
            </a:r>
            <a:r>
              <a:rPr sz="2000" b="0" i="0" u="none" dirty="0">
                <a:solidFill>
                  <a:srgbClr val="2C3E50"/>
                </a:solidFill>
                <a:effectLst>
                  <a:outerShdw blurRad="38100" dist="38100" dir="2700000" algn="tl">
                    <a:srgbClr val="000000">
                      <a:alpha val="43137"/>
                    </a:srgbClr>
                  </a:outerShdw>
                </a:effectLst>
                <a:latin typeface="Open Sans"/>
              </a:rPr>
              <a:t> Frontend.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DB28A-7036-7FB3-9A88-16B59702010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9CFC562-735A-2753-ACE1-4B15C3EDD99C}"/>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30B2128-0A62-E2AD-C7E9-E36FFCAD75F1}"/>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3A01C17-63F9-0D73-C502-B7A54B1826B2}"/>
              </a:ext>
            </a:extLst>
          </p:cNvPr>
          <p:cNvSpPr txBox="1"/>
          <p:nvPr/>
        </p:nvSpPr>
        <p:spPr>
          <a:xfrm>
            <a:off x="2357373" y="2646016"/>
            <a:ext cx="7170896" cy="738664"/>
          </a:xfrm>
          <a:prstGeom prst="rect">
            <a:avLst/>
          </a:prstGeom>
          <a:noFill/>
        </p:spPr>
        <p:txBody>
          <a:bodyPr wrap="square" lIns="0" tIns="0" rIns="0" bIns="0" anchor="t">
            <a:spAutoFit/>
          </a:bodyPr>
          <a:lstStyle/>
          <a:p>
            <a:pPr algn="ctr"/>
            <a:r>
              <a:rPr lang="en-US" sz="4800" b="1" dirty="0" err="1">
                <a:solidFill>
                  <a:srgbClr val="0056B3"/>
                </a:solidFill>
                <a:effectLst>
                  <a:outerShdw blurRad="38100" dist="38100" dir="2700000" algn="tl">
                    <a:srgbClr val="000000">
                      <a:alpha val="43137"/>
                    </a:srgbClr>
                  </a:outerShdw>
                </a:effectLst>
                <a:latin typeface="Montserrat"/>
              </a:rPr>
              <a:t>Chạy</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thử</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sản</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phấm</a:t>
            </a:r>
            <a:endParaRPr lang="en-US" sz="4800" b="1" dirty="0">
              <a:solidFill>
                <a:srgbClr val="0056B3"/>
              </a:solidFill>
              <a:effectLst>
                <a:outerShdw blurRad="38100" dist="38100" dir="2700000" algn="tl">
                  <a:srgbClr val="000000">
                    <a:alpha val="43137"/>
                  </a:srgbClr>
                </a:outerShdw>
              </a:effectLst>
              <a:latin typeface="Montserrat"/>
            </a:endParaRPr>
          </a:p>
        </p:txBody>
      </p:sp>
      <p:sp>
        <p:nvSpPr>
          <p:cNvPr id="5" name="Rectangle 4">
            <a:extLst>
              <a:ext uri="{FF2B5EF4-FFF2-40B4-BE49-F238E27FC236}">
                <a16:creationId xmlns:a16="http://schemas.microsoft.com/office/drawing/2014/main" id="{EFAF729D-643F-7FDD-92C0-C1A9BDDD8D86}"/>
              </a:ext>
            </a:extLst>
          </p:cNvPr>
          <p:cNvSpPr/>
          <p:nvPr/>
        </p:nvSpPr>
        <p:spPr>
          <a:xfrm>
            <a:off x="5524500" y="3517552"/>
            <a:ext cx="1143000" cy="5715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9549258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4375" y="647700"/>
            <a:ext cx="11451431" cy="495300"/>
          </a:xfrm>
          <a:prstGeom prst="rect">
            <a:avLst/>
          </a:prstGeom>
          <a:noFill/>
        </p:spPr>
        <p:txBody>
          <a:bodyPr wrap="square" lIns="0" tIns="0" rIns="0" bIns="0" anchor="t">
            <a:spAutoFit/>
          </a:bodyPr>
          <a:lstStyle/>
          <a:p>
            <a:pPr algn="l"/>
            <a:r>
              <a:rPr sz="3150" b="1" i="0" u="none">
                <a:solidFill>
                  <a:srgbClr val="0056B3"/>
                </a:solidFill>
                <a:latin typeface="Montserrat"/>
              </a:rPr>
              <a:t>Thiết lập Model &amp; Trình bày Thông số</a:t>
            </a:r>
          </a:p>
        </p:txBody>
      </p:sp>
      <p:sp>
        <p:nvSpPr>
          <p:cNvPr id="5" name="Rectangle 4"/>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4724" y="3022729"/>
            <a:ext cx="3335695" cy="646331"/>
          </a:xfrm>
          <a:prstGeom prst="rect">
            <a:avLst/>
          </a:prstGeom>
          <a:noFill/>
        </p:spPr>
        <p:txBody>
          <a:bodyPr wrap="square" lIns="0" tIns="0" rIns="0" bIns="0" anchor="t">
            <a:spAutoFit/>
          </a:bodyPr>
          <a:lstStyle/>
          <a:p>
            <a:pPr algn="l"/>
            <a:r>
              <a:rPr lang="vi-VN" sz="2100" b="1" i="0" u="none" dirty="0">
                <a:solidFill>
                  <a:srgbClr val="004494"/>
                </a:solidFill>
                <a:latin typeface="Montserrat"/>
              </a:rPr>
              <a:t>Dự án</a:t>
            </a:r>
            <a:r>
              <a:rPr sz="2100" b="1" i="0" u="none" dirty="0">
                <a:solidFill>
                  <a:srgbClr val="004494"/>
                </a:solidFill>
                <a:latin typeface="Montserrat"/>
              </a:rPr>
              <a:t> </a:t>
            </a:r>
            <a:r>
              <a:rPr sz="2100" b="1" i="0" u="none" dirty="0" err="1">
                <a:solidFill>
                  <a:srgbClr val="004494"/>
                </a:solidFill>
                <a:latin typeface="Montserrat"/>
              </a:rPr>
              <a:t>hiện</a:t>
            </a:r>
            <a:r>
              <a:rPr sz="2100" b="1" i="0" u="none" dirty="0">
                <a:solidFill>
                  <a:srgbClr val="004494"/>
                </a:solidFill>
                <a:latin typeface="Montserrat"/>
              </a:rPr>
              <a:t> </a:t>
            </a:r>
            <a:r>
              <a:rPr sz="2100" b="1" i="0" u="none" dirty="0" err="1">
                <a:solidFill>
                  <a:srgbClr val="004494"/>
                </a:solidFill>
                <a:latin typeface="Montserrat"/>
              </a:rPr>
              <a:t>tại</a:t>
            </a:r>
            <a:r>
              <a:rPr sz="2100" b="1" i="0" u="none" dirty="0">
                <a:solidFill>
                  <a:srgbClr val="004494"/>
                </a:solidFill>
                <a:latin typeface="Montserrat"/>
              </a:rPr>
              <a:t> </a:t>
            </a:r>
            <a:r>
              <a:rPr sz="2100" b="1" i="0" u="none" dirty="0" err="1">
                <a:solidFill>
                  <a:srgbClr val="004494"/>
                </a:solidFill>
                <a:latin typeface="Montserrat"/>
              </a:rPr>
              <a:t>đã</a:t>
            </a:r>
            <a:r>
              <a:rPr sz="2100" b="1" i="0" u="none" dirty="0">
                <a:solidFill>
                  <a:srgbClr val="004494"/>
                </a:solidFill>
                <a:latin typeface="Montserrat"/>
              </a:rPr>
              <a:t> </a:t>
            </a:r>
            <a:r>
              <a:rPr sz="2100" b="1" i="0" u="none" dirty="0" err="1">
                <a:solidFill>
                  <a:srgbClr val="004494"/>
                </a:solidFill>
                <a:latin typeface="Montserrat"/>
              </a:rPr>
              <a:t>hỗ</a:t>
            </a:r>
            <a:r>
              <a:rPr sz="2100" b="1" i="0" u="none" dirty="0">
                <a:solidFill>
                  <a:srgbClr val="004494"/>
                </a:solidFill>
                <a:latin typeface="Montserrat"/>
              </a:rPr>
              <a:t> </a:t>
            </a:r>
            <a:r>
              <a:rPr sz="2100" b="1" i="0" u="none" dirty="0" err="1">
                <a:solidFill>
                  <a:srgbClr val="004494"/>
                </a:solidFill>
                <a:latin typeface="Montserrat"/>
              </a:rPr>
              <a:t>trợ</a:t>
            </a:r>
            <a:r>
              <a:rPr sz="2100" b="1" i="0" u="none" dirty="0">
                <a:solidFill>
                  <a:srgbClr val="004494"/>
                </a:solidFill>
                <a:latin typeface="Montserrat"/>
              </a:rPr>
              <a:t> </a:t>
            </a:r>
            <a:r>
              <a:rPr sz="2100" b="1" i="0" u="none" dirty="0" err="1">
                <a:solidFill>
                  <a:srgbClr val="004494"/>
                </a:solidFill>
                <a:latin typeface="Montserrat"/>
              </a:rPr>
              <a:t>chọn</a:t>
            </a:r>
            <a:r>
              <a:rPr sz="2100" b="1" i="0" u="none" dirty="0">
                <a:solidFill>
                  <a:srgbClr val="004494"/>
                </a:solidFill>
                <a:latin typeface="Montserrat"/>
              </a:rPr>
              <a:t> model </a:t>
            </a:r>
            <a:r>
              <a:rPr sz="2100" b="1" i="0" u="none" dirty="0" err="1">
                <a:solidFill>
                  <a:srgbClr val="004494"/>
                </a:solidFill>
                <a:latin typeface="Montserrat"/>
              </a:rPr>
              <a:t>chưa</a:t>
            </a:r>
            <a:r>
              <a:rPr sz="2100" b="1" i="0" u="none" dirty="0">
                <a:solidFill>
                  <a:srgbClr val="004494"/>
                </a:solidFill>
                <a:latin typeface="Montserrat"/>
              </a:rPr>
              <a:t>?</a:t>
            </a:r>
          </a:p>
        </p:txBody>
      </p:sp>
      <p:sp>
        <p:nvSpPr>
          <p:cNvPr id="7" name="TextBox 6"/>
          <p:cNvSpPr txBox="1"/>
          <p:nvPr/>
        </p:nvSpPr>
        <p:spPr>
          <a:xfrm>
            <a:off x="5748629" y="2573878"/>
            <a:ext cx="5286375" cy="2154436"/>
          </a:xfrm>
          <a:prstGeom prst="rect">
            <a:avLst/>
          </a:prstGeom>
          <a:noFill/>
        </p:spPr>
        <p:txBody>
          <a:bodyPr wrap="square" lIns="0" tIns="0" rIns="0" bIns="0" anchor="t">
            <a:spAutoFit/>
          </a:bodyPr>
          <a:lstStyle/>
          <a:p>
            <a:pPr marL="285750" indent="-285750" algn="l">
              <a:lnSpc>
                <a:spcPts val="2400"/>
              </a:lnSpc>
              <a:buFontTx/>
              <a:buChar char="-"/>
            </a:pPr>
            <a:r>
              <a:rPr lang="vi-VN" sz="2000" b="1" i="0" u="none" dirty="0">
                <a:solidFill>
                  <a:srgbClr val="2C3E50"/>
                </a:solidFill>
                <a:latin typeface="Open Sans"/>
              </a:rPr>
              <a:t>Đã hỗ trợ.</a:t>
            </a:r>
            <a:r>
              <a:rPr sz="2000" b="0" i="0" u="none" dirty="0">
                <a:solidFill>
                  <a:srgbClr val="2C3E50"/>
                </a:solidFill>
                <a:latin typeface="Open Sans"/>
              </a:rPr>
              <a:t> </a:t>
            </a:r>
            <a:endParaRPr lang="vi-VN" sz="2000" b="0" i="0" u="none" dirty="0">
              <a:solidFill>
                <a:srgbClr val="2C3E50"/>
              </a:solidFill>
              <a:latin typeface="Open Sans"/>
            </a:endParaRPr>
          </a:p>
          <a:p>
            <a:pPr marL="285750" indent="-285750" algn="l">
              <a:lnSpc>
                <a:spcPts val="2400"/>
              </a:lnSpc>
              <a:buFontTx/>
              <a:buChar char="-"/>
            </a:pPr>
            <a:r>
              <a:rPr sz="2000" b="0" i="0" u="none" dirty="0">
                <a:solidFill>
                  <a:srgbClr val="2C3E50"/>
                </a:solidFill>
                <a:latin typeface="Open Sans"/>
              </a:rPr>
              <a:t>Trong </a:t>
            </a:r>
            <a:r>
              <a:rPr sz="2000" b="0" i="0" u="none" dirty="0" err="1">
                <a:solidFill>
                  <a:srgbClr val="2C3E50"/>
                </a:solidFill>
                <a:latin typeface="Open Sans"/>
              </a:rPr>
              <a:t>FastAPI</a:t>
            </a:r>
            <a:r>
              <a:rPr sz="2000" b="0" i="0" u="none" dirty="0">
                <a:solidFill>
                  <a:srgbClr val="2C3E50"/>
                </a:solidFill>
                <a:latin typeface="Open Sans"/>
              </a:rPr>
              <a:t>, </a:t>
            </a:r>
            <a:r>
              <a:rPr sz="2000" b="0" i="0" u="none" dirty="0" err="1">
                <a:solidFill>
                  <a:srgbClr val="2C3E50"/>
                </a:solidFill>
                <a:latin typeface="Open Sans"/>
              </a:rPr>
              <a:t>một</a:t>
            </a:r>
            <a:r>
              <a:rPr sz="2000" b="0" i="0" u="none" dirty="0">
                <a:solidFill>
                  <a:srgbClr val="2C3E50"/>
                </a:solidFill>
                <a:latin typeface="Open Sans"/>
              </a:rPr>
              <a:t> Dependency </a:t>
            </a:r>
            <a:r>
              <a:rPr sz="2000" b="0" i="0" u="none" dirty="0" err="1">
                <a:solidFill>
                  <a:srgbClr val="2C3E50"/>
                </a:solidFill>
                <a:latin typeface="Open Sans"/>
              </a:rPr>
              <a:t>hoặc</a:t>
            </a:r>
            <a:r>
              <a:rPr sz="2000" b="0" i="0" u="none" dirty="0">
                <a:solidFill>
                  <a:srgbClr val="2C3E50"/>
                </a:solidFill>
                <a:latin typeface="Open Sans"/>
              </a:rPr>
              <a:t> Router </a:t>
            </a:r>
            <a:r>
              <a:rPr sz="2000" b="0" i="0" u="none" dirty="0" err="1">
                <a:solidFill>
                  <a:srgbClr val="2C3E50"/>
                </a:solidFill>
                <a:latin typeface="Open Sans"/>
              </a:rPr>
              <a:t>nhận</a:t>
            </a:r>
            <a:r>
              <a:rPr sz="2000" b="0" i="0" u="none" dirty="0">
                <a:solidFill>
                  <a:srgbClr val="2C3E50"/>
                </a:solidFill>
                <a:latin typeface="Open Sans"/>
              </a:rPr>
              <a:t> </a:t>
            </a:r>
            <a:r>
              <a:rPr sz="2000" b="0" i="0" u="none" dirty="0" err="1">
                <a:solidFill>
                  <a:srgbClr val="2C3E50"/>
                </a:solidFill>
                <a:latin typeface="Open Sans"/>
              </a:rPr>
              <a:t>tham</a:t>
            </a:r>
            <a:r>
              <a:rPr sz="2000" b="0" i="0" u="none" dirty="0">
                <a:solidFill>
                  <a:srgbClr val="2C3E50"/>
                </a:solidFill>
                <a:latin typeface="Open Sans"/>
              </a:rPr>
              <a:t> </a:t>
            </a:r>
            <a:r>
              <a:rPr sz="2000" b="0" i="0" u="none" dirty="0" err="1">
                <a:solidFill>
                  <a:srgbClr val="2C3E50"/>
                </a:solidFill>
                <a:latin typeface="Open Sans"/>
              </a:rPr>
              <a:t>số</a:t>
            </a:r>
            <a:r>
              <a:rPr sz="2000" b="0" i="0" u="none" dirty="0">
                <a:solidFill>
                  <a:srgbClr val="2C3E50"/>
                </a:solidFill>
                <a:latin typeface="Open Sans"/>
              </a:rPr>
              <a:t> </a:t>
            </a:r>
            <a:br>
              <a:rPr lang="vi-VN" sz="2000" dirty="0">
                <a:solidFill>
                  <a:srgbClr val="2C3E50"/>
                </a:solidFill>
                <a:latin typeface="Open Sans"/>
              </a:rPr>
            </a:br>
            <a:r>
              <a:rPr lang="vi-VN" sz="2000" dirty="0">
                <a:solidFill>
                  <a:srgbClr val="2C3E50"/>
                </a:solidFill>
                <a:latin typeface="Open Sans"/>
              </a:rPr>
              <a:t>				“</a:t>
            </a:r>
            <a:r>
              <a:rPr sz="2000" b="0" i="0" u="none" dirty="0">
                <a:solidFill>
                  <a:srgbClr val="2C3E50"/>
                </a:solidFill>
                <a:latin typeface="Open Sans"/>
              </a:rPr>
              <a:t>?</a:t>
            </a:r>
            <a:r>
              <a:rPr sz="2000" b="0" i="0" u="none" dirty="0" err="1">
                <a:solidFill>
                  <a:srgbClr val="2C3E50"/>
                </a:solidFill>
                <a:latin typeface="Open Sans"/>
              </a:rPr>
              <a:t>model_name</a:t>
            </a:r>
            <a:r>
              <a:rPr sz="2000" b="0" i="0" u="none" dirty="0">
                <a:solidFill>
                  <a:srgbClr val="2C3E50"/>
                </a:solidFill>
                <a:latin typeface="Open Sans"/>
              </a:rPr>
              <a:t>=</a:t>
            </a:r>
            <a:r>
              <a:rPr lang="vi-VN" sz="2000" b="0" i="0" u="none" dirty="0">
                <a:solidFill>
                  <a:srgbClr val="2C3E50"/>
                </a:solidFill>
                <a:latin typeface="Open Sans"/>
              </a:rPr>
              <a:t>shogi”</a:t>
            </a:r>
            <a:endParaRPr lang="vi-VN" sz="2000" dirty="0">
              <a:solidFill>
                <a:srgbClr val="2C3E50"/>
              </a:solidFill>
              <a:latin typeface="Open Sans"/>
            </a:endParaRPr>
          </a:p>
          <a:p>
            <a:pPr marL="285750" indent="-285750" algn="l">
              <a:lnSpc>
                <a:spcPts val="2400"/>
              </a:lnSpc>
              <a:buFontTx/>
              <a:buChar char="-"/>
            </a:pPr>
            <a:r>
              <a:rPr sz="2000" b="0" i="0" u="none" dirty="0">
                <a:solidFill>
                  <a:srgbClr val="2C3E50"/>
                </a:solidFill>
                <a:latin typeface="Open Sans"/>
              </a:rPr>
              <a:t>Logic Python </a:t>
            </a:r>
            <a:r>
              <a:rPr sz="2000" b="0" i="0" u="none" dirty="0" err="1">
                <a:solidFill>
                  <a:srgbClr val="2C3E50"/>
                </a:solidFill>
                <a:latin typeface="Open Sans"/>
              </a:rPr>
              <a:t>sẽ</a:t>
            </a:r>
            <a:r>
              <a:rPr sz="2000" b="0" i="0" u="none" dirty="0">
                <a:solidFill>
                  <a:srgbClr val="2C3E50"/>
                </a:solidFill>
                <a:latin typeface="Open Sans"/>
              </a:rPr>
              <a:t> load dictionary </a:t>
            </a:r>
            <a:r>
              <a:rPr sz="2000" b="0" i="0" u="none" dirty="0" err="1">
                <a:solidFill>
                  <a:srgbClr val="2C3E50"/>
                </a:solidFill>
                <a:latin typeface="Open Sans"/>
              </a:rPr>
              <a:t>chứa</a:t>
            </a:r>
            <a:r>
              <a:rPr lang="vi-VN" sz="2000" b="0" i="0" u="none" dirty="0">
                <a:solidFill>
                  <a:srgbClr val="2C3E50"/>
                </a:solidFill>
                <a:latin typeface="Open Sans"/>
              </a:rPr>
              <a:t> </a:t>
            </a:r>
            <a:r>
              <a:rPr sz="2000" b="0" i="0" u="none" dirty="0">
                <a:solidFill>
                  <a:srgbClr val="2C3E50"/>
                </a:solidFill>
                <a:latin typeface="Open Sans"/>
              </a:rPr>
              <a:t>models </a:t>
            </a:r>
            <a:r>
              <a:rPr sz="2000" b="0" i="0" u="none" dirty="0" err="1">
                <a:solidFill>
                  <a:srgbClr val="2C3E50"/>
                </a:solidFill>
                <a:latin typeface="Open Sans"/>
              </a:rPr>
              <a:t>trong</a:t>
            </a:r>
            <a:r>
              <a:rPr sz="2000" b="0" i="0" u="none" dirty="0">
                <a:solidFill>
                  <a:srgbClr val="2C3E50"/>
                </a:solidFill>
                <a:latin typeface="Open Sans"/>
              </a:rPr>
              <a:t> </a:t>
            </a:r>
            <a:r>
              <a:rPr lang="vi-VN" sz="2000" b="0" i="0" u="none" dirty="0">
                <a:solidFill>
                  <a:srgbClr val="2C3E50"/>
                </a:solidFill>
                <a:latin typeface="Open Sans"/>
              </a:rPr>
              <a:t>cache, </a:t>
            </a:r>
            <a:r>
              <a:rPr sz="2000" b="0" i="0" u="none" dirty="0" err="1">
                <a:solidFill>
                  <a:srgbClr val="2C3E50"/>
                </a:solidFill>
                <a:latin typeface="Open Sans"/>
              </a:rPr>
              <a:t>tránh</a:t>
            </a:r>
            <a:r>
              <a:rPr sz="2000" b="0" i="0" u="none" dirty="0">
                <a:solidFill>
                  <a:srgbClr val="2C3E50"/>
                </a:solidFill>
                <a:latin typeface="Open Sans"/>
              </a:rPr>
              <a:t> load </a:t>
            </a:r>
            <a:r>
              <a:rPr sz="2000" b="0" i="0" u="none" dirty="0" err="1">
                <a:solidFill>
                  <a:srgbClr val="2C3E50"/>
                </a:solidFill>
                <a:latin typeface="Open Sans"/>
              </a:rPr>
              <a:t>lại</a:t>
            </a:r>
            <a:r>
              <a:rPr sz="2000" b="0" i="0" u="none" dirty="0">
                <a:solidFill>
                  <a:srgbClr val="2C3E50"/>
                </a:solidFill>
                <a:latin typeface="Open Sans"/>
              </a:rPr>
              <a:t> file .pt </a:t>
            </a:r>
            <a:r>
              <a:rPr sz="2000" b="0" i="0" u="none" dirty="0" err="1">
                <a:solidFill>
                  <a:srgbClr val="2C3E50"/>
                </a:solidFill>
                <a:latin typeface="Open Sans"/>
              </a:rPr>
              <a:t>gây</a:t>
            </a:r>
            <a:r>
              <a:rPr sz="2000" b="0" i="0" u="none" dirty="0">
                <a:solidFill>
                  <a:srgbClr val="2C3E50"/>
                </a:solidFill>
                <a:latin typeface="Open Sans"/>
              </a:rPr>
              <a:t> </a:t>
            </a:r>
            <a:r>
              <a:rPr sz="2000" b="0" i="0" u="none" dirty="0" err="1">
                <a:solidFill>
                  <a:srgbClr val="2C3E50"/>
                </a:solidFill>
                <a:latin typeface="Open Sans"/>
              </a:rPr>
              <a:t>chậm</a:t>
            </a:r>
            <a:r>
              <a:rPr sz="2000" b="0" i="0" u="none" dirty="0">
                <a:solidFill>
                  <a:srgbClr val="2C3E50"/>
                </a:solidFill>
                <a:latin typeface="Open Sans"/>
              </a:rPr>
              <a:t> API.</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163E1-7B26-60F3-C711-877E29D085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341F836-57F2-B784-20D6-5F214021A0D5}"/>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39D19FE-55E7-C219-448F-BD6402FC1A2C}"/>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B16ADF7-9684-1E25-B4E2-2870BF4D555B}"/>
              </a:ext>
            </a:extLst>
          </p:cNvPr>
          <p:cNvSpPr txBox="1"/>
          <p:nvPr/>
        </p:nvSpPr>
        <p:spPr>
          <a:xfrm>
            <a:off x="2357373" y="2646016"/>
            <a:ext cx="7170896" cy="738664"/>
          </a:xfrm>
          <a:prstGeom prst="rect">
            <a:avLst/>
          </a:prstGeom>
          <a:noFill/>
        </p:spPr>
        <p:txBody>
          <a:bodyPr wrap="square" lIns="0" tIns="0" rIns="0" bIns="0" anchor="t">
            <a:spAutoFit/>
          </a:bodyPr>
          <a:lstStyle/>
          <a:p>
            <a:pPr algn="ctr"/>
            <a:r>
              <a:rPr lang="en-US" sz="4800" b="1" dirty="0" err="1">
                <a:solidFill>
                  <a:srgbClr val="0056B3"/>
                </a:solidFill>
                <a:effectLst>
                  <a:outerShdw blurRad="38100" dist="38100" dir="2700000" algn="tl">
                    <a:srgbClr val="000000">
                      <a:alpha val="43137"/>
                    </a:srgbClr>
                  </a:outerShdw>
                </a:effectLst>
                <a:latin typeface="Montserrat"/>
              </a:rPr>
              <a:t>Kết</a:t>
            </a:r>
            <a:r>
              <a:rPr lang="en-US" sz="4800" b="1" dirty="0">
                <a:solidFill>
                  <a:srgbClr val="0056B3"/>
                </a:solidFill>
                <a:effectLst>
                  <a:outerShdw blurRad="38100" dist="38100" dir="2700000" algn="tl">
                    <a:srgbClr val="000000">
                      <a:alpha val="43137"/>
                    </a:srgbClr>
                  </a:outerShdw>
                </a:effectLst>
                <a:latin typeface="Montserrat"/>
              </a:rPr>
              <a:t> </a:t>
            </a:r>
            <a:r>
              <a:rPr lang="en-US" sz="4800" b="1" dirty="0" err="1">
                <a:solidFill>
                  <a:srgbClr val="0056B3"/>
                </a:solidFill>
                <a:effectLst>
                  <a:outerShdw blurRad="38100" dist="38100" dir="2700000" algn="tl">
                    <a:srgbClr val="000000">
                      <a:alpha val="43137"/>
                    </a:srgbClr>
                  </a:outerShdw>
                </a:effectLst>
                <a:latin typeface="Montserrat"/>
              </a:rPr>
              <a:t>luận</a:t>
            </a:r>
            <a:endParaRPr lang="en-US" sz="4800" b="1" dirty="0">
              <a:solidFill>
                <a:srgbClr val="0056B3"/>
              </a:solidFill>
              <a:effectLst>
                <a:outerShdw blurRad="38100" dist="38100" dir="2700000" algn="tl">
                  <a:srgbClr val="000000">
                    <a:alpha val="43137"/>
                  </a:srgbClr>
                </a:outerShdw>
              </a:effectLst>
              <a:latin typeface="Montserrat"/>
            </a:endParaRPr>
          </a:p>
        </p:txBody>
      </p:sp>
      <p:sp>
        <p:nvSpPr>
          <p:cNvPr id="5" name="Rectangle 4">
            <a:extLst>
              <a:ext uri="{FF2B5EF4-FFF2-40B4-BE49-F238E27FC236}">
                <a16:creationId xmlns:a16="http://schemas.microsoft.com/office/drawing/2014/main" id="{2C889986-BA5D-9A26-7E2F-F782D3459628}"/>
              </a:ext>
            </a:extLst>
          </p:cNvPr>
          <p:cNvSpPr/>
          <p:nvPr/>
        </p:nvSpPr>
        <p:spPr>
          <a:xfrm>
            <a:off x="5524500" y="3517552"/>
            <a:ext cx="1143000" cy="5715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56940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4375" y="647700"/>
            <a:ext cx="11451431" cy="495300"/>
          </a:xfrm>
          <a:prstGeom prst="rect">
            <a:avLst/>
          </a:prstGeom>
          <a:noFill/>
        </p:spPr>
        <p:txBody>
          <a:bodyPr wrap="square" lIns="0" tIns="0" rIns="0" bIns="0" anchor="t">
            <a:spAutoFit/>
          </a:bodyPr>
          <a:lstStyle/>
          <a:p>
            <a:pPr algn="l"/>
            <a:r>
              <a:rPr lang="en-US" sz="3150" b="1" i="0" u="none" dirty="0" err="1">
                <a:solidFill>
                  <a:srgbClr val="0056B3"/>
                </a:solidFill>
                <a:effectLst>
                  <a:outerShdw blurRad="38100" dist="38100" dir="2700000" algn="tl">
                    <a:srgbClr val="000000">
                      <a:alpha val="43137"/>
                    </a:srgbClr>
                  </a:outerShdw>
                </a:effectLst>
                <a:latin typeface="Montserrat"/>
              </a:rPr>
              <a:t>Kết</a:t>
            </a:r>
            <a:r>
              <a:rPr lang="en-US" sz="3150" b="1" i="0" u="none" dirty="0">
                <a:solidFill>
                  <a:srgbClr val="0056B3"/>
                </a:solidFill>
                <a:effectLst>
                  <a:outerShdw blurRad="38100" dist="38100" dir="2700000" algn="tl">
                    <a:srgbClr val="000000">
                      <a:alpha val="43137"/>
                    </a:srgbClr>
                  </a:outerShdw>
                </a:effectLst>
                <a:latin typeface="Montserrat"/>
              </a:rPr>
              <a:t> </a:t>
            </a:r>
            <a:r>
              <a:rPr lang="en-US" sz="3150" b="1" i="0" u="none" dirty="0" err="1">
                <a:solidFill>
                  <a:srgbClr val="0056B3"/>
                </a:solidFill>
                <a:effectLst>
                  <a:outerShdw blurRad="38100" dist="38100" dir="2700000" algn="tl">
                    <a:srgbClr val="000000">
                      <a:alpha val="43137"/>
                    </a:srgbClr>
                  </a:outerShdw>
                </a:effectLst>
                <a:latin typeface="Montserrat"/>
              </a:rPr>
              <a:t>luận</a:t>
            </a:r>
            <a:endParaRPr sz="3150" b="1" i="0" u="none" dirty="0">
              <a:solidFill>
                <a:srgbClr val="0056B3"/>
              </a:solidFill>
              <a:effectLst>
                <a:outerShdw blurRad="38100" dist="38100" dir="2700000" algn="tl">
                  <a:srgbClr val="000000">
                    <a:alpha val="43137"/>
                  </a:srgbClr>
                </a:outerShdw>
              </a:effectLst>
              <a:latin typeface="Montserrat"/>
            </a:endParaRPr>
          </a:p>
        </p:txBody>
      </p:sp>
      <p:sp>
        <p:nvSpPr>
          <p:cNvPr id="6" name="Rectangle 5"/>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234488B1-E670-23A7-1D9B-EF3704D9A082}"/>
              </a:ext>
            </a:extLst>
          </p:cNvPr>
          <p:cNvSpPr txBox="1"/>
          <p:nvPr/>
        </p:nvSpPr>
        <p:spPr>
          <a:xfrm>
            <a:off x="571500" y="1968344"/>
            <a:ext cx="10368739" cy="2921313"/>
          </a:xfrm>
          <a:prstGeom prst="rect">
            <a:avLst/>
          </a:prstGeom>
          <a:noFill/>
        </p:spPr>
        <p:txBody>
          <a:bodyPr wrap="square" lIns="0" tIns="0" rIns="0" bIns="0" anchor="t">
            <a:spAutoFit/>
          </a:bodyPr>
          <a:lstStyle/>
          <a:p>
            <a:pPr marL="342900" indent="-342900" algn="l">
              <a:lnSpc>
                <a:spcPct val="114000"/>
              </a:lnSpc>
              <a:buFont typeface="Wingdings" panose="05000000000000000000" pitchFamily="2" charset="2"/>
              <a:buChar char="q"/>
            </a:pPr>
            <a:r>
              <a:rPr lang="vi-VN" sz="2400" dirty="0">
                <a:solidFill>
                  <a:srgbClr val="2C3E50"/>
                </a:solidFill>
                <a:effectLst>
                  <a:outerShdw blurRad="38100" dist="38100" dir="2700000" algn="tl">
                    <a:srgbClr val="000000">
                      <a:alpha val="43137"/>
                    </a:srgbClr>
                  </a:outerShdw>
                </a:effectLst>
                <a:latin typeface="Open Sans"/>
              </a:rPr>
              <a:t>Xây dựng </a:t>
            </a:r>
            <a:r>
              <a:rPr lang="en-US" sz="2400" dirty="0" err="1">
                <a:solidFill>
                  <a:srgbClr val="2C3E50"/>
                </a:solidFill>
                <a:effectLst>
                  <a:outerShdw blurRad="38100" dist="38100" dir="2700000" algn="tl">
                    <a:srgbClr val="000000">
                      <a:alpha val="43137"/>
                    </a:srgbClr>
                  </a:outerShdw>
                </a:effectLst>
                <a:latin typeface="Open Sans"/>
              </a:rPr>
              <a:t>được</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hệ</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thống</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nhận</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diện</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đối</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tượng</a:t>
            </a:r>
            <a:r>
              <a:rPr lang="en-US" sz="2400" dirty="0">
                <a:solidFill>
                  <a:srgbClr val="2C3E50"/>
                </a:solidFill>
                <a:effectLst>
                  <a:outerShdw blurRad="38100" dist="38100" dir="2700000" algn="tl">
                    <a:srgbClr val="000000">
                      <a:alpha val="43137"/>
                    </a:srgbClr>
                  </a:outerShdw>
                </a:effectLst>
                <a:latin typeface="Open Sans"/>
              </a:rPr>
              <a:t> t</a:t>
            </a:r>
            <a:r>
              <a:rPr lang="vi-VN" sz="2400" dirty="0">
                <a:solidFill>
                  <a:srgbClr val="2C3E50"/>
                </a:solidFill>
                <a:effectLst>
                  <a:outerShdw blurRad="38100" dist="38100" dir="2700000" algn="tl">
                    <a:srgbClr val="000000">
                      <a:alpha val="43137"/>
                    </a:srgbClr>
                  </a:outerShdw>
                </a:effectLst>
                <a:latin typeface="Open Sans"/>
              </a:rPr>
              <a:t>ừ </a:t>
            </a:r>
            <a:r>
              <a:rPr lang="en-US" sz="2400" dirty="0">
                <a:solidFill>
                  <a:srgbClr val="2C3E50"/>
                </a:solidFill>
                <a:effectLst>
                  <a:outerShdw blurRad="38100" dist="38100" dir="2700000" algn="tl">
                    <a:srgbClr val="000000">
                      <a:alpha val="43137"/>
                    </a:srgbClr>
                  </a:outerShdw>
                </a:effectLst>
                <a:latin typeface="Open Sans"/>
              </a:rPr>
              <a:t>train model</a:t>
            </a:r>
            <a:r>
              <a:rPr lang="vi-VN" sz="2400" dirty="0">
                <a:solidFill>
                  <a:srgbClr val="2C3E50"/>
                </a:solidFill>
                <a:effectLst>
                  <a:outerShdw blurRad="38100" dist="38100" dir="2700000" algn="tl">
                    <a:srgbClr val="000000">
                      <a:alpha val="43137"/>
                    </a:srgbClr>
                  </a:outerShdw>
                </a:effectLst>
                <a:latin typeface="Open Sans"/>
              </a:rPr>
              <a:t> (YOLOv5)</a:t>
            </a:r>
            <a:r>
              <a:rPr lang="en-US" sz="2400" dirty="0">
                <a:solidFill>
                  <a:srgbClr val="2C3E50"/>
                </a:solidFill>
                <a:effectLst>
                  <a:outerShdw blurRad="38100" dist="38100" dir="2700000" algn="tl">
                    <a:srgbClr val="000000">
                      <a:alpha val="43137"/>
                    </a:srgbClr>
                  </a:outerShdw>
                </a:effectLst>
                <a:latin typeface="Open Sans"/>
              </a:rPr>
              <a:t> </a:t>
            </a:r>
            <a:r>
              <a:rPr lang="en-US" sz="2400" dirty="0">
                <a:solidFill>
                  <a:srgbClr val="2C3E50"/>
                </a:solidFill>
                <a:effectLst>
                  <a:outerShdw blurRad="38100" dist="38100" dir="2700000" algn="tl">
                    <a:srgbClr val="000000">
                      <a:alpha val="43137"/>
                    </a:srgbClr>
                  </a:outerShdw>
                </a:effectLst>
                <a:latin typeface="Open Sans"/>
                <a:sym typeface="Wingdings" panose="05000000000000000000" pitchFamily="2" charset="2"/>
              </a:rPr>
              <a:t> </a:t>
            </a:r>
            <a:r>
              <a:rPr lang="en-US" sz="2400" dirty="0" err="1">
                <a:solidFill>
                  <a:srgbClr val="2C3E50"/>
                </a:solidFill>
                <a:effectLst>
                  <a:outerShdw blurRad="38100" dist="38100" dir="2700000" algn="tl">
                    <a:srgbClr val="000000">
                      <a:alpha val="43137"/>
                    </a:srgbClr>
                  </a:outerShdw>
                </a:effectLst>
                <a:latin typeface="Open Sans"/>
                <a:sym typeface="Wingdings" panose="05000000000000000000" pitchFamily="2" charset="2"/>
              </a:rPr>
              <a:t>xây</a:t>
            </a:r>
            <a:r>
              <a:rPr lang="en-US" sz="2400" dirty="0">
                <a:solidFill>
                  <a:srgbClr val="2C3E50"/>
                </a:solidFill>
                <a:effectLst>
                  <a:outerShdw blurRad="38100" dist="38100" dir="2700000" algn="tl">
                    <a:srgbClr val="000000">
                      <a:alpha val="43137"/>
                    </a:srgbClr>
                  </a:outerShdw>
                </a:effectLst>
                <a:latin typeface="Open Sans"/>
                <a:sym typeface="Wingdings" panose="05000000000000000000" pitchFamily="2" charset="2"/>
              </a:rPr>
              <a:t> </a:t>
            </a:r>
            <a:r>
              <a:rPr lang="en-US" sz="2400" dirty="0" err="1">
                <a:solidFill>
                  <a:srgbClr val="2C3E50"/>
                </a:solidFill>
                <a:effectLst>
                  <a:outerShdw blurRad="38100" dist="38100" dir="2700000" algn="tl">
                    <a:srgbClr val="000000">
                      <a:alpha val="43137"/>
                    </a:srgbClr>
                  </a:outerShdw>
                </a:effectLst>
                <a:latin typeface="Open Sans"/>
                <a:sym typeface="Wingdings" panose="05000000000000000000" pitchFamily="2" charset="2"/>
              </a:rPr>
              <a:t>dựng</a:t>
            </a:r>
            <a:r>
              <a:rPr lang="en-US" sz="2400" dirty="0">
                <a:solidFill>
                  <a:srgbClr val="2C3E50"/>
                </a:solidFill>
                <a:effectLst>
                  <a:outerShdw blurRad="38100" dist="38100" dir="2700000" algn="tl">
                    <a:srgbClr val="000000">
                      <a:alpha val="43137"/>
                    </a:srgbClr>
                  </a:outerShdw>
                </a:effectLst>
                <a:latin typeface="Open Sans"/>
                <a:sym typeface="Wingdings" panose="05000000000000000000" pitchFamily="2" charset="2"/>
              </a:rPr>
              <a:t> </a:t>
            </a:r>
            <a:r>
              <a:rPr lang="vi-VN" sz="2400" dirty="0">
                <a:solidFill>
                  <a:srgbClr val="2C3E50"/>
                </a:solidFill>
                <a:effectLst>
                  <a:outerShdw blurRad="38100" dist="38100" dir="2700000" algn="tl">
                    <a:srgbClr val="000000">
                      <a:alpha val="43137"/>
                    </a:srgbClr>
                  </a:outerShdw>
                </a:effectLst>
                <a:latin typeface="Open Sans"/>
              </a:rPr>
              <a:t>API (FastAPI) </a:t>
            </a:r>
            <a:r>
              <a:rPr lang="en-US" sz="2400" dirty="0">
                <a:solidFill>
                  <a:srgbClr val="2C3E50"/>
                </a:solidFill>
                <a:effectLst>
                  <a:outerShdw blurRad="38100" dist="38100" dir="2700000" algn="tl">
                    <a:srgbClr val="000000">
                      <a:alpha val="43137"/>
                    </a:srgbClr>
                  </a:outerShdw>
                </a:effectLst>
                <a:latin typeface="Open Sans"/>
                <a:sym typeface="Wingdings" panose="05000000000000000000" pitchFamily="2" charset="2"/>
              </a:rPr>
              <a:t></a:t>
            </a:r>
            <a:r>
              <a:rPr lang="vi-VN" sz="2400" dirty="0">
                <a:solidFill>
                  <a:srgbClr val="2C3E50"/>
                </a:solidFill>
                <a:effectLst>
                  <a:outerShdw blurRad="38100" dist="38100" dir="2700000" algn="tl">
                    <a:srgbClr val="000000">
                      <a:alpha val="43137"/>
                    </a:srgbClr>
                  </a:outerShdw>
                </a:effectLst>
                <a:latin typeface="Open Sans"/>
              </a:rPr>
              <a:t> tích hợp UI (Streamlit</a:t>
            </a:r>
            <a:r>
              <a:rPr lang="en-US" sz="2400" dirty="0">
                <a:solidFill>
                  <a:srgbClr val="2C3E50"/>
                </a:solidFill>
                <a:effectLst>
                  <a:outerShdw blurRad="38100" dist="38100" dir="2700000" algn="tl">
                    <a:srgbClr val="000000">
                      <a:alpha val="43137"/>
                    </a:srgbClr>
                  </a:outerShdw>
                </a:effectLst>
                <a:latin typeface="Open Sans"/>
              </a:rPr>
              <a:t>)</a:t>
            </a:r>
          </a:p>
          <a:p>
            <a:pPr marL="342900" indent="-342900" algn="l">
              <a:lnSpc>
                <a:spcPct val="114000"/>
              </a:lnSpc>
              <a:buFont typeface="Wingdings" panose="05000000000000000000" pitchFamily="2" charset="2"/>
              <a:buChar char="q"/>
            </a:pPr>
            <a:r>
              <a:rPr lang="vi-VN" sz="2400" dirty="0">
                <a:solidFill>
                  <a:srgbClr val="2C3E50"/>
                </a:solidFill>
                <a:effectLst>
                  <a:outerShdw blurRad="38100" dist="38100" dir="2700000" algn="tl">
                    <a:srgbClr val="000000">
                      <a:alpha val="43137"/>
                    </a:srgbClr>
                  </a:outerShdw>
                </a:effectLst>
                <a:latin typeface="Open Sans"/>
              </a:rPr>
              <a:t>Mô hình </a:t>
            </a:r>
            <a:r>
              <a:rPr lang="en-US" sz="2400" dirty="0" err="1">
                <a:solidFill>
                  <a:srgbClr val="2C3E50"/>
                </a:solidFill>
                <a:effectLst>
                  <a:outerShdw blurRad="38100" dist="38100" dir="2700000" algn="tl">
                    <a:srgbClr val="000000">
                      <a:alpha val="43137"/>
                    </a:srgbClr>
                  </a:outerShdw>
                </a:effectLst>
                <a:latin typeface="Open Sans"/>
              </a:rPr>
              <a:t>có</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khả</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năng</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nhận</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diện</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nhiều</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tập</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dữ</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liệu</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khác</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nhau</a:t>
            </a:r>
            <a:endParaRPr lang="en-US" sz="2400" dirty="0">
              <a:solidFill>
                <a:srgbClr val="2C3E50"/>
              </a:solidFill>
              <a:effectLst>
                <a:outerShdw blurRad="38100" dist="38100" dir="2700000" algn="tl">
                  <a:srgbClr val="000000">
                    <a:alpha val="43137"/>
                  </a:srgbClr>
                </a:outerShdw>
              </a:effectLst>
              <a:latin typeface="Open Sans"/>
            </a:endParaRPr>
          </a:p>
          <a:p>
            <a:pPr marL="342900" indent="-342900" algn="l">
              <a:lnSpc>
                <a:spcPct val="114000"/>
              </a:lnSpc>
              <a:buFont typeface="Wingdings" panose="05000000000000000000" pitchFamily="2" charset="2"/>
              <a:buChar char="q"/>
            </a:pPr>
            <a:r>
              <a:rPr lang="vi-VN" sz="2400" dirty="0">
                <a:solidFill>
                  <a:srgbClr val="2C3E50"/>
                </a:solidFill>
                <a:effectLst>
                  <a:outerShdw blurRad="38100" dist="38100" dir="2700000" algn="tl">
                    <a:srgbClr val="000000">
                      <a:alpha val="43137"/>
                    </a:srgbClr>
                  </a:outerShdw>
                </a:effectLst>
                <a:latin typeface="Open Sans"/>
              </a:rPr>
              <a:t>Toàn bộ sức mạnh tính toán đều được đẩy lên hạ tầng </a:t>
            </a:r>
            <a:r>
              <a:rPr lang="en-US" sz="2400" dirty="0">
                <a:solidFill>
                  <a:srgbClr val="2C3E50"/>
                </a:solidFill>
                <a:effectLst>
                  <a:outerShdw blurRad="38100" dist="38100" dir="2700000" algn="tl">
                    <a:srgbClr val="000000">
                      <a:alpha val="43137"/>
                    </a:srgbClr>
                  </a:outerShdw>
                </a:effectLst>
                <a:latin typeface="Open Sans"/>
              </a:rPr>
              <a:t>đ</a:t>
            </a:r>
            <a:r>
              <a:rPr lang="vi-VN" sz="2400" dirty="0">
                <a:solidFill>
                  <a:srgbClr val="2C3E50"/>
                </a:solidFill>
                <a:effectLst>
                  <a:outerShdw blurRad="38100" dist="38100" dir="2700000" algn="tl">
                    <a:srgbClr val="000000">
                      <a:alpha val="43137"/>
                    </a:srgbClr>
                  </a:outerShdw>
                </a:effectLst>
                <a:latin typeface="Open Sans"/>
              </a:rPr>
              <a:t>ám mây (Google Colab)</a:t>
            </a:r>
            <a:endParaRPr lang="en-US" sz="2400" dirty="0">
              <a:solidFill>
                <a:srgbClr val="2C3E50"/>
              </a:solidFill>
              <a:effectLst>
                <a:outerShdw blurRad="38100" dist="38100" dir="2700000" algn="tl">
                  <a:srgbClr val="000000">
                    <a:alpha val="43137"/>
                  </a:srgbClr>
                </a:outerShdw>
              </a:effectLst>
              <a:latin typeface="Open Sans"/>
            </a:endParaRPr>
          </a:p>
          <a:p>
            <a:pPr marL="342900" indent="-342900" algn="l">
              <a:lnSpc>
                <a:spcPct val="114000"/>
              </a:lnSpc>
              <a:buFont typeface="Wingdings" panose="05000000000000000000" pitchFamily="2" charset="2"/>
              <a:buChar char="q"/>
            </a:pPr>
            <a:r>
              <a:rPr lang="vi-VN" sz="2400" dirty="0">
                <a:solidFill>
                  <a:srgbClr val="2C3E50"/>
                </a:solidFill>
                <a:effectLst>
                  <a:outerShdw blurRad="38100" dist="38100" dir="2700000" algn="tl">
                    <a:srgbClr val="000000">
                      <a:alpha val="43137"/>
                    </a:srgbClr>
                  </a:outerShdw>
                </a:effectLst>
                <a:latin typeface="Open Sans"/>
              </a:rPr>
              <a:t>Thiết bị </a:t>
            </a:r>
            <a:r>
              <a:rPr lang="en-US" sz="2400" dirty="0">
                <a:solidFill>
                  <a:srgbClr val="2C3E50"/>
                </a:solidFill>
                <a:effectLst>
                  <a:outerShdw blurRad="38100" dist="38100" dir="2700000" algn="tl">
                    <a:srgbClr val="000000">
                      <a:alpha val="43137"/>
                    </a:srgbClr>
                  </a:outerShdw>
                </a:effectLst>
                <a:latin typeface="Open Sans"/>
              </a:rPr>
              <a:t>e</a:t>
            </a:r>
            <a:r>
              <a:rPr lang="vi-VN" sz="2400" dirty="0">
                <a:solidFill>
                  <a:srgbClr val="2C3E50"/>
                </a:solidFill>
                <a:effectLst>
                  <a:outerShdw blurRad="38100" dist="38100" dir="2700000" algn="tl">
                    <a:srgbClr val="000000">
                      <a:alpha val="43137"/>
                    </a:srgbClr>
                  </a:outerShdw>
                </a:effectLst>
                <a:latin typeface="Open Sans"/>
              </a:rPr>
              <a:t>nd-user chỉ làm nhiệm vụ giao tiếp nhẹ nhàng, không yêu cầu phần cứng cao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4375" y="647700"/>
            <a:ext cx="11451431" cy="495300"/>
          </a:xfrm>
          <a:prstGeom prst="rect">
            <a:avLst/>
          </a:prstGeom>
          <a:noFill/>
        </p:spPr>
        <p:txBody>
          <a:bodyPr wrap="square" lIns="0" tIns="0" rIns="0" bIns="0" anchor="t">
            <a:spAutoFit/>
          </a:bodyPr>
          <a:lstStyle/>
          <a:p>
            <a:pPr algn="l"/>
            <a:r>
              <a:rPr sz="3150" b="1" i="0" u="none" dirty="0" err="1">
                <a:solidFill>
                  <a:srgbClr val="0056B3"/>
                </a:solidFill>
                <a:effectLst>
                  <a:outerShdw blurRad="38100" dist="38100" dir="2700000" algn="tl">
                    <a:srgbClr val="000000">
                      <a:alpha val="43137"/>
                    </a:srgbClr>
                  </a:outerShdw>
                </a:effectLst>
                <a:latin typeface="Montserrat"/>
              </a:rPr>
              <a:t>Hạn</a:t>
            </a:r>
            <a:r>
              <a:rPr sz="3150" b="1" i="0" u="none" dirty="0">
                <a:solidFill>
                  <a:srgbClr val="0056B3"/>
                </a:solidFill>
                <a:effectLst>
                  <a:outerShdw blurRad="38100" dist="38100" dir="2700000" algn="tl">
                    <a:srgbClr val="000000">
                      <a:alpha val="43137"/>
                    </a:srgbClr>
                  </a:outerShdw>
                </a:effectLst>
                <a:latin typeface="Montserrat"/>
              </a:rPr>
              <a:t> </a:t>
            </a:r>
            <a:r>
              <a:rPr lang="en-US" sz="3150" b="1" i="0" u="none" dirty="0" err="1">
                <a:solidFill>
                  <a:srgbClr val="0056B3"/>
                </a:solidFill>
                <a:effectLst>
                  <a:outerShdw blurRad="38100" dist="38100" dir="2700000" algn="tl">
                    <a:srgbClr val="000000">
                      <a:alpha val="43137"/>
                    </a:srgbClr>
                  </a:outerShdw>
                </a:effectLst>
                <a:latin typeface="Montserrat"/>
              </a:rPr>
              <a:t>chế</a:t>
            </a:r>
            <a:endParaRPr sz="3150" b="1" i="0" u="none" dirty="0">
              <a:solidFill>
                <a:srgbClr val="0056B3"/>
              </a:solidFill>
              <a:effectLst>
                <a:outerShdw blurRad="38100" dist="38100" dir="2700000" algn="tl">
                  <a:srgbClr val="000000">
                    <a:alpha val="43137"/>
                  </a:srgbClr>
                </a:outerShdw>
              </a:effectLst>
              <a:latin typeface="Montserrat"/>
            </a:endParaRPr>
          </a:p>
        </p:txBody>
      </p:sp>
      <p:sp>
        <p:nvSpPr>
          <p:cNvPr id="7" name="Rectangle 6"/>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9737E1D0-4759-915B-3F0B-C4627237FABF}"/>
              </a:ext>
            </a:extLst>
          </p:cNvPr>
          <p:cNvSpPr txBox="1"/>
          <p:nvPr/>
        </p:nvSpPr>
        <p:spPr>
          <a:xfrm>
            <a:off x="571499" y="2389357"/>
            <a:ext cx="11071151" cy="2079287"/>
          </a:xfrm>
          <a:prstGeom prst="rect">
            <a:avLst/>
          </a:prstGeom>
          <a:noFill/>
        </p:spPr>
        <p:txBody>
          <a:bodyPr wrap="square" lIns="0" tIns="0" rIns="0" bIns="0" anchor="t">
            <a:spAutoFit/>
          </a:bodyPr>
          <a:lstStyle/>
          <a:p>
            <a:pPr marL="342900" indent="-342900" algn="l">
              <a:lnSpc>
                <a:spcPct val="114000"/>
              </a:lnSpc>
              <a:buFont typeface="Wingdings" panose="05000000000000000000" pitchFamily="2" charset="2"/>
              <a:buChar char="q"/>
            </a:pPr>
            <a:r>
              <a:rPr lang="vi-VN" sz="2400" dirty="0">
                <a:solidFill>
                  <a:srgbClr val="2C3E50"/>
                </a:solidFill>
                <a:effectLst>
                  <a:outerShdw blurRad="38100" dist="38100" dir="2700000" algn="tl">
                    <a:srgbClr val="000000">
                      <a:alpha val="43137"/>
                    </a:srgbClr>
                  </a:outerShdw>
                </a:effectLst>
                <a:latin typeface="Open Sans"/>
              </a:rPr>
              <a:t>Session tự ngắt sau 12h</a:t>
            </a:r>
          </a:p>
          <a:p>
            <a:pPr marL="342900" indent="-342900" algn="l">
              <a:lnSpc>
                <a:spcPct val="114000"/>
              </a:lnSpc>
              <a:buFont typeface="Wingdings" panose="05000000000000000000" pitchFamily="2" charset="2"/>
              <a:buChar char="q"/>
            </a:pPr>
            <a:r>
              <a:rPr lang="vi-VN" sz="2400" dirty="0">
                <a:solidFill>
                  <a:srgbClr val="2C3E50"/>
                </a:solidFill>
                <a:effectLst>
                  <a:outerShdw blurRad="38100" dist="38100" dir="2700000" algn="tl">
                    <a:srgbClr val="000000">
                      <a:alpha val="43137"/>
                    </a:srgbClr>
                  </a:outerShdw>
                </a:effectLst>
                <a:latin typeface="Open Sans"/>
              </a:rPr>
              <a:t>ngrok thay đổi IP liên tục, không phù hợp cho </a:t>
            </a:r>
            <a:r>
              <a:rPr lang="en-US" sz="2400" dirty="0">
                <a:solidFill>
                  <a:srgbClr val="2C3E50"/>
                </a:solidFill>
                <a:effectLst>
                  <a:outerShdw blurRad="38100" dist="38100" dir="2700000" algn="tl">
                    <a:srgbClr val="000000">
                      <a:alpha val="43137"/>
                    </a:srgbClr>
                  </a:outerShdw>
                </a:effectLst>
                <a:latin typeface="Open Sans"/>
              </a:rPr>
              <a:t>production</a:t>
            </a:r>
            <a:r>
              <a:rPr lang="vi-VN" sz="2400" dirty="0">
                <a:solidFill>
                  <a:srgbClr val="2C3E50"/>
                </a:solidFill>
                <a:effectLst>
                  <a:outerShdw blurRad="38100" dist="38100" dir="2700000" algn="tl">
                    <a:srgbClr val="000000">
                      <a:alpha val="43137"/>
                    </a:srgbClr>
                  </a:outerShdw>
                </a:effectLst>
                <a:latin typeface="Open Sans"/>
              </a:rPr>
              <a:t> dài hạn</a:t>
            </a:r>
            <a:endParaRPr lang="en-US" sz="2400" dirty="0">
              <a:solidFill>
                <a:srgbClr val="2C3E50"/>
              </a:solidFill>
              <a:effectLst>
                <a:outerShdw blurRad="38100" dist="38100" dir="2700000" algn="tl">
                  <a:srgbClr val="000000">
                    <a:alpha val="43137"/>
                  </a:srgbClr>
                </a:outerShdw>
              </a:effectLst>
              <a:latin typeface="Open Sans"/>
            </a:endParaRPr>
          </a:p>
          <a:p>
            <a:pPr marL="342900" indent="-342900" algn="l">
              <a:lnSpc>
                <a:spcPct val="114000"/>
              </a:lnSpc>
              <a:buFont typeface="Wingdings" panose="05000000000000000000" pitchFamily="2" charset="2"/>
              <a:buChar char="q"/>
            </a:pPr>
            <a:r>
              <a:rPr lang="vi-VN" sz="2400" dirty="0">
                <a:solidFill>
                  <a:srgbClr val="2C3E50"/>
                </a:solidFill>
                <a:effectLst>
                  <a:outerShdw blurRad="38100" dist="38100" dir="2700000" algn="tl">
                    <a:srgbClr val="000000">
                      <a:alpha val="43137"/>
                    </a:srgbClr>
                  </a:outerShdw>
                </a:effectLst>
                <a:latin typeface="Open Sans"/>
              </a:rPr>
              <a:t>Chi phí thuê GPU/Cloud VPS tĩnh (như AWS EC2, GCP) khá cao</a:t>
            </a:r>
            <a:endParaRPr lang="en-US" sz="2400" dirty="0">
              <a:solidFill>
                <a:srgbClr val="2C3E50"/>
              </a:solidFill>
              <a:effectLst>
                <a:outerShdw blurRad="38100" dist="38100" dir="2700000" algn="tl">
                  <a:srgbClr val="000000">
                    <a:alpha val="43137"/>
                  </a:srgbClr>
                </a:outerShdw>
              </a:effectLst>
              <a:latin typeface="Open Sans"/>
            </a:endParaRPr>
          </a:p>
          <a:p>
            <a:pPr marL="342900" indent="-342900" algn="l">
              <a:lnSpc>
                <a:spcPct val="114000"/>
              </a:lnSpc>
              <a:buFont typeface="Wingdings" panose="05000000000000000000" pitchFamily="2" charset="2"/>
              <a:buChar char="q"/>
            </a:pPr>
            <a:r>
              <a:rPr lang="vi-VN" sz="2400" dirty="0">
                <a:solidFill>
                  <a:srgbClr val="2C3E50"/>
                </a:solidFill>
                <a:effectLst>
                  <a:outerShdw blurRad="38100" dist="38100" dir="2700000" algn="tl">
                    <a:srgbClr val="000000">
                      <a:alpha val="43137"/>
                    </a:srgbClr>
                  </a:outerShdw>
                </a:effectLst>
                <a:latin typeface="Open Sans"/>
              </a:rPr>
              <a:t>Băng thông mạng qua ngrok chưa tối ưu cho việc đẩy luồng video trực tiếp liên tục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C35EC5F-7030-032D-79CB-18C12027D40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918D23B-D680-BCE7-5EAA-D99BAA19B635}"/>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1436C7BB-C954-862E-F1A6-26357D127D8C}"/>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146F510F-E0C5-F0C8-CB9C-320FCF958F74}"/>
              </a:ext>
            </a:extLst>
          </p:cNvPr>
          <p:cNvSpPr txBox="1"/>
          <p:nvPr/>
        </p:nvSpPr>
        <p:spPr>
          <a:xfrm>
            <a:off x="714375" y="647700"/>
            <a:ext cx="11451431" cy="495300"/>
          </a:xfrm>
          <a:prstGeom prst="rect">
            <a:avLst/>
          </a:prstGeom>
          <a:noFill/>
        </p:spPr>
        <p:txBody>
          <a:bodyPr wrap="square" lIns="0" tIns="0" rIns="0" bIns="0" anchor="t">
            <a:spAutoFit/>
          </a:bodyPr>
          <a:lstStyle/>
          <a:p>
            <a:pPr algn="l"/>
            <a:r>
              <a:rPr lang="en-US" sz="3150" b="1" dirty="0">
                <a:solidFill>
                  <a:srgbClr val="0056B3"/>
                </a:solidFill>
                <a:latin typeface="Montserrat"/>
              </a:rPr>
              <a:t>Định </a:t>
            </a:r>
            <a:r>
              <a:rPr lang="en-US" sz="3150" b="1" dirty="0" err="1">
                <a:solidFill>
                  <a:srgbClr val="0056B3"/>
                </a:solidFill>
                <a:latin typeface="Montserrat"/>
              </a:rPr>
              <a:t>hướng</a:t>
            </a:r>
            <a:r>
              <a:rPr lang="en-US" sz="3150" b="1" dirty="0">
                <a:solidFill>
                  <a:srgbClr val="0056B3"/>
                </a:solidFill>
                <a:latin typeface="Montserrat"/>
              </a:rPr>
              <a:t> </a:t>
            </a:r>
            <a:r>
              <a:rPr lang="en-US" sz="3150" b="1" dirty="0" err="1">
                <a:solidFill>
                  <a:srgbClr val="0056B3"/>
                </a:solidFill>
                <a:latin typeface="Montserrat"/>
              </a:rPr>
              <a:t>phát</a:t>
            </a:r>
            <a:r>
              <a:rPr lang="en-US" sz="3150" b="1" dirty="0">
                <a:solidFill>
                  <a:srgbClr val="0056B3"/>
                </a:solidFill>
                <a:latin typeface="Montserrat"/>
              </a:rPr>
              <a:t> </a:t>
            </a:r>
            <a:r>
              <a:rPr lang="en-US" sz="3150" b="1" dirty="0" err="1">
                <a:solidFill>
                  <a:srgbClr val="0056B3"/>
                </a:solidFill>
                <a:latin typeface="Montserrat"/>
              </a:rPr>
              <a:t>triển</a:t>
            </a:r>
            <a:endParaRPr sz="3150" b="1" i="0" u="none" dirty="0">
              <a:solidFill>
                <a:srgbClr val="0056B3"/>
              </a:solidFill>
              <a:latin typeface="Montserrat"/>
            </a:endParaRPr>
          </a:p>
        </p:txBody>
      </p:sp>
      <p:sp>
        <p:nvSpPr>
          <p:cNvPr id="7" name="Rectangle 6">
            <a:extLst>
              <a:ext uri="{FF2B5EF4-FFF2-40B4-BE49-F238E27FC236}">
                <a16:creationId xmlns:a16="http://schemas.microsoft.com/office/drawing/2014/main" id="{D61B4E76-CCA2-503B-5421-B2BEC67BFA8F}"/>
              </a:ext>
            </a:extLst>
          </p:cNvPr>
          <p:cNvSpPr/>
          <p:nvPr/>
        </p:nvSpPr>
        <p:spPr>
          <a:xfrm>
            <a:off x="571500" y="647700"/>
            <a:ext cx="57150" cy="4953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9E000E4B-BB0D-B2E1-0444-08D87216741E}"/>
              </a:ext>
            </a:extLst>
          </p:cNvPr>
          <p:cNvSpPr txBox="1"/>
          <p:nvPr/>
        </p:nvSpPr>
        <p:spPr>
          <a:xfrm>
            <a:off x="1664945" y="2062162"/>
            <a:ext cx="9800773" cy="323850"/>
          </a:xfrm>
          <a:prstGeom prst="rect">
            <a:avLst/>
          </a:prstGeom>
          <a:noFill/>
        </p:spPr>
        <p:txBody>
          <a:bodyPr wrap="square" lIns="0" tIns="0" rIns="0" bIns="0" anchor="t">
            <a:spAutoFit/>
          </a:bodyPr>
          <a:lstStyle/>
          <a:p>
            <a:pPr algn="l"/>
            <a:r>
              <a:rPr sz="2100" b="1" i="0" u="none">
                <a:solidFill>
                  <a:srgbClr val="FFFFFF"/>
                </a:solidFill>
                <a:latin typeface="Montserrat"/>
              </a:rPr>
              <a:t>Hướng mở rộng &amp; Phát triển</a:t>
            </a:r>
          </a:p>
        </p:txBody>
      </p:sp>
      <p:sp>
        <p:nvSpPr>
          <p:cNvPr id="8" name="TextBox 7">
            <a:extLst>
              <a:ext uri="{FF2B5EF4-FFF2-40B4-BE49-F238E27FC236}">
                <a16:creationId xmlns:a16="http://schemas.microsoft.com/office/drawing/2014/main" id="{9FCBC3BF-F0CB-E036-693D-38E7C46F4CD2}"/>
              </a:ext>
            </a:extLst>
          </p:cNvPr>
          <p:cNvSpPr txBox="1"/>
          <p:nvPr/>
        </p:nvSpPr>
        <p:spPr>
          <a:xfrm>
            <a:off x="571499" y="2810369"/>
            <a:ext cx="11071151" cy="1237262"/>
          </a:xfrm>
          <a:prstGeom prst="rect">
            <a:avLst/>
          </a:prstGeom>
          <a:noFill/>
        </p:spPr>
        <p:txBody>
          <a:bodyPr wrap="square" lIns="0" tIns="0" rIns="0" bIns="0" anchor="t">
            <a:spAutoFit/>
          </a:bodyPr>
          <a:lstStyle/>
          <a:p>
            <a:pPr marL="342900" indent="-342900" algn="l">
              <a:lnSpc>
                <a:spcPct val="114000"/>
              </a:lnSpc>
              <a:buFont typeface="Wingdings" panose="05000000000000000000" pitchFamily="2" charset="2"/>
              <a:buChar char="q"/>
            </a:pPr>
            <a:r>
              <a:rPr lang="vi-VN" sz="2400" dirty="0">
                <a:solidFill>
                  <a:srgbClr val="2C3E50"/>
                </a:solidFill>
                <a:effectLst>
                  <a:outerShdw blurRad="38100" dist="38100" dir="2700000" algn="tl">
                    <a:srgbClr val="000000">
                      <a:alpha val="43137"/>
                    </a:srgbClr>
                  </a:outerShdw>
                </a:effectLst>
                <a:latin typeface="Open Sans"/>
              </a:rPr>
              <a:t>Nâng cấp lên Docker &amp; </a:t>
            </a:r>
            <a:r>
              <a:rPr lang="en-US" sz="2400" dirty="0">
                <a:solidFill>
                  <a:srgbClr val="2C3E50"/>
                </a:solidFill>
                <a:effectLst>
                  <a:outerShdw blurRad="38100" dist="38100" dir="2700000" algn="tl">
                    <a:srgbClr val="000000">
                      <a:alpha val="43137"/>
                    </a:srgbClr>
                  </a:outerShdw>
                </a:effectLst>
                <a:latin typeface="Open Sans"/>
              </a:rPr>
              <a:t>d</a:t>
            </a:r>
            <a:r>
              <a:rPr lang="vi-VN" sz="2400" dirty="0">
                <a:solidFill>
                  <a:srgbClr val="2C3E50"/>
                </a:solidFill>
                <a:effectLst>
                  <a:outerShdw blurRad="38100" dist="38100" dir="2700000" algn="tl">
                    <a:srgbClr val="000000">
                      <a:alpha val="43137"/>
                    </a:srgbClr>
                  </a:outerShdw>
                </a:effectLst>
                <a:latin typeface="Open Sans"/>
              </a:rPr>
              <a:t>eploy lên VPS thực thụ (Render, AWS) để mở rộng lượng người dùng ổn định</a:t>
            </a:r>
          </a:p>
          <a:p>
            <a:pPr marL="342900" indent="-342900" algn="l">
              <a:lnSpc>
                <a:spcPct val="114000"/>
              </a:lnSpc>
              <a:buFont typeface="Wingdings" panose="05000000000000000000" pitchFamily="2" charset="2"/>
              <a:buChar char="q"/>
            </a:pPr>
            <a:r>
              <a:rPr lang="en-US" sz="2400" dirty="0">
                <a:solidFill>
                  <a:srgbClr val="2C3E50"/>
                </a:solidFill>
                <a:effectLst>
                  <a:outerShdw blurRad="38100" dist="38100" dir="2700000" algn="tl">
                    <a:srgbClr val="000000">
                      <a:alpha val="43137"/>
                    </a:srgbClr>
                  </a:outerShdw>
                </a:effectLst>
                <a:latin typeface="Open Sans"/>
              </a:rPr>
              <a:t>Build Mobile App </a:t>
            </a:r>
            <a:r>
              <a:rPr lang="en-US" sz="2400" dirty="0" err="1">
                <a:solidFill>
                  <a:srgbClr val="2C3E50"/>
                </a:solidFill>
                <a:effectLst>
                  <a:outerShdw blurRad="38100" dist="38100" dir="2700000" algn="tl">
                    <a:srgbClr val="000000">
                      <a:alpha val="43137"/>
                    </a:srgbClr>
                  </a:outerShdw>
                </a:effectLst>
                <a:latin typeface="Open Sans"/>
              </a:rPr>
              <a:t>gọi</a:t>
            </a:r>
            <a:r>
              <a:rPr lang="en-US" sz="2400" dirty="0">
                <a:solidFill>
                  <a:srgbClr val="2C3E50"/>
                </a:solidFill>
                <a:effectLst>
                  <a:outerShdw blurRad="38100" dist="38100" dir="2700000" algn="tl">
                    <a:srgbClr val="000000">
                      <a:alpha val="43137"/>
                    </a:srgbClr>
                  </a:outerShdw>
                </a:effectLst>
                <a:latin typeface="Open Sans"/>
              </a:rPr>
              <a:t> API </a:t>
            </a:r>
            <a:r>
              <a:rPr lang="en-US" sz="2400" dirty="0" err="1">
                <a:solidFill>
                  <a:srgbClr val="2C3E50"/>
                </a:solidFill>
                <a:effectLst>
                  <a:outerShdw blurRad="38100" dist="38100" dir="2700000" algn="tl">
                    <a:srgbClr val="000000">
                      <a:alpha val="43137"/>
                    </a:srgbClr>
                  </a:outerShdw>
                </a:effectLst>
                <a:latin typeface="Open Sans"/>
              </a:rPr>
              <a:t>thay</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vì</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chỉ</a:t>
            </a:r>
            <a:r>
              <a:rPr lang="en-US" sz="2400" dirty="0">
                <a:solidFill>
                  <a:srgbClr val="2C3E50"/>
                </a:solidFill>
                <a:effectLst>
                  <a:outerShdw blurRad="38100" dist="38100" dir="2700000" algn="tl">
                    <a:srgbClr val="000000">
                      <a:alpha val="43137"/>
                    </a:srgbClr>
                  </a:outerShdw>
                </a:effectLst>
                <a:latin typeface="Open Sans"/>
              </a:rPr>
              <a:t> </a:t>
            </a:r>
            <a:r>
              <a:rPr lang="en-US" sz="2400" dirty="0" err="1">
                <a:solidFill>
                  <a:srgbClr val="2C3E50"/>
                </a:solidFill>
                <a:effectLst>
                  <a:outerShdw blurRad="38100" dist="38100" dir="2700000" algn="tl">
                    <a:srgbClr val="000000">
                      <a:alpha val="43137"/>
                    </a:srgbClr>
                  </a:outerShdw>
                </a:effectLst>
                <a:latin typeface="Open Sans"/>
              </a:rPr>
              <a:t>dùng</a:t>
            </a:r>
            <a:r>
              <a:rPr lang="en-US" sz="2400" dirty="0">
                <a:solidFill>
                  <a:srgbClr val="2C3E50"/>
                </a:solidFill>
                <a:effectLst>
                  <a:outerShdw blurRad="38100" dist="38100" dir="2700000" algn="tl">
                    <a:srgbClr val="000000">
                      <a:alpha val="43137"/>
                    </a:srgbClr>
                  </a:outerShdw>
                </a:effectLst>
                <a:latin typeface="Open Sans"/>
              </a:rPr>
              <a:t> Web</a:t>
            </a:r>
          </a:p>
        </p:txBody>
      </p:sp>
    </p:spTree>
    <p:extLst>
      <p:ext uri="{BB962C8B-B14F-4D97-AF65-F5344CB8AC3E}">
        <p14:creationId xmlns:p14="http://schemas.microsoft.com/office/powerpoint/2010/main" val="260430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B2D548A-D76A-5EE6-78C7-1710C0D5B51D}"/>
            </a:ext>
          </a:extLst>
        </p:cNvPr>
        <p:cNvGrpSpPr/>
        <p:nvPr/>
      </p:nvGrpSpPr>
      <p:grpSpPr>
        <a:xfrm>
          <a:off x="0" y="0"/>
          <a:ext cx="0" cy="0"/>
          <a:chOff x="0" y="0"/>
          <a:chExt cx="0" cy="0"/>
        </a:xfrm>
      </p:grpSpPr>
      <p:pic>
        <p:nvPicPr>
          <p:cNvPr id="3" name="Picture 2" descr="image.png">
            <a:extLst>
              <a:ext uri="{FF2B5EF4-FFF2-40B4-BE49-F238E27FC236}">
                <a16:creationId xmlns:a16="http://schemas.microsoft.com/office/drawing/2014/main" id="{ECA183A2-64D1-1986-C2B5-5AAC658B78DB}"/>
              </a:ext>
            </a:extLst>
          </p:cNvPr>
          <p:cNvPicPr>
            <a:picLocks noChangeAspect="1"/>
          </p:cNvPicPr>
          <p:nvPr/>
        </p:nvPicPr>
        <p:blipFill>
          <a:blip r:embed="rId3"/>
          <a:stretch>
            <a:fillRect/>
          </a:stretch>
        </p:blipFill>
        <p:spPr>
          <a:xfrm>
            <a:off x="726282" y="648478"/>
            <a:ext cx="10906125" cy="5442759"/>
          </a:xfrm>
          <a:prstGeom prst="rect">
            <a:avLst/>
          </a:prstGeom>
        </p:spPr>
      </p:pic>
      <p:sp>
        <p:nvSpPr>
          <p:cNvPr id="4" name="Rectangle 3">
            <a:extLst>
              <a:ext uri="{FF2B5EF4-FFF2-40B4-BE49-F238E27FC236}">
                <a16:creationId xmlns:a16="http://schemas.microsoft.com/office/drawing/2014/main" id="{6AE0D2E7-BED5-19B6-4C23-DE81FB71A204}"/>
              </a:ext>
            </a:extLst>
          </p:cNvPr>
          <p:cNvSpPr/>
          <p:nvPr/>
        </p:nvSpPr>
        <p:spPr>
          <a:xfrm>
            <a:off x="0" y="6781800"/>
            <a:ext cx="12192000" cy="76200"/>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2683EE8A-ADE4-651C-BEB3-95D858DD1EC9}"/>
              </a:ext>
            </a:extLst>
          </p:cNvPr>
          <p:cNvSpPr/>
          <p:nvPr/>
        </p:nvSpPr>
        <p:spPr>
          <a:xfrm>
            <a:off x="0" y="0"/>
            <a:ext cx="12192000" cy="76200"/>
          </a:xfrm>
          <a:prstGeom prst="rect">
            <a:avLst/>
          </a:prstGeom>
          <a:solidFill>
            <a:srgbClr val="0056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FB9FBEC-F0B1-68EF-F0F9-43E0CF966EE3}"/>
              </a:ext>
            </a:extLst>
          </p:cNvPr>
          <p:cNvSpPr txBox="1"/>
          <p:nvPr/>
        </p:nvSpPr>
        <p:spPr>
          <a:xfrm>
            <a:off x="1306146" y="1677818"/>
            <a:ext cx="5689458" cy="2462213"/>
          </a:xfrm>
          <a:prstGeom prst="rect">
            <a:avLst/>
          </a:prstGeom>
          <a:noFill/>
        </p:spPr>
        <p:txBody>
          <a:bodyPr wrap="square" lIns="0" tIns="0" rIns="0" bIns="0" anchor="t">
            <a:spAutoFit/>
          </a:bodyPr>
          <a:lstStyle/>
          <a:p>
            <a:pPr algn="l"/>
            <a:r>
              <a:rPr lang="vi-VN" sz="8000" b="1" dirty="0">
                <a:solidFill>
                  <a:srgbClr val="FFFFFF"/>
                </a:solidFill>
                <a:effectLst>
                  <a:outerShdw blurRad="38100" dist="38100" dir="2700000" algn="tl">
                    <a:srgbClr val="000000">
                      <a:alpha val="43137"/>
                    </a:srgbClr>
                  </a:outerShdw>
                </a:effectLst>
                <a:latin typeface="Montserrat"/>
              </a:rPr>
              <a:t>Trân trọng cảm ơn</a:t>
            </a:r>
            <a:endParaRPr sz="8000" b="1" i="0" u="none" dirty="0">
              <a:solidFill>
                <a:srgbClr val="FFFFFF"/>
              </a:solidFill>
              <a:effectLst>
                <a:outerShdw blurRad="38100" dist="38100" dir="2700000" algn="tl">
                  <a:srgbClr val="000000">
                    <a:alpha val="43137"/>
                  </a:srgbClr>
                </a:outerShdw>
              </a:effectLst>
              <a:latin typeface="Montserrat"/>
            </a:endParaRPr>
          </a:p>
        </p:txBody>
      </p:sp>
      <p:sp>
        <p:nvSpPr>
          <p:cNvPr id="2" name="TextBox 1">
            <a:extLst>
              <a:ext uri="{FF2B5EF4-FFF2-40B4-BE49-F238E27FC236}">
                <a16:creationId xmlns:a16="http://schemas.microsoft.com/office/drawing/2014/main" id="{130123C4-ABBD-9E6C-AD30-78F889C75685}"/>
              </a:ext>
            </a:extLst>
          </p:cNvPr>
          <p:cNvSpPr txBox="1"/>
          <p:nvPr/>
        </p:nvSpPr>
        <p:spPr>
          <a:xfrm>
            <a:off x="1414905" y="5342046"/>
            <a:ext cx="2793111" cy="184666"/>
          </a:xfrm>
          <a:prstGeom prst="rect">
            <a:avLst/>
          </a:prstGeom>
          <a:noFill/>
        </p:spPr>
        <p:txBody>
          <a:bodyPr wrap="square" lIns="0" tIns="0" rIns="0" bIns="0" anchor="t">
            <a:spAutoFit/>
          </a:bodyPr>
          <a:lstStyle/>
          <a:p>
            <a:pPr algn="l"/>
            <a:r>
              <a:rPr lang="en-US" sz="1200" b="1" dirty="0" err="1">
                <a:solidFill>
                  <a:srgbClr val="FFFFFF"/>
                </a:solidFill>
                <a:effectLst>
                  <a:outerShdw blurRad="38100" dist="38100" dir="2700000" algn="tl">
                    <a:srgbClr val="000000">
                      <a:alpha val="43137"/>
                    </a:srgbClr>
                  </a:outerShdw>
                </a:effectLst>
                <a:latin typeface="Montserrat"/>
              </a:rPr>
              <a:t>Cảm</a:t>
            </a:r>
            <a:r>
              <a:rPr lang="en-US" sz="1200" b="1" dirty="0">
                <a:solidFill>
                  <a:srgbClr val="FFFFFF"/>
                </a:solidFill>
                <a:effectLst>
                  <a:outerShdw blurRad="38100" dist="38100" dir="2700000" algn="tl">
                    <a:srgbClr val="000000">
                      <a:alpha val="43137"/>
                    </a:srgbClr>
                  </a:outerShdw>
                </a:effectLst>
                <a:latin typeface="Montserrat"/>
              </a:rPr>
              <a:t> </a:t>
            </a:r>
            <a:r>
              <a:rPr lang="en-US" sz="1200" b="1" dirty="0" err="1">
                <a:solidFill>
                  <a:srgbClr val="FFFFFF"/>
                </a:solidFill>
                <a:effectLst>
                  <a:outerShdw blurRad="38100" dist="38100" dir="2700000" algn="tl">
                    <a:srgbClr val="000000">
                      <a:alpha val="43137"/>
                    </a:srgbClr>
                  </a:outerShdw>
                </a:effectLst>
                <a:latin typeface="Montserrat"/>
              </a:rPr>
              <a:t>ơn</a:t>
            </a:r>
            <a:r>
              <a:rPr lang="en-US" sz="1200" b="1" dirty="0">
                <a:solidFill>
                  <a:srgbClr val="FFFFFF"/>
                </a:solidFill>
                <a:effectLst>
                  <a:outerShdw blurRad="38100" dist="38100" dir="2700000" algn="tl">
                    <a:srgbClr val="000000">
                      <a:alpha val="43137"/>
                    </a:srgbClr>
                  </a:outerShdw>
                </a:effectLst>
                <a:latin typeface="Montserrat"/>
              </a:rPr>
              <a:t> </a:t>
            </a:r>
            <a:r>
              <a:rPr lang="en-US" sz="1200" b="1" dirty="0" err="1">
                <a:solidFill>
                  <a:srgbClr val="FFFFFF"/>
                </a:solidFill>
                <a:effectLst>
                  <a:outerShdw blurRad="38100" dist="38100" dir="2700000" algn="tl">
                    <a:srgbClr val="000000">
                      <a:alpha val="43137"/>
                    </a:srgbClr>
                  </a:outerShdw>
                </a:effectLst>
                <a:latin typeface="Montserrat"/>
              </a:rPr>
              <a:t>người</a:t>
            </a:r>
            <a:r>
              <a:rPr lang="en-US" sz="1200" b="1" dirty="0">
                <a:solidFill>
                  <a:srgbClr val="FFFFFF"/>
                </a:solidFill>
                <a:effectLst>
                  <a:outerShdw blurRad="38100" dist="38100" dir="2700000" algn="tl">
                    <a:srgbClr val="000000">
                      <a:alpha val="43137"/>
                    </a:srgbClr>
                  </a:outerShdw>
                </a:effectLst>
                <a:latin typeface="Montserrat"/>
              </a:rPr>
              <a:t> </a:t>
            </a:r>
            <a:r>
              <a:rPr lang="en-US" sz="1200" b="1" dirty="0" err="1">
                <a:solidFill>
                  <a:srgbClr val="FFFFFF"/>
                </a:solidFill>
                <a:effectLst>
                  <a:outerShdw blurRad="38100" dist="38100" dir="2700000" algn="tl">
                    <a:srgbClr val="000000">
                      <a:alpha val="43137"/>
                    </a:srgbClr>
                  </a:outerShdw>
                </a:effectLst>
                <a:latin typeface="Montserrat"/>
              </a:rPr>
              <a:t>đã</a:t>
            </a:r>
            <a:r>
              <a:rPr lang="en-US" sz="1200" b="1" dirty="0">
                <a:solidFill>
                  <a:srgbClr val="FFFFFF"/>
                </a:solidFill>
                <a:effectLst>
                  <a:outerShdw blurRad="38100" dist="38100" dir="2700000" algn="tl">
                    <a:srgbClr val="000000">
                      <a:alpha val="43137"/>
                    </a:srgbClr>
                  </a:outerShdw>
                </a:effectLst>
                <a:latin typeface="Montserrat"/>
              </a:rPr>
              <a:t> </a:t>
            </a:r>
            <a:r>
              <a:rPr lang="en-US" sz="1200" b="1" dirty="0" err="1">
                <a:solidFill>
                  <a:srgbClr val="FFFFFF"/>
                </a:solidFill>
                <a:effectLst>
                  <a:outerShdw blurRad="38100" dist="38100" dir="2700000" algn="tl">
                    <a:srgbClr val="000000">
                      <a:alpha val="43137"/>
                    </a:srgbClr>
                  </a:outerShdw>
                </a:effectLst>
                <a:latin typeface="Montserrat"/>
              </a:rPr>
              <a:t>thức</a:t>
            </a:r>
            <a:r>
              <a:rPr lang="en-US" sz="1200" b="1" dirty="0">
                <a:solidFill>
                  <a:srgbClr val="FFFFFF"/>
                </a:solidFill>
                <a:effectLst>
                  <a:outerShdw blurRad="38100" dist="38100" dir="2700000" algn="tl">
                    <a:srgbClr val="000000">
                      <a:alpha val="43137"/>
                    </a:srgbClr>
                  </a:outerShdw>
                </a:effectLst>
                <a:latin typeface="Montserrat"/>
              </a:rPr>
              <a:t> </a:t>
            </a:r>
            <a:r>
              <a:rPr lang="en-US" sz="1200" b="1" dirty="0" err="1">
                <a:solidFill>
                  <a:srgbClr val="FFFFFF"/>
                </a:solidFill>
                <a:effectLst>
                  <a:outerShdw blurRad="38100" dist="38100" dir="2700000" algn="tl">
                    <a:srgbClr val="000000">
                      <a:alpha val="43137"/>
                    </a:srgbClr>
                  </a:outerShdw>
                </a:effectLst>
                <a:latin typeface="Montserrat"/>
              </a:rPr>
              <a:t>cùng</a:t>
            </a:r>
            <a:r>
              <a:rPr lang="en-US" sz="1200" b="1" dirty="0">
                <a:solidFill>
                  <a:srgbClr val="FFFFFF"/>
                </a:solidFill>
                <a:effectLst>
                  <a:outerShdw blurRad="38100" dist="38100" dir="2700000" algn="tl">
                    <a:srgbClr val="000000">
                      <a:alpha val="43137"/>
                    </a:srgbClr>
                  </a:outerShdw>
                </a:effectLst>
                <a:latin typeface="Montserrat"/>
              </a:rPr>
              <a:t> </a:t>
            </a:r>
            <a:r>
              <a:rPr lang="en-US" sz="1200" b="1" dirty="0" err="1">
                <a:solidFill>
                  <a:srgbClr val="FFFFFF"/>
                </a:solidFill>
                <a:effectLst>
                  <a:outerShdw blurRad="38100" dist="38100" dir="2700000" algn="tl">
                    <a:srgbClr val="000000">
                      <a:alpha val="43137"/>
                    </a:srgbClr>
                  </a:outerShdw>
                </a:effectLst>
                <a:latin typeface="Montserrat"/>
              </a:rPr>
              <a:t>tôi</a:t>
            </a:r>
            <a:endParaRPr sz="1200" b="1" i="0" u="none" dirty="0">
              <a:solidFill>
                <a:srgbClr val="FFFFFF"/>
              </a:solidFill>
              <a:effectLst>
                <a:outerShdw blurRad="38100" dist="38100" dir="2700000" algn="tl">
                  <a:srgbClr val="000000">
                    <a:alpha val="43137"/>
                  </a:srgbClr>
                </a:outerShdw>
              </a:effectLst>
              <a:latin typeface="Montserrat"/>
            </a:endParaRPr>
          </a:p>
        </p:txBody>
      </p:sp>
    </p:spTree>
    <p:extLst>
      <p:ext uri="{BB962C8B-B14F-4D97-AF65-F5344CB8AC3E}">
        <p14:creationId xmlns:p14="http://schemas.microsoft.com/office/powerpoint/2010/main" val="39889257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2220</Words>
  <Application>Microsoft Office PowerPoint</Application>
  <PresentationFormat>Widescreen</PresentationFormat>
  <Paragraphs>180</Paragraphs>
  <Slides>37</Slides>
  <Notes>4</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monospace</vt:lpstr>
      <vt:lpstr>Arial</vt:lpstr>
      <vt:lpstr>Calibri</vt:lpstr>
      <vt:lpstr>Montserrat</vt:lpstr>
      <vt:lpstr>Open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Hồ Thuận Khang</cp:lastModifiedBy>
  <cp:revision>160</cp:revision>
  <dcterms:created xsi:type="dcterms:W3CDTF">2013-01-27T09:14:16Z</dcterms:created>
  <dcterms:modified xsi:type="dcterms:W3CDTF">2026-08-23T01:08:44Z</dcterms:modified>
  <cp:category/>
</cp:coreProperties>
</file>