
<file path=[Content_Types].xml><?xml version="1.0" encoding="utf-8"?>
<Types xmlns="http://schemas.openxmlformats.org/package/2006/content-types">
  <Default Extension="jpeg" ContentType="image/jpeg"/>
  <Default Extension="org&amp;utm_campaign=parser&amp;utm_content=thumbnail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87" r:id="rId3"/>
    <p:sldId id="288" r:id="rId4"/>
    <p:sldId id="258" r:id="rId5"/>
    <p:sldId id="259" r:id="rId6"/>
    <p:sldId id="289" r:id="rId7"/>
    <p:sldId id="260" r:id="rId8"/>
    <p:sldId id="285" r:id="rId9"/>
    <p:sldId id="291" r:id="rId10"/>
    <p:sldId id="290" r:id="rId11"/>
    <p:sldId id="286" r:id="rId12"/>
    <p:sldId id="292" r:id="rId13"/>
    <p:sldId id="293" r:id="rId14"/>
    <p:sldId id="261" r:id="rId15"/>
    <p:sldId id="262" r:id="rId16"/>
    <p:sldId id="267" r:id="rId17"/>
    <p:sldId id="263" r:id="rId18"/>
    <p:sldId id="264" r:id="rId19"/>
    <p:sldId id="265" r:id="rId20"/>
    <p:sldId id="266" r:id="rId21"/>
    <p:sldId id="296" r:id="rId22"/>
    <p:sldId id="268" r:id="rId23"/>
    <p:sldId id="269" r:id="rId24"/>
    <p:sldId id="270" r:id="rId25"/>
    <p:sldId id="271" r:id="rId26"/>
    <p:sldId id="297" r:id="rId27"/>
    <p:sldId id="273" r:id="rId28"/>
    <p:sldId id="274" r:id="rId29"/>
    <p:sldId id="275" r:id="rId30"/>
    <p:sldId id="295" r:id="rId31"/>
    <p:sldId id="294" r:id="rId32"/>
    <p:sldId id="279" r:id="rId33"/>
    <p:sldId id="280" r:id="rId34"/>
    <p:sldId id="283" r:id="rId35"/>
    <p:sldId id="284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94660"/>
  </p:normalViewPr>
  <p:slideViewPr>
    <p:cSldViewPr snapToGrid="0" snapToObjects="1">
      <p:cViewPr varScale="1">
        <p:scale>
          <a:sx n="60" d="100"/>
          <a:sy n="60" d="100"/>
        </p:scale>
        <p:origin x="820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1420EDB-22C1-4FCE-A358-5DBB7D2A29B2}" type="doc">
      <dgm:prSet loTypeId="urn:microsoft.com/office/officeart/2005/8/layout/process4" loCatId="process" qsTypeId="urn:microsoft.com/office/officeart/2005/8/quickstyle/3d3#1" qsCatId="3D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2352A6AA-2AAD-4F84-AFCB-ADFFF4030103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đề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tài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73E7272C-D4E6-4440-A8A2-A6B0A5F4AFCC}" type="parTrans" cxnId="{7C4139E2-93A7-4D1F-BEB7-A9A52C17B8B2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29CD26F1-959D-4AFE-9645-0D09C9221E7D}" type="sibTrans" cxnId="{7C4139E2-93A7-4D1F-BEB7-A9A52C17B8B2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2D19742F-3A4D-4C42-AA18-40223EFC6B1D}">
      <dgm:prSet phldrT="[Text]" phldr="0" custT="1"/>
      <dgm:spPr/>
      <dgm:t>
        <a:bodyPr/>
        <a:lstStyle/>
        <a:p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xây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dựng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hệ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thống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C04101D4-E84F-4CA8-B8CE-3747825DCF2E}" type="parTrans" cxnId="{B0CDBF68-7FFD-4C59-AA77-5A5DD0B7E5FA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F341BC92-3D2B-4AD4-90C5-E69D6244E442}" type="sibTrans" cxnId="{B0CDBF68-7FFD-4C59-AA77-5A5DD0B7E5FA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EDD0E8A1-3B83-4E0C-B6F2-3EA5C630A815}">
      <dgm:prSet phldrT="[Text]" custT="1"/>
      <dgm:spPr/>
      <dgm:t>
        <a:bodyPr/>
        <a:lstStyle/>
        <a:p>
          <a:pPr>
            <a:buNone/>
          </a:pP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train &amp; test model</a:t>
          </a:r>
        </a:p>
      </dgm:t>
    </dgm:pt>
    <dgm:pt modelId="{EFC125B0-FCDF-4403-9AA7-E6B64B2DE984}" type="parTrans" cxnId="{14592258-C4B8-4487-A8AD-EC666BA03900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B1856CD8-D09E-41FA-B6BB-95AE66D40132}" type="sibTrans" cxnId="{14592258-C4B8-4487-A8AD-EC666BA03900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EF10F4D8-53CB-4EB4-BE41-EDAE0CFA7D79}">
      <dgm:prSet phldrT="[Text]" phldr="0" custT="1"/>
      <dgm:spPr>
        <a:solidFill>
          <a:schemeClr val="accent2"/>
        </a:solidFill>
      </dgm:spPr>
      <dgm:t>
        <a:bodyPr/>
        <a:lstStyle/>
        <a:p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công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nghệ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84F60894-C81B-4558-BEAE-E009BD88B8D0}" type="parTrans" cxnId="{40DEFA53-8063-49AB-9B29-85F8B9A8C598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7D4ADEA0-9B5B-4415-8AC3-22D94F117D90}" type="sibTrans" cxnId="{40DEFA53-8063-49AB-9B29-85F8B9A8C598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C90727E6-D924-4E56-A211-3551FC5B0643}">
      <dgm:prSet phldrT="[Text]" custT="1"/>
      <dgm:spPr/>
      <dgm:t>
        <a:bodyPr/>
        <a:lstStyle/>
        <a:p>
          <a:pPr>
            <a:buNone/>
          </a:pP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Triển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khai</a:t>
          </a: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REST API</a:t>
          </a:r>
        </a:p>
      </dgm:t>
    </dgm:pt>
    <dgm:pt modelId="{58D4A72A-83F6-4C1F-8CF5-B4F9E3F89AF8}" type="parTrans" cxnId="{3928C3F1-FB84-4FE4-A91C-0441CAA5927E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4853444D-E387-4E6E-9668-7DFE9389E20E}" type="sibTrans" cxnId="{3928C3F1-FB84-4FE4-A91C-0441CAA5927E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B4E2C68A-A454-4E23-8308-CE99A238E62F}">
      <dgm:prSet phldrT="[Text]" custT="1"/>
      <dgm:spPr/>
      <dgm:t>
        <a:bodyPr/>
        <a:lstStyle/>
        <a:p>
          <a:pPr>
            <a:buNone/>
          </a:pPr>
          <a:r>
            <a:rPr lang="en-US" sz="2400" b="1" strike="noStrike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Demo</a:t>
          </a:r>
        </a:p>
      </dgm:t>
    </dgm:pt>
    <dgm:pt modelId="{8C4C6C98-4272-4F00-BC66-D51D39C85793}" type="parTrans" cxnId="{8E125F9B-8C21-48B6-9948-41806FE96A74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790FC3AE-906C-4543-98C4-43C46DEFBE05}" type="sibTrans" cxnId="{8E125F9B-8C21-48B6-9948-41806FE96A74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AE738A90-D04A-4A94-9651-5CFD996D20F3}">
      <dgm:prSet phldrT="[Text]" custT="1"/>
      <dgm:spPr>
        <a:solidFill>
          <a:schemeClr val="accent2"/>
        </a:solidFill>
      </dgm:spPr>
      <dgm:t>
        <a:bodyPr/>
        <a:lstStyle/>
        <a:p>
          <a:pPr>
            <a:buNone/>
          </a:pPr>
          <a:r>
            <a:rPr lang="en-US" sz="2400" b="1" strike="noStrike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Kết luận</a:t>
          </a:r>
          <a:endParaRPr lang="en-US" sz="2400" b="1" strike="noStrike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E41FA83B-DD62-4131-91E4-E3AA59C36FA5}" type="parTrans" cxnId="{6ACF5453-CF85-4FCF-B9F3-6C9A7EC73191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170DF1DE-FFDE-4BAE-8B0C-7D13BBED5C58}" type="sibTrans" cxnId="{6ACF5453-CF85-4FCF-B9F3-6C9A7EC73191}">
      <dgm:prSet/>
      <dgm:spPr/>
      <dgm:t>
        <a:bodyPr/>
        <a:lstStyle/>
        <a:p>
          <a:endParaRPr lang="en-US" sz="2400" b="1" strike="noStrike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gm:t>
    </dgm:pt>
    <dgm:pt modelId="{9A7F3141-8DED-4826-8418-E7B55F6FCE34}" type="pres">
      <dgm:prSet presAssocID="{91420EDB-22C1-4FCE-A358-5DBB7D2A29B2}" presName="Name0" presStyleCnt="0">
        <dgm:presLayoutVars>
          <dgm:dir/>
          <dgm:animLvl val="lvl"/>
          <dgm:resizeHandles val="exact"/>
        </dgm:presLayoutVars>
      </dgm:prSet>
      <dgm:spPr/>
    </dgm:pt>
    <dgm:pt modelId="{0709C827-ED98-4D3D-9423-558B565327B2}" type="pres">
      <dgm:prSet presAssocID="{AE738A90-D04A-4A94-9651-5CFD996D20F3}" presName="boxAndChildren" presStyleCnt="0"/>
      <dgm:spPr/>
    </dgm:pt>
    <dgm:pt modelId="{D8EDBD8D-ECB8-46E9-A5DA-F0A4CF117E28}" type="pres">
      <dgm:prSet presAssocID="{AE738A90-D04A-4A94-9651-5CFD996D20F3}" presName="parentTextBox" presStyleLbl="node1" presStyleIdx="0" presStyleCnt="7"/>
      <dgm:spPr/>
    </dgm:pt>
    <dgm:pt modelId="{47CA4A0E-03AB-4728-ADDC-02B48235792F}" type="pres">
      <dgm:prSet presAssocID="{790FC3AE-906C-4543-98C4-43C46DEFBE05}" presName="sp" presStyleCnt="0"/>
      <dgm:spPr/>
    </dgm:pt>
    <dgm:pt modelId="{4890F0C3-350D-4976-B7B3-462FBD6B1076}" type="pres">
      <dgm:prSet presAssocID="{B4E2C68A-A454-4E23-8308-CE99A238E62F}" presName="arrowAndChildren" presStyleCnt="0"/>
      <dgm:spPr/>
    </dgm:pt>
    <dgm:pt modelId="{A7C96FD0-4CEA-43C3-A2E4-4968404DC69C}" type="pres">
      <dgm:prSet presAssocID="{B4E2C68A-A454-4E23-8308-CE99A238E62F}" presName="parentTextArrow" presStyleLbl="node1" presStyleIdx="1" presStyleCnt="7"/>
      <dgm:spPr/>
    </dgm:pt>
    <dgm:pt modelId="{41344F96-A734-4B02-A053-B2524BF98515}" type="pres">
      <dgm:prSet presAssocID="{4853444D-E387-4E6E-9668-7DFE9389E20E}" presName="sp" presStyleCnt="0"/>
      <dgm:spPr/>
    </dgm:pt>
    <dgm:pt modelId="{44493E20-AA06-44DB-9FC8-237BE7843782}" type="pres">
      <dgm:prSet presAssocID="{C90727E6-D924-4E56-A211-3551FC5B0643}" presName="arrowAndChildren" presStyleCnt="0"/>
      <dgm:spPr/>
    </dgm:pt>
    <dgm:pt modelId="{7E8D0099-E76E-416E-9C94-D5EF5A88B87D}" type="pres">
      <dgm:prSet presAssocID="{C90727E6-D924-4E56-A211-3551FC5B0643}" presName="parentTextArrow" presStyleLbl="node1" presStyleIdx="2" presStyleCnt="7"/>
      <dgm:spPr/>
    </dgm:pt>
    <dgm:pt modelId="{9392226C-F060-4596-BD5C-6012E2C97643}" type="pres">
      <dgm:prSet presAssocID="{B1856CD8-D09E-41FA-B6BB-95AE66D40132}" presName="sp" presStyleCnt="0"/>
      <dgm:spPr/>
    </dgm:pt>
    <dgm:pt modelId="{069A158D-8572-4091-B962-A156993FD509}" type="pres">
      <dgm:prSet presAssocID="{EDD0E8A1-3B83-4E0C-B6F2-3EA5C630A815}" presName="arrowAndChildren" presStyleCnt="0"/>
      <dgm:spPr/>
    </dgm:pt>
    <dgm:pt modelId="{ABAC1CA6-B206-42DC-838B-1CF111D326EF}" type="pres">
      <dgm:prSet presAssocID="{EDD0E8A1-3B83-4E0C-B6F2-3EA5C630A815}" presName="parentTextArrow" presStyleLbl="node1" presStyleIdx="3" presStyleCnt="7"/>
      <dgm:spPr/>
    </dgm:pt>
    <dgm:pt modelId="{470C8CA2-16AF-47FD-819E-741B5DA836F8}" type="pres">
      <dgm:prSet presAssocID="{F341BC92-3D2B-4AD4-90C5-E69D6244E442}" presName="sp" presStyleCnt="0"/>
      <dgm:spPr/>
    </dgm:pt>
    <dgm:pt modelId="{D3F7A5E0-1D4C-4E27-86E8-E6A7B9B9D593}" type="pres">
      <dgm:prSet presAssocID="{2D19742F-3A4D-4C42-AA18-40223EFC6B1D}" presName="arrowAndChildren" presStyleCnt="0"/>
      <dgm:spPr/>
    </dgm:pt>
    <dgm:pt modelId="{D971D6C5-1A5F-463C-B98E-D4CE20528992}" type="pres">
      <dgm:prSet presAssocID="{2D19742F-3A4D-4C42-AA18-40223EFC6B1D}" presName="parentTextArrow" presStyleLbl="node1" presStyleIdx="4" presStyleCnt="7"/>
      <dgm:spPr/>
    </dgm:pt>
    <dgm:pt modelId="{EC33D5F5-58F2-4657-BAF9-9892B8726E59}" type="pres">
      <dgm:prSet presAssocID="{7D4ADEA0-9B5B-4415-8AC3-22D94F117D90}" presName="sp" presStyleCnt="0"/>
      <dgm:spPr/>
    </dgm:pt>
    <dgm:pt modelId="{B56B732F-AE90-4435-BA1D-B405ABF710BF}" type="pres">
      <dgm:prSet presAssocID="{EF10F4D8-53CB-4EB4-BE41-EDAE0CFA7D79}" presName="arrowAndChildren" presStyleCnt="0"/>
      <dgm:spPr/>
    </dgm:pt>
    <dgm:pt modelId="{C1952CA6-EE49-47C7-83B6-F8011A6D3F00}" type="pres">
      <dgm:prSet presAssocID="{EF10F4D8-53CB-4EB4-BE41-EDAE0CFA7D79}" presName="parentTextArrow" presStyleLbl="node1" presStyleIdx="5" presStyleCnt="7"/>
      <dgm:spPr/>
    </dgm:pt>
    <dgm:pt modelId="{6BD087D3-45DB-4F73-B43A-5A86A90034CA}" type="pres">
      <dgm:prSet presAssocID="{29CD26F1-959D-4AFE-9645-0D09C9221E7D}" presName="sp" presStyleCnt="0"/>
      <dgm:spPr/>
    </dgm:pt>
    <dgm:pt modelId="{9660EC91-A02B-4360-91AC-4D75A4797871}" type="pres">
      <dgm:prSet presAssocID="{2352A6AA-2AAD-4F84-AFCB-ADFFF4030103}" presName="arrowAndChildren" presStyleCnt="0"/>
      <dgm:spPr/>
    </dgm:pt>
    <dgm:pt modelId="{9643A3D9-84D1-4000-B3C0-256F610CF1ED}" type="pres">
      <dgm:prSet presAssocID="{2352A6AA-2AAD-4F84-AFCB-ADFFF4030103}" presName="parentTextArrow" presStyleLbl="node1" presStyleIdx="6" presStyleCnt="7"/>
      <dgm:spPr/>
    </dgm:pt>
  </dgm:ptLst>
  <dgm:cxnLst>
    <dgm:cxn modelId="{66154A0A-7F8D-4C52-8F11-02F997720D78}" type="presOf" srcId="{C90727E6-D924-4E56-A211-3551FC5B0643}" destId="{7E8D0099-E76E-416E-9C94-D5EF5A88B87D}" srcOrd="0" destOrd="0" presId="urn:microsoft.com/office/officeart/2005/8/layout/process4"/>
    <dgm:cxn modelId="{B0CDBF68-7FFD-4C59-AA77-5A5DD0B7E5FA}" srcId="{91420EDB-22C1-4FCE-A358-5DBB7D2A29B2}" destId="{2D19742F-3A4D-4C42-AA18-40223EFC6B1D}" srcOrd="2" destOrd="0" parTransId="{C04101D4-E84F-4CA8-B8CE-3747825DCF2E}" sibTransId="{F341BC92-3D2B-4AD4-90C5-E69D6244E442}"/>
    <dgm:cxn modelId="{2FFAAF6D-9D32-46B0-A156-FDC57AE76589}" type="presOf" srcId="{2352A6AA-2AAD-4F84-AFCB-ADFFF4030103}" destId="{9643A3D9-84D1-4000-B3C0-256F610CF1ED}" srcOrd="0" destOrd="0" presId="urn:microsoft.com/office/officeart/2005/8/layout/process4"/>
    <dgm:cxn modelId="{6ACF5453-CF85-4FCF-B9F3-6C9A7EC73191}" srcId="{91420EDB-22C1-4FCE-A358-5DBB7D2A29B2}" destId="{AE738A90-D04A-4A94-9651-5CFD996D20F3}" srcOrd="6" destOrd="0" parTransId="{E41FA83B-DD62-4131-91E4-E3AA59C36FA5}" sibTransId="{170DF1DE-FFDE-4BAE-8B0C-7D13BBED5C58}"/>
    <dgm:cxn modelId="{40DEFA53-8063-49AB-9B29-85F8B9A8C598}" srcId="{91420EDB-22C1-4FCE-A358-5DBB7D2A29B2}" destId="{EF10F4D8-53CB-4EB4-BE41-EDAE0CFA7D79}" srcOrd="1" destOrd="0" parTransId="{84F60894-C81B-4558-BEAE-E009BD88B8D0}" sibTransId="{7D4ADEA0-9B5B-4415-8AC3-22D94F117D90}"/>
    <dgm:cxn modelId="{14592258-C4B8-4487-A8AD-EC666BA03900}" srcId="{91420EDB-22C1-4FCE-A358-5DBB7D2A29B2}" destId="{EDD0E8A1-3B83-4E0C-B6F2-3EA5C630A815}" srcOrd="3" destOrd="0" parTransId="{EFC125B0-FCDF-4403-9AA7-E6B64B2DE984}" sibTransId="{B1856CD8-D09E-41FA-B6BB-95AE66D40132}"/>
    <dgm:cxn modelId="{C3895896-A0C0-4978-867C-FFDCA31CBA0E}" type="presOf" srcId="{2D19742F-3A4D-4C42-AA18-40223EFC6B1D}" destId="{D971D6C5-1A5F-463C-B98E-D4CE20528992}" srcOrd="0" destOrd="0" presId="urn:microsoft.com/office/officeart/2005/8/layout/process4"/>
    <dgm:cxn modelId="{8E125F9B-8C21-48B6-9948-41806FE96A74}" srcId="{91420EDB-22C1-4FCE-A358-5DBB7D2A29B2}" destId="{B4E2C68A-A454-4E23-8308-CE99A238E62F}" srcOrd="5" destOrd="0" parTransId="{8C4C6C98-4272-4F00-BC66-D51D39C85793}" sibTransId="{790FC3AE-906C-4543-98C4-43C46DEFBE05}"/>
    <dgm:cxn modelId="{5B24F7A8-93E8-45E7-8590-F957D16F5D1A}" type="presOf" srcId="{AE738A90-D04A-4A94-9651-5CFD996D20F3}" destId="{D8EDBD8D-ECB8-46E9-A5DA-F0A4CF117E28}" srcOrd="0" destOrd="0" presId="urn:microsoft.com/office/officeart/2005/8/layout/process4"/>
    <dgm:cxn modelId="{79F02CA9-092C-4843-B3DC-85029D0D8C9E}" type="presOf" srcId="{EDD0E8A1-3B83-4E0C-B6F2-3EA5C630A815}" destId="{ABAC1CA6-B206-42DC-838B-1CF111D326EF}" srcOrd="0" destOrd="0" presId="urn:microsoft.com/office/officeart/2005/8/layout/process4"/>
    <dgm:cxn modelId="{EB9C99AB-3CC6-4212-83BB-1B49D05987C2}" type="presOf" srcId="{B4E2C68A-A454-4E23-8308-CE99A238E62F}" destId="{A7C96FD0-4CEA-43C3-A2E4-4968404DC69C}" srcOrd="0" destOrd="0" presId="urn:microsoft.com/office/officeart/2005/8/layout/process4"/>
    <dgm:cxn modelId="{228609B3-2D4C-4087-9051-5E357776964B}" type="presOf" srcId="{EF10F4D8-53CB-4EB4-BE41-EDAE0CFA7D79}" destId="{C1952CA6-EE49-47C7-83B6-F8011A6D3F00}" srcOrd="0" destOrd="0" presId="urn:microsoft.com/office/officeart/2005/8/layout/process4"/>
    <dgm:cxn modelId="{4FD41CB5-BFE8-48D9-9A15-6FF5350231C0}" type="presOf" srcId="{91420EDB-22C1-4FCE-A358-5DBB7D2A29B2}" destId="{9A7F3141-8DED-4826-8418-E7B55F6FCE34}" srcOrd="0" destOrd="0" presId="urn:microsoft.com/office/officeart/2005/8/layout/process4"/>
    <dgm:cxn modelId="{7C4139E2-93A7-4D1F-BEB7-A9A52C17B8B2}" srcId="{91420EDB-22C1-4FCE-A358-5DBB7D2A29B2}" destId="{2352A6AA-2AAD-4F84-AFCB-ADFFF4030103}" srcOrd="0" destOrd="0" parTransId="{73E7272C-D4E6-4440-A8A2-A6B0A5F4AFCC}" sibTransId="{29CD26F1-959D-4AFE-9645-0D09C9221E7D}"/>
    <dgm:cxn modelId="{3928C3F1-FB84-4FE4-A91C-0441CAA5927E}" srcId="{91420EDB-22C1-4FCE-A358-5DBB7D2A29B2}" destId="{C90727E6-D924-4E56-A211-3551FC5B0643}" srcOrd="4" destOrd="0" parTransId="{58D4A72A-83F6-4C1F-8CF5-B4F9E3F89AF8}" sibTransId="{4853444D-E387-4E6E-9668-7DFE9389E20E}"/>
    <dgm:cxn modelId="{4A3FF824-5DCA-427D-9DF6-C3C3E4DE5ED6}" type="presParOf" srcId="{9A7F3141-8DED-4826-8418-E7B55F6FCE34}" destId="{0709C827-ED98-4D3D-9423-558B565327B2}" srcOrd="0" destOrd="0" presId="urn:microsoft.com/office/officeart/2005/8/layout/process4"/>
    <dgm:cxn modelId="{480D0E39-1CD7-4C51-9394-60C3AC2161DB}" type="presParOf" srcId="{0709C827-ED98-4D3D-9423-558B565327B2}" destId="{D8EDBD8D-ECB8-46E9-A5DA-F0A4CF117E28}" srcOrd="0" destOrd="0" presId="urn:microsoft.com/office/officeart/2005/8/layout/process4"/>
    <dgm:cxn modelId="{55DF5C0F-A67E-4552-BCEF-75C6AB3D4E92}" type="presParOf" srcId="{9A7F3141-8DED-4826-8418-E7B55F6FCE34}" destId="{47CA4A0E-03AB-4728-ADDC-02B48235792F}" srcOrd="1" destOrd="0" presId="urn:microsoft.com/office/officeart/2005/8/layout/process4"/>
    <dgm:cxn modelId="{1F461C30-51BD-4749-8863-B54ACAFB9723}" type="presParOf" srcId="{9A7F3141-8DED-4826-8418-E7B55F6FCE34}" destId="{4890F0C3-350D-4976-B7B3-462FBD6B1076}" srcOrd="2" destOrd="0" presId="urn:microsoft.com/office/officeart/2005/8/layout/process4"/>
    <dgm:cxn modelId="{98EE6A82-BF56-49EA-8248-948F2E24E1D5}" type="presParOf" srcId="{4890F0C3-350D-4976-B7B3-462FBD6B1076}" destId="{A7C96FD0-4CEA-43C3-A2E4-4968404DC69C}" srcOrd="0" destOrd="0" presId="urn:microsoft.com/office/officeart/2005/8/layout/process4"/>
    <dgm:cxn modelId="{211E4781-7859-4774-A524-82E008CD9174}" type="presParOf" srcId="{9A7F3141-8DED-4826-8418-E7B55F6FCE34}" destId="{41344F96-A734-4B02-A053-B2524BF98515}" srcOrd="3" destOrd="0" presId="urn:microsoft.com/office/officeart/2005/8/layout/process4"/>
    <dgm:cxn modelId="{FE91B4CE-7970-4228-AAA4-32411B5B4FD9}" type="presParOf" srcId="{9A7F3141-8DED-4826-8418-E7B55F6FCE34}" destId="{44493E20-AA06-44DB-9FC8-237BE7843782}" srcOrd="4" destOrd="0" presId="urn:microsoft.com/office/officeart/2005/8/layout/process4"/>
    <dgm:cxn modelId="{55E94DB5-D9E8-40BD-9432-8A500DF474CD}" type="presParOf" srcId="{44493E20-AA06-44DB-9FC8-237BE7843782}" destId="{7E8D0099-E76E-416E-9C94-D5EF5A88B87D}" srcOrd="0" destOrd="0" presId="urn:microsoft.com/office/officeart/2005/8/layout/process4"/>
    <dgm:cxn modelId="{5056648F-CFFD-4A21-9557-3C24556C59D9}" type="presParOf" srcId="{9A7F3141-8DED-4826-8418-E7B55F6FCE34}" destId="{9392226C-F060-4596-BD5C-6012E2C97643}" srcOrd="5" destOrd="0" presId="urn:microsoft.com/office/officeart/2005/8/layout/process4"/>
    <dgm:cxn modelId="{CCF95E2A-00CC-4753-AAB1-39028BDBE514}" type="presParOf" srcId="{9A7F3141-8DED-4826-8418-E7B55F6FCE34}" destId="{069A158D-8572-4091-B962-A156993FD509}" srcOrd="6" destOrd="0" presId="urn:microsoft.com/office/officeart/2005/8/layout/process4"/>
    <dgm:cxn modelId="{A74809DF-973F-490C-8823-8092E60AA2C7}" type="presParOf" srcId="{069A158D-8572-4091-B962-A156993FD509}" destId="{ABAC1CA6-B206-42DC-838B-1CF111D326EF}" srcOrd="0" destOrd="0" presId="urn:microsoft.com/office/officeart/2005/8/layout/process4"/>
    <dgm:cxn modelId="{4C8F93F8-C7ED-4DBB-8BBE-E3A9FFC82C32}" type="presParOf" srcId="{9A7F3141-8DED-4826-8418-E7B55F6FCE34}" destId="{470C8CA2-16AF-47FD-819E-741B5DA836F8}" srcOrd="7" destOrd="0" presId="urn:microsoft.com/office/officeart/2005/8/layout/process4"/>
    <dgm:cxn modelId="{52CF9020-6A1A-4628-85C2-241CC5CF1E1A}" type="presParOf" srcId="{9A7F3141-8DED-4826-8418-E7B55F6FCE34}" destId="{D3F7A5E0-1D4C-4E27-86E8-E6A7B9B9D593}" srcOrd="8" destOrd="0" presId="urn:microsoft.com/office/officeart/2005/8/layout/process4"/>
    <dgm:cxn modelId="{B637FC1D-9EA3-4F4B-91EB-4E3797C4A137}" type="presParOf" srcId="{D3F7A5E0-1D4C-4E27-86E8-E6A7B9B9D593}" destId="{D971D6C5-1A5F-463C-B98E-D4CE20528992}" srcOrd="0" destOrd="0" presId="urn:microsoft.com/office/officeart/2005/8/layout/process4"/>
    <dgm:cxn modelId="{530D5662-387D-48F4-A880-2B80B49BE3D3}" type="presParOf" srcId="{9A7F3141-8DED-4826-8418-E7B55F6FCE34}" destId="{EC33D5F5-58F2-4657-BAF9-9892B8726E59}" srcOrd="9" destOrd="0" presId="urn:microsoft.com/office/officeart/2005/8/layout/process4"/>
    <dgm:cxn modelId="{E44CCADF-E443-47E5-AC7F-7434598A1508}" type="presParOf" srcId="{9A7F3141-8DED-4826-8418-E7B55F6FCE34}" destId="{B56B732F-AE90-4435-BA1D-B405ABF710BF}" srcOrd="10" destOrd="0" presId="urn:microsoft.com/office/officeart/2005/8/layout/process4"/>
    <dgm:cxn modelId="{F6B49C02-3AB8-41AB-8821-413A222EEE29}" type="presParOf" srcId="{B56B732F-AE90-4435-BA1D-B405ABF710BF}" destId="{C1952CA6-EE49-47C7-83B6-F8011A6D3F00}" srcOrd="0" destOrd="0" presId="urn:microsoft.com/office/officeart/2005/8/layout/process4"/>
    <dgm:cxn modelId="{5E942729-A180-4B84-B505-D35B7900FA75}" type="presParOf" srcId="{9A7F3141-8DED-4826-8418-E7B55F6FCE34}" destId="{6BD087D3-45DB-4F73-B43A-5A86A90034CA}" srcOrd="11" destOrd="0" presId="urn:microsoft.com/office/officeart/2005/8/layout/process4"/>
    <dgm:cxn modelId="{B0DB7F04-27D4-4C15-A102-1D0D30F426CC}" type="presParOf" srcId="{9A7F3141-8DED-4826-8418-E7B55F6FCE34}" destId="{9660EC91-A02B-4360-91AC-4D75A4797871}" srcOrd="12" destOrd="0" presId="urn:microsoft.com/office/officeart/2005/8/layout/process4"/>
    <dgm:cxn modelId="{FB08ACE0-E569-43C3-80D8-A197D92DA33A}" type="presParOf" srcId="{9660EC91-A02B-4360-91AC-4D75A4797871}" destId="{9643A3D9-84D1-4000-B3C0-256F610CF1ED}" srcOrd="0" destOrd="0" presId="urn:microsoft.com/office/officeart/2005/8/layout/process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EDBD8D-ECB8-46E9-A5DA-F0A4CF117E28}">
      <dsp:nvSpPr>
        <dsp:cNvPr id="0" name=""/>
        <dsp:cNvSpPr/>
      </dsp:nvSpPr>
      <dsp:spPr>
        <a:xfrm>
          <a:off x="0" y="6195371"/>
          <a:ext cx="6347534" cy="677956"/>
        </a:xfrm>
        <a:prstGeom prst="rect">
          <a:avLst/>
        </a:prstGeom>
        <a:solidFill>
          <a:schemeClr val="accent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Kết luận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>
        <a:off x="0" y="6195371"/>
        <a:ext cx="6347534" cy="677956"/>
      </dsp:txXfrm>
    </dsp:sp>
    <dsp:sp modelId="{A7C96FD0-4CEA-43C3-A2E4-4968404DC69C}">
      <dsp:nvSpPr>
        <dsp:cNvPr id="0" name=""/>
        <dsp:cNvSpPr/>
      </dsp:nvSpPr>
      <dsp:spPr>
        <a:xfrm rot="10800000">
          <a:off x="0" y="5162844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Demo</a:t>
          </a:r>
        </a:p>
      </dsp:txBody>
      <dsp:txXfrm rot="10800000">
        <a:off x="0" y="5162844"/>
        <a:ext cx="6347534" cy="677513"/>
      </dsp:txXfrm>
    </dsp:sp>
    <dsp:sp modelId="{7E8D0099-E76E-416E-9C94-D5EF5A88B87D}">
      <dsp:nvSpPr>
        <dsp:cNvPr id="0" name=""/>
        <dsp:cNvSpPr/>
      </dsp:nvSpPr>
      <dsp:spPr>
        <a:xfrm rot="10800000">
          <a:off x="0" y="4130317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Triển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khai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REST API</a:t>
          </a:r>
        </a:p>
      </dsp:txBody>
      <dsp:txXfrm rot="10800000">
        <a:off x="0" y="4130317"/>
        <a:ext cx="6347534" cy="677513"/>
      </dsp:txXfrm>
    </dsp:sp>
    <dsp:sp modelId="{ABAC1CA6-B206-42DC-838B-1CF111D326EF}">
      <dsp:nvSpPr>
        <dsp:cNvPr id="0" name=""/>
        <dsp:cNvSpPr/>
      </dsp:nvSpPr>
      <dsp:spPr>
        <a:xfrm rot="10800000">
          <a:off x="0" y="3097789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train &amp; test model</a:t>
          </a:r>
        </a:p>
      </dsp:txBody>
      <dsp:txXfrm rot="10800000">
        <a:off x="0" y="3097789"/>
        <a:ext cx="6347534" cy="677513"/>
      </dsp:txXfrm>
    </dsp:sp>
    <dsp:sp modelId="{D971D6C5-1A5F-463C-B98E-D4CE20528992}">
      <dsp:nvSpPr>
        <dsp:cNvPr id="0" name=""/>
        <dsp:cNvSpPr/>
      </dsp:nvSpPr>
      <dsp:spPr>
        <a:xfrm rot="10800000">
          <a:off x="0" y="2065262"/>
          <a:ext cx="6347534" cy="1042696"/>
        </a:xfrm>
        <a:prstGeom prst="upArrowCallou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Quá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trình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xây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dựng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hệ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thống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 rot="10800000">
        <a:off x="0" y="2065262"/>
        <a:ext cx="6347534" cy="677513"/>
      </dsp:txXfrm>
    </dsp:sp>
    <dsp:sp modelId="{C1952CA6-EE49-47C7-83B6-F8011A6D3F00}">
      <dsp:nvSpPr>
        <dsp:cNvPr id="0" name=""/>
        <dsp:cNvSpPr/>
      </dsp:nvSpPr>
      <dsp:spPr>
        <a:xfrm rot="10800000">
          <a:off x="0" y="1032735"/>
          <a:ext cx="6347534" cy="1042696"/>
        </a:xfrm>
        <a:prstGeom prst="upArrowCallout">
          <a:avLst/>
        </a:prstGeom>
        <a:solidFill>
          <a:schemeClr val="accent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công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nghệ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 rot="10800000">
        <a:off x="0" y="1032735"/>
        <a:ext cx="6347534" cy="677513"/>
      </dsp:txXfrm>
    </dsp:sp>
    <dsp:sp modelId="{9643A3D9-84D1-4000-B3C0-256F610CF1ED}">
      <dsp:nvSpPr>
        <dsp:cNvPr id="0" name=""/>
        <dsp:cNvSpPr/>
      </dsp:nvSpPr>
      <dsp:spPr>
        <a:xfrm rot="10800000">
          <a:off x="0" y="208"/>
          <a:ext cx="6347534" cy="1042696"/>
        </a:xfrm>
        <a:prstGeom prst="upArrowCallout">
          <a:avLst/>
        </a:prstGeom>
        <a:solidFill>
          <a:schemeClr val="accent2"/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170688" rIns="170688" bIns="170688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Giới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thiệu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đề</a:t>
          </a:r>
          <a:r>
            <a:rPr lang="en-US" sz="2400" b="1" strike="noStrike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 </a:t>
          </a:r>
          <a:r>
            <a:rPr lang="en-US" sz="2400" b="1" strike="noStrike" kern="1200" dirty="0" err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rPr>
            <a:t>tài</a:t>
          </a:r>
          <a:endParaRPr lang="en-US" sz="2400" b="1" strike="noStrike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Open Sans" panose="020B0606030504020204" pitchFamily="34" charset="0"/>
            <a:ea typeface="Open Sans" panose="020B0606030504020204" pitchFamily="34" charset="0"/>
            <a:cs typeface="Open Sans" panose="020B0606030504020204" pitchFamily="34" charset="0"/>
          </a:endParaRPr>
        </a:p>
      </dsp:txBody>
      <dsp:txXfrm rot="10800000">
        <a:off x="0" y="208"/>
        <a:ext cx="6347534" cy="67751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#1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1DDA1-CF24-47E0-B168-39F7F31B8D63}" type="datetimeFigureOut">
              <a:rPr lang="en-US" smtClean="0"/>
              <a:t>Wed 26/08/2026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B1AB3-8239-45CE-B65B-6FA3026A13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478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075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159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6D6A1-5007-058C-2716-4B6CB9487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5D0467-35D9-28A2-296D-9E78DE718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8544A3-73DA-1BE9-C950-553BCC95ED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6E44BC-D73C-47AF-B2E1-F8391A256D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3039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DAA8C-3C15-8774-C2B1-ACE5B5FA5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6F82B7-DFFD-E388-9D67-7E684421E9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56A188-213B-A56C-C6ED-1B4C7BD92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CF3244-20C2-1F7E-B99D-5744E9C0AD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B1AB3-8239-45CE-B65B-6FA3026A1302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8164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9138F-F192-488C-824A-7D8B4E7472EB}" type="datetime1">
              <a:rPr lang="en-US" smtClean="0"/>
              <a:t>Wed 26/08/2026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A26A-F886-412E-8B31-E0A2B59019B0}" type="datetime1">
              <a:rPr lang="en-US" smtClean="0"/>
              <a:t>Wed 26/08/2026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1A446-899A-4245-B328-03256BEE345D}" type="datetime1">
              <a:rPr lang="en-US" smtClean="0"/>
              <a:t>Wed 26/08/2026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CD892-C122-4073-89B2-DE46E0C464C1}" type="datetime1">
              <a:rPr lang="en-US" smtClean="0"/>
              <a:t>Wed 26/08/2026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810FD-9D03-46C4-B9F1-BF7A6E61A6A0}" type="datetime1">
              <a:rPr lang="en-US" smtClean="0"/>
              <a:t>Wed 26/08/2026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B9CC15-5DA5-420F-85B6-5DFBE28E7784}" type="datetime1">
              <a:rPr lang="en-US" smtClean="0"/>
              <a:t>Wed 26/08/2026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7CC9E-4702-4754-A9EE-704AFDC53973}" type="datetime1">
              <a:rPr lang="en-US" smtClean="0"/>
              <a:t>Wed 26/08/2026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DD41CA-3DBA-4222-B87D-017B0E8A8F93}" type="datetime1">
              <a:rPr lang="en-US" smtClean="0"/>
              <a:t>Wed 26/08/2026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449CE2-718A-4D67-A7D0-199D3AA2CA90}" type="datetime1">
              <a:rPr lang="en-US" smtClean="0"/>
              <a:t>Wed 26/08/2026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6A647D-8FE2-4407-AA62-AE2FC4406F10}" type="datetime1">
              <a:rPr lang="en-US" smtClean="0"/>
              <a:t>Wed 26/08/2026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4213E3-BB5E-4902-81EB-F5FF1D665E24}" type="datetime1">
              <a:rPr lang="en-US" smtClean="0"/>
              <a:t>Wed 26/08/2026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B03D72-D247-460F-ABD4-58A1C40F39B7}" type="datetime1">
              <a:rPr lang="en-US" smtClean="0"/>
              <a:t>Wed 26/08/2026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01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3.wannaphong.com/2020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ython3.wannaphong.com/2020/" TargetMode="Externa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org&amp;utm_campaign=parser&amp;utm_content=thumbnai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9.png"/><Relationship Id="rId4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2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10" Type="http://schemas.openxmlformats.org/officeDocument/2006/relationships/image" Target="../media/image55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9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0" y="1014412"/>
            <a:ext cx="12192000" cy="1462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759"/>
              </a:lnSpc>
            </a:pP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Phát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hiện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đối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tượng</a:t>
            </a:r>
            <a:r>
              <a:rPr lang="en-US"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có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thể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mở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rộng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với</a:t>
            </a:r>
            <a:r>
              <a:rPr sz="48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4800" b="1" i="0" u="none" dirty="0">
                <a:solidFill>
                  <a:srgbClr val="FFC107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YOLOv5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2667892"/>
            <a:ext cx="9525000" cy="3385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dirty="0">
                <a:solidFill>
                  <a:srgbClr val="546E7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Hồ Thuận Khang &amp; Nguyễn Chánh </a:t>
            </a:r>
            <a:r>
              <a:rPr lang="en-US" dirty="0" err="1">
                <a:solidFill>
                  <a:srgbClr val="546E7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Khôi</a:t>
            </a:r>
            <a:endParaRPr sz="1800" b="0" i="0" u="none" dirty="0">
              <a:solidFill>
                <a:srgbClr val="546E7A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E51E5-C36C-D60C-F78A-8762A9ABF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57EEE7-0759-0623-D1AF-387D9660D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0498" y="3131858"/>
            <a:ext cx="4711004" cy="35245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B8312-8391-2C3E-FEE9-D433112EA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BD3CB1-00B0-BA3E-36AC-B7A7EB375164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3FDD7F-50C7-EB53-6195-659AFC47ABBD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D83EF8-1752-BCB7-65FB-B68ED46C9499}"/>
              </a:ext>
            </a:extLst>
          </p:cNvPr>
          <p:cNvSpPr txBox="1"/>
          <p:nvPr/>
        </p:nvSpPr>
        <p:spPr>
          <a:xfrm>
            <a:off x="310718" y="393325"/>
            <a:ext cx="4438835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Trong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bài</a:t>
            </a:r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thuyết</a:t>
            </a:r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40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0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này</a:t>
            </a:r>
            <a:endParaRPr lang="en-US" sz="40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3D52701C-ADF7-0E7F-7656-D6AE2C6E5D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5288128"/>
              </p:ext>
            </p:extLst>
          </p:nvPr>
        </p:nvGraphicFramePr>
        <p:xfrm>
          <a:off x="5844466" y="0"/>
          <a:ext cx="6347534" cy="68735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359F8A-FF11-68D3-9C48-7247F90B26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965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65546-A97B-19C8-BEDF-6A51D7AE3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970377-7862-B546-749B-72EE65895BCA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0BF401-48E2-D0AF-636C-469F27D07832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883020-DA64-D59E-A5F9-1C65BC5937D4}"/>
              </a:ext>
            </a:extLst>
          </p:cNvPr>
          <p:cNvSpPr txBox="1"/>
          <p:nvPr/>
        </p:nvSpPr>
        <p:spPr>
          <a:xfrm>
            <a:off x="2510552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Giới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thiệu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đề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tài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0442FA-888D-8353-F2E0-58B6EA0E78BD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A95872-766F-BD36-2258-49238043C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751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Mục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tiêu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0125" y="1822576"/>
            <a:ext cx="4857750" cy="1237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linh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hoạt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Xây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dựng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dựa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trúc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mạnh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mẽ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0125" y="3420980"/>
            <a:ext cx="4857750" cy="207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Đa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dạng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mở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rộng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loại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(COCO,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VisDrone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ữ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tuỳ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2750" y="1840539"/>
            <a:ext cx="4857750" cy="12372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Triển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khai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Tạo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trả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trong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trực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tiếp</a:t>
            </a:r>
            <a:r>
              <a:rPr lang="en-US"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endParaRPr sz="24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62750" y="3545987"/>
            <a:ext cx="4857750" cy="1658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Tối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ưu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hạ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tầng</a:t>
            </a:r>
            <a:r>
              <a:rPr sz="24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dụng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triệt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sức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mạnh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cho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cả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quá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trình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huấn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luyện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 inference.</a:t>
            </a:r>
            <a:endParaRPr sz="24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851151"/>
            <a:ext cx="228600" cy="2476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3443623"/>
            <a:ext cx="200025" cy="2476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4125" y="1869114"/>
            <a:ext cx="228600" cy="247650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4125" y="3574562"/>
            <a:ext cx="228600" cy="247650"/>
          </a:xfrm>
          <a:prstGeom prst="rect">
            <a:avLst/>
          </a:prstGeom>
        </p:spPr>
      </p:pic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6E51683-1695-F53D-0BE4-51206D7A9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171700"/>
            <a:ext cx="3492549" cy="33909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171700"/>
            <a:ext cx="3492549" cy="33909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171700"/>
            <a:ext cx="3492549" cy="33909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Khả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năng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ứ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dụng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hực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tiễn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2457450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2544" y="3409950"/>
            <a:ext cx="2490311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Giám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sát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a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ninh</a:t>
            </a:r>
            <a:endParaRPr sz="21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7250" y="3876675"/>
            <a:ext cx="2921049" cy="1219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nhập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phương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tiện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theo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dõi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nghi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trong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thời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2457450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20828" y="3409950"/>
            <a:ext cx="275034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Bán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lẻ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hông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minh</a:t>
            </a:r>
            <a:endParaRPr sz="21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5549" y="3876675"/>
            <a:ext cx="292104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Đếm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lượng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tích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vi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mua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sắm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kiểm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tình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trạng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hóa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kệ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2457450"/>
            <a:ext cx="762000" cy="76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964185" y="3409950"/>
            <a:ext cx="1820227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Tự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động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hóa</a:t>
            </a:r>
            <a:endParaRPr sz="21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3849" y="3876675"/>
            <a:ext cx="292104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Kiểm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chất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lượng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sản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phẩm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dây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chuyền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loại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hàng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hóa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tại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kho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5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bãi</a:t>
            </a:r>
            <a:r>
              <a:rPr sz="15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logistic.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22437" y="2667000"/>
            <a:ext cx="390525" cy="3429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7" y="2667000"/>
            <a:ext cx="428625" cy="3429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9037" y="2667000"/>
            <a:ext cx="390525" cy="3429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B90D0598-8365-ABEF-C339-AC57C9A44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42DE6E-D5F3-C518-E406-2B828260F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9CAB962-4C6B-FA4F-78EA-48CF15F3166A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009600-6BDF-D42A-A65C-6ABAF9A28CA8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2A4B17-68C4-2CF7-3D12-8E622D92626F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Giới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thiệu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công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nghệ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9723B32-934D-CE00-2E56-43C2F54ED7B5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AB02D8-6813-A7E7-C19B-5B7692A04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321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866900"/>
            <a:ext cx="3492549" cy="4000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866900"/>
            <a:ext cx="3492549" cy="4000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866900"/>
            <a:ext cx="3492549" cy="4000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Giới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thiệu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công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nghệ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2152650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352" y="3105150"/>
            <a:ext cx="343539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Hạ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tầng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Cloud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57250" y="3571875"/>
            <a:ext cx="2921049" cy="20837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Google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trường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cung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miễn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phí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Google Drive: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Lưu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model &amp; </a:t>
            </a:r>
            <a:r>
              <a:rPr lang="en-US" sz="20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config.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2152650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10814" y="3105150"/>
            <a:ext cx="297037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Nền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tảng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49651" y="3571875"/>
            <a:ext cx="3492549" cy="13819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PyTorch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&amp; YOLOv5: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Train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object detection.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OpenCV: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Xử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ma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trận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bounding box.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2152650"/>
            <a:ext cx="762000" cy="76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47207" y="3105149"/>
            <a:ext cx="3373144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Kiến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trúc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Dịch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vụ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47355" y="3571875"/>
            <a:ext cx="3373145" cy="8250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</a:pPr>
            <a:r>
              <a:rPr sz="16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FastAPI</a:t>
            </a:r>
            <a:r>
              <a:rPr sz="16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6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Xây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16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dựng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</a:t>
            </a:r>
            <a:r>
              <a:rPr lang="en-US"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r>
              <a:rPr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16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</a:t>
            </a:r>
            <a:r>
              <a:rPr sz="16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</a:t>
            </a:r>
            <a:r>
              <a:rPr lang="en-US"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ublic website.</a:t>
            </a:r>
            <a:r>
              <a:rPr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16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Streamlit</a:t>
            </a:r>
            <a:r>
              <a:rPr sz="16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Giao </a:t>
            </a:r>
            <a:r>
              <a:rPr sz="16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Frontend</a:t>
            </a:r>
            <a:r>
              <a:rPr lang="en-US" sz="16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  <a:endParaRPr sz="16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46250" y="2362200"/>
            <a:ext cx="342900" cy="3429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24550" y="2362200"/>
            <a:ext cx="342900" cy="3429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59987" y="2362200"/>
            <a:ext cx="428625" cy="3429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894126BC-B62B-48EE-267B-4DA566A8A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B4FA43-8FB3-BC23-85DC-403137C290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ED8054-F10A-60B5-1CB8-DECA36D3674E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B5D106-A843-34BB-71CB-CC6123AA1653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D2C0B-6C58-77E7-2198-E7A89229FAE9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REST 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C6D44C-8CD9-6F21-0505-0EB62E86E097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0CC629-4345-3CAB-3FDE-9252B5DD021F}"/>
              </a:ext>
            </a:extLst>
          </p:cNvPr>
          <p:cNvSpPr txBox="1"/>
          <p:nvPr/>
        </p:nvSpPr>
        <p:spPr>
          <a:xfrm>
            <a:off x="562418" y="2178850"/>
            <a:ext cx="11067164" cy="2500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Là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 dạng API được thiết kế dựa trên các nguyên tắc của REST</a:t>
            </a:r>
            <a:b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</a:b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(Representational State Transfer)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REST là một kiến trúc phần mềm dùng để xây dựng các hệ thống phân tán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ác thành phần của hệ thống giao tiếp qua các giao thức web như HTTP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óng vai trò quan trọng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hỗ trợ giao tiếp giữa các ứng dụng 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dịch vụ trên Internet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1C7759-E7BA-A5F6-7168-D23B184DD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8691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46AC9-3A71-8171-D40B-D4D55E3FC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71E59C-1A4A-C4BB-D180-6B5E792A6C7C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96DA892-98C5-6392-A33F-D3E0383959F6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9B0293-715A-9A46-AADB-D29AF686A2BE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REST 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B63AFC7-3731-51B0-BE35-3A6E8A79BD28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1BF1DE-943D-D86F-A57B-22DA82E037C4}"/>
              </a:ext>
            </a:extLst>
          </p:cNvPr>
          <p:cNvSpPr txBox="1"/>
          <p:nvPr/>
        </p:nvSpPr>
        <p:spPr>
          <a:xfrm>
            <a:off x="26194" y="1530410"/>
            <a:ext cx="4942811" cy="37633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ử dụng các phương thức HTTP như GET, POST, PUT, DELETE để thực hiện các thao tác CRUD (Create, Read, Update, Delete) trên tài nguyên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Mỗi tài nguyên được định danh bằng một URI, và các thao tác được thực hiện thông qua các yêu cầu HTTP tương ứng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7" name="Picture 6" descr="Tìm Hiểu RESTful API và Các Tiêu Chuẩn Viết API Hiệu Quả">
            <a:extLst>
              <a:ext uri="{FF2B5EF4-FFF2-40B4-BE49-F238E27FC236}">
                <a16:creationId xmlns:a16="http://schemas.microsoft.com/office/drawing/2014/main" id="{736C8704-34C8-4324-F4A1-05DFF3C85A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49" t="21800" r="8970" b="3468"/>
          <a:stretch>
            <a:fillRect/>
          </a:stretch>
        </p:blipFill>
        <p:spPr>
          <a:xfrm>
            <a:off x="4969005" y="1530410"/>
            <a:ext cx="7164177" cy="395416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CBC24D8-2EB0-CBB2-B095-D5201889C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765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35B61-F1F9-9E6E-F819-414740A01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94E803-D13B-15BF-B57A-22CC05F41C9B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2EFFDC-9BBA-3D43-1654-77DD70A2D32A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531B7A-5304-FAC6-6D76-2C275D46D1A5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REST 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8F31B57-F5BF-9C4D-68FE-E137CAE9F200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986831-8F73-F5E5-406B-17D4279B9440}"/>
              </a:ext>
            </a:extLst>
          </p:cNvPr>
          <p:cNvSpPr txBox="1"/>
          <p:nvPr/>
        </p:nvSpPr>
        <p:spPr>
          <a:xfrm>
            <a:off x="562418" y="1968344"/>
            <a:ext cx="11067164" cy="2500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inh hoạt và đơn giản trong thiết kế, giúp cho việc tích hợp hay tương tác giữa các hệ thống trở nên dễ dàng hơn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trung vào việc quản lý các tài nguyên của hệ thống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húc đẩy tái sử dụng </a:t>
            </a: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code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tạo ra các ứng dụng có khả năng mở rộng tốt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ương thích với nhiều loại thiết bị và nền tảng khác nhau, bao gồm cả máy tính, thiết bị di động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B55013-B597-61AF-B1AA-E1D0BB1D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083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DED31C-5628-362F-5CF4-39B59F4E2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D39B15-A3C0-F475-28F6-E25CFD476B88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50023F-6EA4-CD90-3C0A-13ED2CCEE1F5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02D992-A2CA-72FE-6B88-004BC88C0693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867C6B7-452E-BD8F-5A07-01A56A522028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247E394-08BC-A1FC-207D-2EDB83D7C1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1000" t="22806" r="9563" b="28833"/>
          <a:stretch>
            <a:fillRect/>
          </a:stretch>
        </p:blipFill>
        <p:spPr>
          <a:xfrm>
            <a:off x="6425166" y="2855728"/>
            <a:ext cx="5195334" cy="11465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FA98F2E-B96C-B9C2-AA4F-8274E66424DB}"/>
              </a:ext>
            </a:extLst>
          </p:cNvPr>
          <p:cNvSpPr txBox="1"/>
          <p:nvPr/>
        </p:nvSpPr>
        <p:spPr>
          <a:xfrm>
            <a:off x="571500" y="1757838"/>
            <a:ext cx="5533582" cy="3342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ramework web hiệu suất cao cho Python, chạy trên máy chủ web, được thiết kế để xây dựng các API nhanh chóng và mạnh mẽ</a:t>
            </a:r>
            <a:endParaRPr lang="en-US"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</a:t>
            </a: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ết hợp sức mạnh của Python với các tính năng hiện đại trong phát triển web để cung cấp hiệu suất tốt và tài liệu API tự động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BB21-83D0-F8AF-2AA1-80E670013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721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66F22-D943-3524-20D6-98DAC0ABD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921D7F0-880D-5E9A-19BD-AF1608AF50A1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9332D2-ECAE-96DC-C6CF-E66963F8AB3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B67266-1971-7971-DFDA-80BD19CC11C7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1188BC-01E5-F2B8-22FC-79894F4AA7BA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8FF8695-C8AD-9BF8-2D0C-FC02FE6D34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l="11000" t="22806" r="9563" b="28833"/>
          <a:stretch>
            <a:fillRect/>
          </a:stretch>
        </p:blipFill>
        <p:spPr>
          <a:xfrm>
            <a:off x="6869851" y="191487"/>
            <a:ext cx="5195334" cy="11465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5B119C-B1D7-3C86-3F94-51289E72F240}"/>
              </a:ext>
            </a:extLst>
          </p:cNvPr>
          <p:cNvSpPr txBox="1"/>
          <p:nvPr/>
        </p:nvSpPr>
        <p:spPr>
          <a:xfrm>
            <a:off x="565740" y="1453319"/>
            <a:ext cx="11060519" cy="49269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 phép sử dụng khả năng bất đồng bộ của Python để xử lý các yêu cầu đồng thời với hiệu suất cao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ự động tạo tài liệu API dựa trên các chú thích kiểu Python và OpenAPI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cung cấp giao diện Swagger UI tương tác để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hử nghiệm các API dễ dàng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 phép xác định kiểu dữ liệu và kiểm tra dữ liệu tự động, giúp bảo đảm dữ liệu được gửi và nhận qua API là hợp lệ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ỗ trợ hoàn toàn lập trình bất đồng bộ, cho phép xử lý các hoạt động I/O-bound một cách hiệu quả</a:t>
            </a: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ích hợp dễ dàng với các thư viện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framework khác của Python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FAD1DE-45CC-1D82-C375-E18278312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4097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2265F-7593-B1B6-2BC5-FD8438794C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6EA028A-C297-D4A7-7D2D-1ACEAF233017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AED685-1040-2D7C-492D-DDD96205B70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2B4E1F-99B0-D3F2-6795-BD20B9A7C8BE}"/>
              </a:ext>
            </a:extLst>
          </p:cNvPr>
          <p:cNvSpPr txBox="1"/>
          <p:nvPr/>
        </p:nvSpPr>
        <p:spPr>
          <a:xfrm>
            <a:off x="967563" y="2646016"/>
            <a:ext cx="1029231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xây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dựng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hệ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thống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7A41A67-1825-53CB-AC49-636750581333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E6C30-2C5D-7183-59DF-941085269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5101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Bài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toán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nhận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biết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ờ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Shogi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Shogi – Wikipedia tiếng Việt">
            <a:extLst>
              <a:ext uri="{FF2B5EF4-FFF2-40B4-BE49-F238E27FC236}">
                <a16:creationId xmlns:a16="http://schemas.microsoft.com/office/drawing/2014/main" id="{07060E9A-708C-476D-C7DB-651ED012AC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8529" y="1648586"/>
            <a:ext cx="5175621" cy="356082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77378E0-6A2A-E55E-EF39-A02ABBFF4091}"/>
              </a:ext>
            </a:extLst>
          </p:cNvPr>
          <p:cNvSpPr txBox="1"/>
          <p:nvPr/>
        </p:nvSpPr>
        <p:spPr>
          <a:xfrm>
            <a:off x="565740" y="1453319"/>
            <a:ext cx="6037079" cy="32649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minh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mở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rộng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thông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mang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đặc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thù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cao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50000"/>
              </a:lnSpc>
              <a:buFont typeface="Wingdings" panose="05000000000000000000" pitchFamily="2" charset="2"/>
              <a:buChar char="q"/>
            </a:pPr>
            <a:r>
              <a:rPr lang="vi-VN" sz="24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Yêu cầu mô hình giữ độ ổn định trước các biến thiên phức tạp về góc quay camera và cường độ chiếu sáng thực tế</a:t>
            </a:r>
            <a:endParaRPr sz="240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2E8C07-43B2-C723-4AF4-01B6CA0D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400300"/>
            <a:ext cx="5286375" cy="29337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2400300"/>
            <a:ext cx="5286375" cy="29337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Tại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sao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nhận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biết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cờ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Shogi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?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52500" y="2819400"/>
            <a:ext cx="4750593" cy="369332"/>
          </a:xfrm>
          <a:prstGeom prst="rect">
            <a:avLst/>
          </a:prstGeom>
          <a:noFill/>
        </p:spPr>
        <p:txBody>
          <a:bodyPr wrap="square" lIns="266700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Đặc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thù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của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đối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tượng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52500" y="3286125"/>
            <a:ext cx="4524375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Các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đối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tượng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đồng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nhất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tuyệt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đối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về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cấu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trúc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đa</a:t>
            </a:r>
            <a:r>
              <a:rPr lang="en-U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giác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715125" y="2819400"/>
            <a:ext cx="4750593" cy="369332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Mật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độ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&amp; </a:t>
            </a:r>
            <a:r>
              <a:rPr lang="en-US" sz="24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ích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thước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15125" y="3286125"/>
            <a:ext cx="4524375" cy="1335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ự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xuất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dày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nhỏ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liền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bàn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cờ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giới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hạn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759" y="2847975"/>
            <a:ext cx="266700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0343" y="2847975"/>
            <a:ext cx="238125" cy="26670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CFB4521-3063-8D2F-416A-C83B61ECB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Chi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tiết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ataset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Shogi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810690"/>
              </p:ext>
            </p:extLst>
          </p:nvPr>
        </p:nvGraphicFramePr>
        <p:xfrm>
          <a:off x="6334127" y="2086491"/>
          <a:ext cx="5286374" cy="21877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93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1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29266">
                <a:tc>
                  <a:txBody>
                    <a:bodyPr/>
                    <a:lstStyle/>
                    <a:p>
                      <a:pPr algn="l"/>
                      <a:r>
                        <a:rPr sz="2000" b="1" i="0" u="none">
                          <a:solidFill>
                            <a:srgbClr val="FFFFFF"/>
                          </a:solidFill>
                          <a:latin typeface="Montserrat"/>
                        </a:rPr>
                        <a:t>Tham số Dataset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6B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Montserrat"/>
                        </a:rPr>
                        <a:t>Giá</a:t>
                      </a:r>
                      <a:r>
                        <a:rPr sz="2000" b="1" i="0" u="none" dirty="0">
                          <a:solidFill>
                            <a:srgbClr val="FFFFFF"/>
                          </a:solidFill>
                          <a:latin typeface="Montserrat"/>
                        </a:rPr>
                        <a:t> </a:t>
                      </a:r>
                      <a:r>
                        <a:rPr sz="2000" b="1" i="0" u="none" dirty="0" err="1">
                          <a:solidFill>
                            <a:srgbClr val="FFFFFF"/>
                          </a:solidFill>
                          <a:latin typeface="Montserrat"/>
                        </a:rPr>
                        <a:t>trị</a:t>
                      </a:r>
                      <a:endParaRPr sz="2000" b="1" i="0" u="none" dirty="0">
                        <a:solidFill>
                          <a:srgbClr val="FFFFFF"/>
                        </a:solidFill>
                        <a:latin typeface="Montserrat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056B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9266">
                <a:tc>
                  <a:txBody>
                    <a:bodyPr/>
                    <a:lstStyle/>
                    <a:p>
                      <a:pPr algn="l"/>
                      <a:r>
                        <a:rPr sz="2000" b="0" i="0" u="none">
                          <a:solidFill>
                            <a:srgbClr val="2C3E50"/>
                          </a:solidFill>
                          <a:latin typeface="Open Sans"/>
                        </a:rPr>
                        <a:t>Tổng số lượng ảnh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 u="none" dirty="0">
                          <a:solidFill>
                            <a:srgbClr val="2C3E50"/>
                          </a:solidFill>
                          <a:latin typeface="Open Sans"/>
                        </a:rPr>
                        <a:t>~2,500 </a:t>
                      </a:r>
                      <a:r>
                        <a:rPr lang="en-US" sz="2000" b="0" i="0" u="none" dirty="0" err="1">
                          <a:solidFill>
                            <a:srgbClr val="2C3E50"/>
                          </a:solidFill>
                          <a:latin typeface="Open Sans"/>
                        </a:rPr>
                        <a:t>hình</a:t>
                      </a:r>
                      <a:endParaRPr sz="2000" b="0" i="0" u="none" dirty="0">
                        <a:solidFill>
                          <a:srgbClr val="2C3E50"/>
                        </a:solidFill>
                        <a:latin typeface="Open Sans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9266">
                <a:tc>
                  <a:txBody>
                    <a:bodyPr/>
                    <a:lstStyle/>
                    <a:p>
                      <a:pPr algn="l"/>
                      <a:r>
                        <a:rPr sz="2000" b="0" i="0" u="none">
                          <a:solidFill>
                            <a:srgbClr val="2C3E50"/>
                          </a:solidFill>
                          <a:latin typeface="Open Sans"/>
                        </a:rPr>
                        <a:t>Kích thước ảnh đầu vào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7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 i="0" u="none" dirty="0">
                          <a:solidFill>
                            <a:srgbClr val="2C3E50"/>
                          </a:solidFill>
                          <a:latin typeface="Open Sans"/>
                        </a:rPr>
                        <a:t>640 x 640 pixels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7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00124" y="1714500"/>
            <a:ext cx="570901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2400"/>
              </a:lnSpc>
            </a:pPr>
            <a:r>
              <a:rPr lang="en-US" sz="2000" b="1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https://github.com/Limuranius/ShogiVision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125" y="2495550"/>
            <a:ext cx="485775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 </a:t>
            </a:r>
            <a:r>
              <a:rPr sz="2000" b="1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dạng</a:t>
            </a:r>
            <a:endParaRPr lang="en-US" sz="2000" b="1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 file .txt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chứa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class_id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center_x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center_y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width</a:t>
            </a:r>
            <a:r>
              <a:rPr lang="en-US"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</a:t>
            </a:r>
            <a:r>
              <a:rPr sz="2000" b="0" i="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0125" y="3714750"/>
            <a:ext cx="485775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chia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Train set: 70% 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Validation set: 20% 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Test set: 10%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475C09BA-B475-6EBB-28E8-F4002AC6C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Khả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năng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mở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rộn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BFC8AA-A543-26BF-F6AF-7C372CD90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436EA2-7FFB-9717-621C-2FF4FDCA0FB1}"/>
              </a:ext>
            </a:extLst>
          </p:cNvPr>
          <p:cNvSpPr txBox="1"/>
          <p:nvPr/>
        </p:nvSpPr>
        <p:spPr>
          <a:xfrm>
            <a:off x="469826" y="1446993"/>
            <a:ext cx="11509080" cy="46053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 trúc hướng cấu hình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Tách rời hoàn toàn mã nguồn suy luận khỏi dữ liệu huấn luyện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Hoán đổi mô hình, bộ phân lớp và siêu tham số linh hoạt thông qua tệp cấu hình YAML mà không cần khởi động lại dịch vụ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Thử nghiệm mở rộng với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dataset 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VisDron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</a:t>
            </a: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Góc nhìn trên cao từ thiết bị bay không người lái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Mật độ đối tượng dày đặc, tỷ lệ che khuất cao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đối tượng có kích thước cực nhỏ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800100" lvl="1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Ứng dụng thực tiễn: Giám sát giao thông đô thị diện rộng, phát hiện ùn tắc và quản lý trật tự công cộng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Thích ứng từ bài toán vi mô đến bài toán vĩ m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ô</a:t>
            </a:r>
            <a:endParaRPr lang="vi-VN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Tổng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quan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hực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hiện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71500" y="3189982"/>
            <a:ext cx="11049000" cy="381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225" y="2951857"/>
            <a:ext cx="514350" cy="5143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6254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Thu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thập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&amp;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Chuẩn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bị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Data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025" y="2951857"/>
            <a:ext cx="514350" cy="5143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260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13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Tiền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xử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lý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&amp;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Cấu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Model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8825" y="2951857"/>
            <a:ext cx="514350" cy="5143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9358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11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Huấn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luyện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625" y="2951857"/>
            <a:ext cx="514350" cy="5143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456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Đánh giá &amp;</a:t>
            </a:r>
            <a:r>
              <a: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Xuất Trọng số</a:t>
            </a:r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8425" y="2951857"/>
            <a:ext cx="514350" cy="51435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355455" y="3656707"/>
            <a:ext cx="232029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Bước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0700" y="4056757"/>
            <a:ext cx="2209800" cy="874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Triển khai</a:t>
            </a:r>
            <a:r>
              <a: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i="0" u="none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675" y="3113782"/>
            <a:ext cx="171450" cy="1905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7137" y="3113782"/>
            <a:ext cx="238125" cy="1905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76937" y="3113782"/>
            <a:ext cx="238125" cy="1905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0550" y="3113782"/>
            <a:ext cx="190500" cy="190500"/>
          </a:xfrm>
          <a:prstGeom prst="rect">
            <a:avLst/>
          </a:prstGeom>
        </p:spPr>
      </p:pic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0350" y="3113782"/>
            <a:ext cx="190500" cy="190500"/>
          </a:xfrm>
          <a:prstGeom prst="rect">
            <a:avLst/>
          </a:prstGeom>
        </p:spPr>
      </p:pic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E860175F-DEA0-6C20-E040-872278A21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6041" y="658252"/>
            <a:ext cx="5550693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Kiến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trúc h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ệ </a:t>
            </a:r>
            <a:r>
              <a:rPr lang="vi-VN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hống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rcRect t="27933" b="25917"/>
          <a:stretch>
            <a:fillRect/>
          </a:stretch>
        </p:blipFill>
        <p:spPr>
          <a:xfrm>
            <a:off x="6334125" y="1915632"/>
            <a:ext cx="5857875" cy="31649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71500" y="1632762"/>
            <a:ext cx="5286375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trúc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hybrid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dụng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sức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mạnh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toán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đám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mây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sự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kiến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trúc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Microservices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đảm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sẵn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sàng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cao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plug-and-play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0125" y="3495675"/>
            <a:ext cx="3599867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Môi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trường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Cloud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0125" y="4038600"/>
            <a:ext cx="408505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toán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ensor/GPU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00125" y="4581525"/>
            <a:ext cx="4085059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Giao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tiếp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HTTP/RESTful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524250"/>
            <a:ext cx="285750" cy="2476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067175"/>
            <a:ext cx="228600" cy="2476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4610100"/>
            <a:ext cx="171450" cy="2476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F56714D-EFF9-C571-A1AE-67A02A6E732E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9DAFFA-34ED-B1A6-C4DC-CB961D62ED9F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345CC8-CFB7-0A6A-7E13-FF2A4F779487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0A14C9A-F823-6122-D160-F1C2097A8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181225"/>
            <a:ext cx="3492549" cy="33718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2181225"/>
            <a:ext cx="3492549" cy="33718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2181225"/>
            <a:ext cx="3492549" cy="33718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Luồng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hoạt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động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7250" y="2466975"/>
            <a:ext cx="306710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1.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Người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dùng</a:t>
            </a:r>
            <a:endParaRPr sz="240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250" y="2987814"/>
            <a:ext cx="2921049" cy="24345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Web Frontend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Upload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video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cần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 Giao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gửi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POST request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/video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Endpoint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5549" y="2466975"/>
            <a:ext cx="306710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2.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240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35549" y="2933700"/>
            <a:ext cx="2921049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Request.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Chuyển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đổi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thành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dạng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NumPy/OpenCV. Load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trọng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chuẩn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bị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3848" y="2466975"/>
            <a:ext cx="3016151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3.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Xử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lý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&amp; </a:t>
            </a:r>
            <a:r>
              <a:rPr lang="en-US" sz="24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hản</a:t>
            </a:r>
            <a:r>
              <a:rPr sz="240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hồi</a:t>
            </a:r>
            <a:endParaRPr sz="240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413849" y="2933700"/>
            <a:ext cx="3016150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YOLOv5 Inference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bằng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Bounding Box (base64)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JSON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tọa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nhãn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tin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cậy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 Frontend render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2490D8BB-432D-0E91-3C9A-7A9517A2A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7F16-A798-BE13-7DB7-E329D9C6C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8757F9-E9B6-B347-8463-D03322E8830A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4F4D5F-A917-D612-9E86-B54E8407C34B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DB2469-99E2-E19C-A98E-5D528ADC17C3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ACE7D2-62BD-735D-8AF4-C5107F927D75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985DC-5341-4CA6-E9BE-6D5AE7A85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5448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812" y="1752600"/>
            <a:ext cx="3333750" cy="333375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Chuẩn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hóa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dữ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liệu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200" b="1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cho</a:t>
            </a:r>
            <a:r>
              <a:rPr lang="en-US" sz="3200" b="1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YOLOv5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864" y="1143000"/>
            <a:ext cx="5216979" cy="52169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2750" y="1426428"/>
            <a:ext cx="4857750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Resize &amp; Padding</a:t>
            </a:r>
            <a:endParaRPr lang="en-US" sz="2000" b="1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Chuyển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đổi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mọi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thước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gốc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chuẩn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640x640,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nguyên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tỷ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lệ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khung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bằng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kỹ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thuật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padding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2750" y="2886729"/>
            <a:ext cx="4857750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Data Augmentation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Mosaic Augmentation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ghép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4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thành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1)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giúp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model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ở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cảnh</a:t>
            </a:r>
            <a:r>
              <a:rPr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
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- Random HSV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thay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đổi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màu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sắc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hòa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chống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lóa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sáng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762750" y="5083204"/>
            <a:ext cx="485775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Cấu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1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YAML</a:t>
            </a:r>
            <a:endParaRPr lang="en-US" sz="2000" b="1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Khai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báo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đường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dẫn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train/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val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sách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class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data.yaml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61CEC90D-CF26-8FB5-8A56-A4F5BE150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400300"/>
            <a:ext cx="5286375" cy="29337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2400300"/>
            <a:ext cx="5286375" cy="29337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 &amp; validate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52500" y="2819400"/>
            <a:ext cx="4750593" cy="369332"/>
          </a:xfrm>
          <a:prstGeom prst="rect">
            <a:avLst/>
          </a:prstGeom>
          <a:noFill/>
        </p:spPr>
        <p:txBody>
          <a:bodyPr wrap="square" lIns="333375" tIns="0" rIns="0" bIns="0" anchor="t">
            <a:spAutoFit/>
          </a:bodyPr>
          <a:lstStyle/>
          <a:p>
            <a:pPr algn="l"/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Training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52500" y="3286125"/>
            <a:ext cx="4524375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Chạy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train.py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học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đầu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toán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hàm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(Loss function: Box loss,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Objectness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loss, Classification loss)</a:t>
            </a:r>
            <a:endParaRPr lang="en-US"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trọng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tục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Epoch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5125" y="2819400"/>
            <a:ext cx="4750593" cy="369332"/>
          </a:xfrm>
          <a:prstGeom prst="rect">
            <a:avLst/>
          </a:prstGeom>
          <a:noFill/>
        </p:spPr>
        <p:txBody>
          <a:bodyPr wrap="square" lIns="238125" tIns="0" rIns="0" bIns="0" anchor="t">
            <a:spAutoFit/>
          </a:bodyPr>
          <a:lstStyle/>
          <a:p>
            <a:pPr algn="l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Validation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5125" y="3286125"/>
            <a:ext cx="4524375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song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song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sau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mỗi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poch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alidation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riêng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biệt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Đánh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giá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tổng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hóa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tránh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Overfitting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ts val="2400"/>
              </a:lnSpc>
              <a:buFont typeface="Arial" panose="020B0604020202020204" pitchFamily="34" charset="0"/>
              <a:buChar char="•"/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theo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dõi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tục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tìm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ra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trọng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best.pt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812" y="2847975"/>
            <a:ext cx="333375" cy="2667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6062" y="2847975"/>
            <a:ext cx="238125" cy="266700"/>
          </a:xfrm>
          <a:prstGeom prst="rect">
            <a:avLst/>
          </a:prstGeom>
        </p:spPr>
      </p:pic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5084FAC1-AE08-2721-9938-2B94256A9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23</a:t>
            </a:fld>
            <a:endParaRPr 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704975"/>
            <a:ext cx="3492549" cy="432435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704975"/>
            <a:ext cx="3492549" cy="43243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704975"/>
            <a:ext cx="3492549" cy="43243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Quá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trình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train &amp; validate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6700" y="1990725"/>
            <a:ext cx="762000" cy="76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1352" y="2943225"/>
            <a:ext cx="349254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Sức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mạnh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Colab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GPU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50" y="3429000"/>
            <a:ext cx="2921049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dụng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Tesla T4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giúp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giảm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thời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gian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training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ngày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nếu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CPU)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xuống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còn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giờ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đẩy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vòng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lặp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triển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0" y="1990725"/>
            <a:ext cx="762000" cy="76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30816" y="2943225"/>
            <a:ext cx="2930366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Mount Google Drive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5549" y="3409950"/>
            <a:ext cx="2921049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Vì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sẽ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reset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mỗi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ngày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toàn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bộ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ataset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heckpoint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lưu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thẳng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Drive.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Đảm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không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giữa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chừng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3299" y="1990725"/>
            <a:ext cx="762000" cy="76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842995" y="2943225"/>
            <a:ext cx="2062608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AutoAnchor</a:t>
            </a:r>
            <a:endParaRPr sz="2400" b="1" i="0" u="none" dirty="0">
              <a:solidFill>
                <a:srgbClr val="004494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3849" y="3409950"/>
            <a:ext cx="2921049" cy="2154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YOLOv5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tự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động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dataset Shogi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tinh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lại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Bounding Box Anchors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mặc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sao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phù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hợp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với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kích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thước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thực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tế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cờ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55775" y="2200275"/>
            <a:ext cx="323850" cy="3429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81687" y="2200275"/>
            <a:ext cx="428625" cy="34290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9037" y="2200275"/>
            <a:ext cx="390525" cy="342900"/>
          </a:xfrm>
          <a:prstGeom prst="rect">
            <a:avLst/>
          </a:prstGeom>
        </p:spPr>
      </p:pic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3AAF6E95-3A5B-1DEF-D741-00D23BFEA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24</a:t>
            </a:fld>
            <a:endParaRPr 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Các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thành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phần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cốt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lõi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8649" y="1359915"/>
            <a:ext cx="5229225" cy="41843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img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960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kích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thước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đầu</a:t>
            </a:r>
            <a:r>
              <a:rPr sz="24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4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endParaRPr lang="en-US" sz="24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--batch 8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đưa 8 ảnh vào RAM GPU cùng lúc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--epochs 100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số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vòng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lặp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để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train model</a:t>
            </a: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--data %YAML_PATH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>
              <a:lnSpc>
                <a:spcPct val="114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anose="020B0609020204030204" pitchFamily="49" charset="0"/>
              </a:rPr>
              <a:t>--weights yolov5s-seg.pt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: train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1 pre-trained model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sẵn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273FA376-8DB3-A384-E876-A1EF7332E6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4126" y="1833567"/>
            <a:ext cx="5170301" cy="3664518"/>
          </a:xfrm>
          <a:prstGeom prst="rect">
            <a:avLst/>
          </a:prstGeom>
        </p:spPr>
      </p:pic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0A099AE5-0B86-2D2F-12C3-A071A44F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6D69C-3C40-3F43-454D-48869B7A8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68DA541-6756-B304-0365-4C59208A0FA0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550256-8366-B238-4BAA-89EFBFE7169E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354820-1733-97FF-017D-2236C0A1EAEC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Triển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khai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REST API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CEB71-BBA0-8ED2-63A8-AEF5479B500F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C5619-E1D6-CB02-9B08-A9EC6FDC9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3752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Khởi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tạo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REST API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với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E2AAEC-B0B5-3244-DA47-5040B69AC560}"/>
              </a:ext>
            </a:extLst>
          </p:cNvPr>
          <p:cNvSpPr txBox="1"/>
          <p:nvPr/>
        </p:nvSpPr>
        <p:spPr>
          <a:xfrm>
            <a:off x="469826" y="1968344"/>
            <a:ext cx="11509080" cy="20792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 hình sau khi huấn luyện (file best.pt) được bọc trong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1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REST API</a:t>
            </a:r>
            <a:b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</a:b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(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sử dụng FastAPI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Endpoint POST /predict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chấp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file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upload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Đọc ảnh trực tiếp, không cần lưu xuống ổ cứng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FastAPI hỗ trợ xử lý bất đồng bộ giúp tăng thông lượng request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CFFA033-B7CD-0BE6-2FCA-087ACBAC0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Hosting API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bằng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Ngrok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0" y="3200400"/>
            <a:ext cx="1143000" cy="1143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3867150"/>
            <a:ext cx="333375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9975" y="3200400"/>
            <a:ext cx="114300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34125" y="2166937"/>
            <a:ext cx="555069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Vấn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đề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của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Localhost (</a:t>
            </a:r>
            <a:r>
              <a:rPr sz="21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Colab</a:t>
            </a:r>
            <a:r>
              <a:rPr sz="21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34125" y="2633662"/>
            <a:ext cx="5286375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Server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FastAPI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trong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trường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Google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ocalhost:8000),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không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cập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tính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nhân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334125" y="3738562"/>
            <a:ext cx="555069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Giải pháp: Ngrok 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4125" y="4205287"/>
            <a:ext cx="5286375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sz="2000" b="1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tạo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1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tunnel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mật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cấp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một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public URL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thẳng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cổng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8000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của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endParaRPr lang="en-US" sz="20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algn="l">
              <a:lnSpc>
                <a:spcPts val="2400"/>
              </a:lnSpc>
            </a:pP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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Frontend ở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bất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cứ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đâu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đều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thể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gọi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phát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hiện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endParaRPr sz="2000" b="0" i="0" u="none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E5328DD-922B-86C2-34F6-6F00A8F05C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619250"/>
            <a:ext cx="3492549" cy="44958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9799" y="1619250"/>
            <a:ext cx="3492549" cy="44958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1619250"/>
            <a:ext cx="3492549" cy="4495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Tích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hợp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Frontend - API - Backend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4226" y="1924050"/>
            <a:ext cx="30270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1. Frontend (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Streamlit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450" y="2857500"/>
            <a:ext cx="1714500" cy="1143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6300" y="4143375"/>
            <a:ext cx="2882949" cy="15388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UI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thân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thiện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trên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cá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nhân</a:t>
            </a:r>
            <a:r>
              <a:rPr lang="en-US" sz="20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lang="en-US"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phép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người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dùng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upload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chọn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hình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&amp;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gửi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 Request.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2525" y="1924050"/>
            <a:ext cx="30270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2. </a:t>
            </a:r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Nền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tảng</a:t>
            </a:r>
            <a:r>
              <a:rPr lang="en-US"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cloud 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(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Ngrok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9750" y="3000375"/>
            <a:ext cx="952500" cy="762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654599" y="4048125"/>
            <a:ext cx="2882949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HTTPS request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từ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Streamlit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định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tuyến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an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toàn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vào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máy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Colab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0825" y="1924050"/>
            <a:ext cx="3027097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3. Backend AI (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Colab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/</a:t>
            </a:r>
            <a:r>
              <a:rPr sz="2400" b="1" i="0" u="none" dirty="0" err="1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FastAPI</a:t>
            </a:r>
            <a:r>
              <a:rPr sz="2400" b="1" i="0" u="none" dirty="0">
                <a:solidFill>
                  <a:srgbClr val="004494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)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98569" y="2857500"/>
            <a:ext cx="2151459" cy="1143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432899" y="4143375"/>
            <a:ext cx="2882949" cy="12311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Dùng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GPU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suy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luận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YOLOv5,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nén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ảnh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kết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quả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trả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về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lại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sz="2000" b="0" i="0" u="none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cho</a:t>
            </a:r>
            <a:r>
              <a:rPr sz="2000" b="0" i="0" u="none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Frontend.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E56FA8DA-C5A9-6B3E-EB12-427F2EE4C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DB28A-7036-7FB3-9A88-16B5970201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9CFC562-735A-2753-ACE1-4B15C3EDD99C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0B2128-0A62-E2AD-C7E9-E36FFCAD75F1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A01C17-63F9-0D73-C502-B7A54B1826B2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Chạy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thử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sản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phấm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AF729D-643F-7FDD-92C0-C1A9BDDD8D86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910321-F1DF-303B-6E00-EA734736B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9258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163E1-7B26-60F3-C711-877E29D08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41F836-57F2-B784-20D6-5F214021A0D5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39D19FE-55E7-C219-448F-BD6402FC1A2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16ADF7-9684-1E25-B4E2-2870BF4D555B}"/>
              </a:ext>
            </a:extLst>
          </p:cNvPr>
          <p:cNvSpPr txBox="1"/>
          <p:nvPr/>
        </p:nvSpPr>
        <p:spPr>
          <a:xfrm>
            <a:off x="2357373" y="2646016"/>
            <a:ext cx="7170896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Kết</a:t>
            </a:r>
            <a:r>
              <a:rPr lang="en-US" sz="480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480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luận</a:t>
            </a:r>
            <a:endParaRPr lang="en-US" sz="4800" b="1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889986-BA5D-9A26-7E2F-F782D3459628}"/>
              </a:ext>
            </a:extLst>
          </p:cNvPr>
          <p:cNvSpPr/>
          <p:nvPr/>
        </p:nvSpPr>
        <p:spPr>
          <a:xfrm>
            <a:off x="5524500" y="3517552"/>
            <a:ext cx="1143000" cy="5715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5FB230-AA75-7113-B00A-137936725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9400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Kết</a:t>
            </a:r>
            <a:r>
              <a:rPr lang="en-US"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luận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488B1-E670-23A7-1D9B-EF3704D9A082}"/>
              </a:ext>
            </a:extLst>
          </p:cNvPr>
          <p:cNvSpPr txBox="1"/>
          <p:nvPr/>
        </p:nvSpPr>
        <p:spPr>
          <a:xfrm>
            <a:off x="571500" y="1968344"/>
            <a:ext cx="10368739" cy="29213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Xây dựng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được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hệ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thống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đối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tượng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ừ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train model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(YOLOv5)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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xây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dựng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 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API (FastAPI)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  <a:sym typeface="Wingdings" panose="05000000000000000000" pitchFamily="2" charset="2"/>
              </a:rPr>
              <a:t>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tích hợp UI (Streamlit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)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Mô hình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có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khả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nhận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diện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nhiều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tập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dữ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liệu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khác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nhau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Toàn bộ sức mạnh tính toán đều được đẩy lên hạ tầng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đ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ám mây (Google Colab)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Thiết bị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nd-user chỉ làm nhiệm vụ giao tiếp nhẹ nhàng, không yêu cầu phần cứng cao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D8E57C-7076-D3E8-B29D-7750261FC5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Hạn</a:t>
            </a:r>
            <a:r>
              <a:rPr sz="3150" b="1" i="0" u="none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i="0" u="none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chế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37E1D0-4759-915B-3F0B-C4627237FABF}"/>
              </a:ext>
            </a:extLst>
          </p:cNvPr>
          <p:cNvSpPr txBox="1"/>
          <p:nvPr/>
        </p:nvSpPr>
        <p:spPr>
          <a:xfrm>
            <a:off x="571499" y="2389357"/>
            <a:ext cx="11071151" cy="1658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Session tự ngắt sau 12h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ngrok thay đổi IP liên tục, không phù hợp cho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production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dài hạn</a:t>
            </a:r>
            <a:endParaRPr lang="en-US" sz="2400" dirty="0">
              <a:solidFill>
                <a:srgbClr val="2C3E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Open Sans"/>
            </a:endParaRP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Băng thông mạng qua ngrok chưa tối ưu cho việc đẩy luồng video trực tiếp liên tục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2990D3-64A5-3119-86D9-6447153C0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35EC5F-7030-032D-79CB-18C12027D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918D23B-D680-BCE7-5EAA-D99BAA19B635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36C7BB-C954-862E-F1A6-26357D127D8C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6F510F-E0C5-F0C8-CB9C-320FCF958F74}"/>
              </a:ext>
            </a:extLst>
          </p:cNvPr>
          <p:cNvSpPr txBox="1"/>
          <p:nvPr/>
        </p:nvSpPr>
        <p:spPr>
          <a:xfrm>
            <a:off x="714375" y="647700"/>
            <a:ext cx="11451431" cy="495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Định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hướng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phát</a:t>
            </a:r>
            <a:r>
              <a:rPr lang="en-US" sz="3150" b="1" dirty="0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 </a:t>
            </a:r>
            <a:r>
              <a:rPr lang="en-US" sz="3150" b="1" dirty="0" err="1">
                <a:solidFill>
                  <a:srgbClr val="0056B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triển</a:t>
            </a:r>
            <a:endParaRPr sz="3150" b="1" i="0" u="none" dirty="0">
              <a:solidFill>
                <a:srgbClr val="0056B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61B4E76-CCA2-503B-5421-B2BEC67BFA8F}"/>
              </a:ext>
            </a:extLst>
          </p:cNvPr>
          <p:cNvSpPr/>
          <p:nvPr/>
        </p:nvSpPr>
        <p:spPr>
          <a:xfrm>
            <a:off x="571500" y="647700"/>
            <a:ext cx="57150" cy="4953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000E4B-BB0D-B2E1-0444-08D87216741E}"/>
              </a:ext>
            </a:extLst>
          </p:cNvPr>
          <p:cNvSpPr txBox="1"/>
          <p:nvPr/>
        </p:nvSpPr>
        <p:spPr>
          <a:xfrm>
            <a:off x="1664945" y="2062162"/>
            <a:ext cx="9800773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Montserrat"/>
              </a:rPr>
              <a:t>Hướng mở rộng &amp; Phát triển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CBC3BF-F0CB-E036-693D-38E7C46F4CD2}"/>
              </a:ext>
            </a:extLst>
          </p:cNvPr>
          <p:cNvSpPr txBox="1"/>
          <p:nvPr/>
        </p:nvSpPr>
        <p:spPr>
          <a:xfrm>
            <a:off x="571499" y="2810369"/>
            <a:ext cx="11071151" cy="16582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Nâng cấp lên Docker &amp; 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</a:t>
            </a:r>
            <a:r>
              <a:rPr lang="vi-VN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eploy lên VPS thực thụ (Render, AWS) để mở rộng lượng người dùng ổn định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Build Mobile App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gọi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API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thay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vì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chỉ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dùng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Web</a:t>
            </a:r>
          </a:p>
          <a:p>
            <a:pPr marL="342900" indent="-342900" algn="l">
              <a:lnSpc>
                <a:spcPct val="114000"/>
              </a:lnSpc>
              <a:buFont typeface="Wingdings" panose="05000000000000000000" pitchFamily="2" charset="2"/>
              <a:buChar char="q"/>
            </a:pP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Thêm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chức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</a:t>
            </a:r>
            <a:r>
              <a:rPr lang="en-US" sz="2400" dirty="0" err="1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năng</a:t>
            </a:r>
            <a:r>
              <a:rPr lang="en-US" sz="2400" dirty="0">
                <a:solidFill>
                  <a:srgbClr val="2C3E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Open Sans"/>
              </a:rPr>
              <a:t> quay video real-time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CCE6937-9D24-FFC3-BACC-1891A45B6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307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D548A-D76A-5EE6-78C7-1710C0D5B5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image.png">
            <a:extLst>
              <a:ext uri="{FF2B5EF4-FFF2-40B4-BE49-F238E27FC236}">
                <a16:creationId xmlns:a16="http://schemas.microsoft.com/office/drawing/2014/main" id="{ECA183A2-64D1-1986-C2B5-5AAC658B78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282" y="648478"/>
            <a:ext cx="10906125" cy="5442759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AE0D2E7-BED5-19B6-4C23-DE81FB71A204}"/>
              </a:ext>
            </a:extLst>
          </p:cNvPr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solidFill>
            <a:srgbClr val="FFC1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83EE8A-ADE4-651C-BEB3-95D858DD1EC9}"/>
              </a:ext>
            </a:extLst>
          </p:cNvPr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056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B9FBEC-F0B1-68EF-F0F9-43E0CF966EE3}"/>
              </a:ext>
            </a:extLst>
          </p:cNvPr>
          <p:cNvSpPr txBox="1"/>
          <p:nvPr/>
        </p:nvSpPr>
        <p:spPr>
          <a:xfrm>
            <a:off x="1306146" y="1677818"/>
            <a:ext cx="5689458" cy="24622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vi-VN" sz="8000" b="1" dirty="0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Montserrat"/>
              </a:rPr>
              <a:t>Trân trọng cảm ơn</a:t>
            </a:r>
            <a:endParaRPr sz="8000" b="1" i="0" u="none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ontserra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AA9A5-1BFD-D727-6FAF-6100D21D3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9257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2124</Words>
  <Application>Microsoft Office PowerPoint</Application>
  <PresentationFormat>Widescreen</PresentationFormat>
  <Paragraphs>209</Paragraphs>
  <Slides>35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Consolas</vt:lpstr>
      <vt:lpstr>Montserrat</vt:lpstr>
      <vt:lpstr>Open Sans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Hồ Thuận Khang</cp:lastModifiedBy>
  <cp:revision>232</cp:revision>
  <dcterms:created xsi:type="dcterms:W3CDTF">2013-01-27T09:14:16Z</dcterms:created>
  <dcterms:modified xsi:type="dcterms:W3CDTF">2026-08-26T14:08:24Z</dcterms:modified>
  <cp:category/>
</cp:coreProperties>
</file>